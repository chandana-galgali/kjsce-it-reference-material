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73" r:id="rId10"/>
    <p:sldId id="264" r:id="rId11"/>
    <p:sldId id="265" r:id="rId12"/>
    <p:sldId id="266" r:id="rId13"/>
    <p:sldId id="267" r:id="rId14"/>
    <p:sldId id="268" r:id="rId15"/>
    <p:sldId id="269" r:id="rId16"/>
    <p:sldId id="270" r:id="rId17"/>
    <p:sldId id="271" r:id="rId18"/>
    <p:sldId id="272"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04"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10/8/2018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10/8/2018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10/8/2018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10/8/2018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guru99.com/sql.html"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b="1" dirty="0"/>
              <a:t>Mobile application testing</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117428619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Mobile application testing</a:t>
            </a:r>
            <a:endParaRPr lang="en-IN" dirty="0"/>
          </a:p>
        </p:txBody>
      </p:sp>
      <p:sp>
        <p:nvSpPr>
          <p:cNvPr id="3" name="Content Placeholder 2"/>
          <p:cNvSpPr>
            <a:spLocks noGrp="1"/>
          </p:cNvSpPr>
          <p:nvPr>
            <p:ph idx="1"/>
          </p:nvPr>
        </p:nvSpPr>
        <p:spPr/>
        <p:txBody>
          <a:bodyPr/>
          <a:lstStyle/>
          <a:p>
            <a:pPr marL="0" indent="0" algn="just">
              <a:buNone/>
            </a:pPr>
            <a:r>
              <a:rPr lang="en-IN" b="1" dirty="0"/>
              <a:t>Mobile application testing</a:t>
            </a:r>
            <a:r>
              <a:rPr lang="en-IN" dirty="0"/>
              <a:t> is a process by which  </a:t>
            </a:r>
            <a:r>
              <a:rPr lang="en-IN" dirty="0" smtClean="0"/>
              <a:t>application</a:t>
            </a:r>
            <a:r>
              <a:rPr lang="en-IN" dirty="0"/>
              <a:t> </a:t>
            </a:r>
            <a:r>
              <a:rPr lang="en-IN" dirty="0" smtClean="0"/>
              <a:t>software</a:t>
            </a:r>
            <a:r>
              <a:rPr lang="en-IN" dirty="0"/>
              <a:t> developed for handheld mobile devices is tested for its functionality, usability and consistency. Mobile application testing can be an automated or manual type of testing. Mobile applications either come pre-installed or can be installed from mobile software distribution platforms.</a:t>
            </a:r>
          </a:p>
          <a:p>
            <a:pPr marL="0" indent="0" algn="just">
              <a:buNone/>
            </a:pPr>
            <a:endParaRPr lang="en-IN" dirty="0"/>
          </a:p>
        </p:txBody>
      </p:sp>
    </p:spTree>
    <p:extLst>
      <p:ext uri="{BB962C8B-B14F-4D97-AF65-F5344CB8AC3E}">
        <p14:creationId xmlns:p14="http://schemas.microsoft.com/office/powerpoint/2010/main" val="27120107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Types of Mobile Testing</a:t>
            </a:r>
            <a:endParaRPr lang="en-IN" dirty="0"/>
          </a:p>
        </p:txBody>
      </p:sp>
      <p:sp>
        <p:nvSpPr>
          <p:cNvPr id="3" name="Content Placeholder 2"/>
          <p:cNvSpPr>
            <a:spLocks noGrp="1"/>
          </p:cNvSpPr>
          <p:nvPr>
            <p:ph idx="1"/>
          </p:nvPr>
        </p:nvSpPr>
        <p:spPr>
          <a:xfrm>
            <a:off x="457200" y="1219200"/>
            <a:ext cx="8229600" cy="4906963"/>
          </a:xfrm>
        </p:spPr>
        <p:txBody>
          <a:bodyPr>
            <a:normAutofit fontScale="62500" lnSpcReduction="20000"/>
          </a:bodyPr>
          <a:lstStyle/>
          <a:p>
            <a:pPr marL="0" indent="0" algn="just">
              <a:buNone/>
            </a:pPr>
            <a:r>
              <a:rPr lang="en-IN" dirty="0"/>
              <a:t>There are broadly 2 kinds of testing that take place on mobile devices:</a:t>
            </a:r>
          </a:p>
          <a:p>
            <a:pPr marL="0" indent="0" algn="just">
              <a:buNone/>
            </a:pPr>
            <a:r>
              <a:rPr lang="en-IN" b="1" dirty="0"/>
              <a:t>#1. Hardware testing:</a:t>
            </a:r>
            <a:endParaRPr lang="en-IN" dirty="0"/>
          </a:p>
          <a:p>
            <a:pPr algn="just"/>
            <a:r>
              <a:rPr lang="en-IN" dirty="0"/>
              <a:t>The device including the internal processors, internal hardware, screen sizes, resolution, space or memory, camera, radio, Bluetooth, WIFI etc. This is sometimes referred to as, simple “</a:t>
            </a:r>
            <a:r>
              <a:rPr lang="en-IN" u="sng" dirty="0"/>
              <a:t>Mobile Testing</a:t>
            </a:r>
            <a:r>
              <a:rPr lang="en-IN" dirty="0"/>
              <a:t>”.</a:t>
            </a:r>
          </a:p>
          <a:p>
            <a:pPr marL="0" indent="0" algn="just">
              <a:buNone/>
            </a:pPr>
            <a:r>
              <a:rPr lang="en-IN" b="1" dirty="0"/>
              <a:t>#2. Software or Application testing:</a:t>
            </a:r>
            <a:endParaRPr lang="en-IN" dirty="0"/>
          </a:p>
          <a:p>
            <a:pPr algn="just"/>
            <a:r>
              <a:rPr lang="en-IN" dirty="0"/>
              <a:t>The applications that work on mobile devices and their functionality are tested. It is called the “</a:t>
            </a:r>
            <a:r>
              <a:rPr lang="en-IN" u="sng" dirty="0"/>
              <a:t>Mobile Application Testing</a:t>
            </a:r>
            <a:r>
              <a:rPr lang="en-IN" dirty="0"/>
              <a:t>” to differentiate it from the earlier method. Even in the mobile applications, there are few basic differences that are important to understand:</a:t>
            </a:r>
          </a:p>
          <a:p>
            <a:pPr marL="0" indent="0">
              <a:buNone/>
            </a:pPr>
            <a:r>
              <a:rPr lang="en-IN" b="1" dirty="0"/>
              <a:t>a) Native apps:</a:t>
            </a:r>
            <a:r>
              <a:rPr lang="en-IN" dirty="0"/>
              <a:t> A native application is created for use on a platform like mobile and tablets.</a:t>
            </a:r>
            <a:br>
              <a:rPr lang="en-IN" dirty="0"/>
            </a:br>
            <a:r>
              <a:rPr lang="en-IN" b="1" dirty="0"/>
              <a:t>b) Mobile web apps</a:t>
            </a:r>
            <a:r>
              <a:rPr lang="en-IN" dirty="0"/>
              <a:t> are server-side apps to access website/s on mobile using different browsers like chrome, Firefox by connecting to a mobile network or wireless network like WIFI.</a:t>
            </a:r>
            <a:br>
              <a:rPr lang="en-IN" dirty="0"/>
            </a:br>
            <a:r>
              <a:rPr lang="en-IN" b="1" dirty="0"/>
              <a:t>c) Hybrid apps</a:t>
            </a:r>
            <a:r>
              <a:rPr lang="en-IN" dirty="0"/>
              <a:t> are combinations of native app and web app. They run on devices or offline and are written using web technologies like HTML5 and CSS.</a:t>
            </a:r>
          </a:p>
          <a:p>
            <a:pPr marL="0" indent="0" algn="just">
              <a:buNone/>
            </a:pPr>
            <a:endParaRPr lang="en-IN" dirty="0"/>
          </a:p>
        </p:txBody>
      </p:sp>
    </p:spTree>
    <p:extLst>
      <p:ext uri="{BB962C8B-B14F-4D97-AF65-F5344CB8AC3E}">
        <p14:creationId xmlns:p14="http://schemas.microsoft.com/office/powerpoint/2010/main" val="35446191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a:t>
            </a:r>
            <a:r>
              <a:rPr lang="en-IN" b="1" dirty="0" smtClean="0"/>
              <a:t>asic </a:t>
            </a:r>
            <a:r>
              <a:rPr lang="en-IN" b="1" dirty="0"/>
              <a:t>differences</a:t>
            </a:r>
            <a:endParaRPr lang="en-IN" dirty="0"/>
          </a:p>
        </p:txBody>
      </p:sp>
      <p:sp>
        <p:nvSpPr>
          <p:cNvPr id="3" name="Content Placeholder 2"/>
          <p:cNvSpPr>
            <a:spLocks noGrp="1"/>
          </p:cNvSpPr>
          <p:nvPr>
            <p:ph idx="1"/>
          </p:nvPr>
        </p:nvSpPr>
        <p:spPr/>
        <p:txBody>
          <a:bodyPr>
            <a:normAutofit fontScale="70000" lnSpcReduction="20000"/>
          </a:bodyPr>
          <a:lstStyle/>
          <a:p>
            <a:pPr lvl="0" algn="just"/>
            <a:r>
              <a:rPr lang="en-IN" dirty="0"/>
              <a:t>Native apps have single platform affinity while mobile web apps have cross platform affinity.</a:t>
            </a:r>
          </a:p>
          <a:p>
            <a:pPr lvl="0" algn="just"/>
            <a:r>
              <a:rPr lang="en-IN" dirty="0"/>
              <a:t>Native apps are written in platforms like SDKs while Mobile web apps are written with web technologies like html, </a:t>
            </a:r>
            <a:r>
              <a:rPr lang="en-IN" dirty="0" err="1"/>
              <a:t>css</a:t>
            </a:r>
            <a:r>
              <a:rPr lang="en-IN" dirty="0"/>
              <a:t>, asp.net, java, </a:t>
            </a:r>
            <a:r>
              <a:rPr lang="en-IN" dirty="0" err="1"/>
              <a:t>php</a:t>
            </a:r>
            <a:r>
              <a:rPr lang="en-IN" dirty="0"/>
              <a:t>.</a:t>
            </a:r>
          </a:p>
          <a:p>
            <a:pPr lvl="0" algn="just"/>
            <a:r>
              <a:rPr lang="en-IN" dirty="0"/>
              <a:t>For a native app, installation is required but for mobile web apps, no installation is required.</a:t>
            </a:r>
          </a:p>
          <a:p>
            <a:pPr lvl="0" algn="just"/>
            <a:r>
              <a:rPr lang="en-IN" dirty="0"/>
              <a:t>Native app can be updated from play store or app store while mobile web apps are centralized updates.</a:t>
            </a:r>
          </a:p>
          <a:p>
            <a:pPr lvl="0" algn="just"/>
            <a:r>
              <a:rPr lang="en-IN" dirty="0"/>
              <a:t>Many native app don’t require Internet connection but for mobile web apps it’s a must.</a:t>
            </a:r>
          </a:p>
          <a:p>
            <a:pPr lvl="0" algn="just"/>
            <a:r>
              <a:rPr lang="en-IN" dirty="0"/>
              <a:t>Native app works faster when compared to mobile web apps.</a:t>
            </a:r>
          </a:p>
          <a:p>
            <a:pPr lvl="0" algn="just"/>
            <a:r>
              <a:rPr lang="en-IN" dirty="0"/>
              <a:t>Native apps are installed from app stores like </a:t>
            </a:r>
            <a:r>
              <a:rPr lang="en-IN" dirty="0" smtClean="0"/>
              <a:t>Google </a:t>
            </a:r>
            <a:r>
              <a:rPr lang="en-IN" dirty="0" smtClean="0"/>
              <a:t>play store</a:t>
            </a:r>
            <a:r>
              <a:rPr lang="en-IN" dirty="0"/>
              <a:t> or </a:t>
            </a:r>
            <a:r>
              <a:rPr lang="en-IN" u="sng" dirty="0" smtClean="0"/>
              <a:t>app store</a:t>
            </a:r>
            <a:r>
              <a:rPr lang="en-IN" dirty="0"/>
              <a:t> where mobile web are websites and are only accessible through Internet.</a:t>
            </a:r>
          </a:p>
          <a:p>
            <a:pPr marL="0" indent="0" algn="just">
              <a:buNone/>
            </a:pPr>
            <a:endParaRPr lang="en-IN" dirty="0"/>
          </a:p>
        </p:txBody>
      </p:sp>
    </p:spTree>
    <p:extLst>
      <p:ext uri="{BB962C8B-B14F-4D97-AF65-F5344CB8AC3E}">
        <p14:creationId xmlns:p14="http://schemas.microsoft.com/office/powerpoint/2010/main" val="8730442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01000" cy="639762"/>
          </a:xfrm>
        </p:spPr>
        <p:txBody>
          <a:bodyPr>
            <a:normAutofit/>
          </a:bodyPr>
          <a:lstStyle/>
          <a:p>
            <a:r>
              <a:rPr lang="en-IN" sz="3200" b="1" dirty="0"/>
              <a:t>C</a:t>
            </a:r>
            <a:r>
              <a:rPr lang="en-IN" sz="3200" b="1" dirty="0" smtClean="0"/>
              <a:t>hallenges</a:t>
            </a:r>
            <a:endParaRPr lang="en-IN" sz="3200" b="1" dirty="0"/>
          </a:p>
        </p:txBody>
      </p:sp>
      <p:sp>
        <p:nvSpPr>
          <p:cNvPr id="3" name="Content Placeholder 2"/>
          <p:cNvSpPr>
            <a:spLocks noGrp="1"/>
          </p:cNvSpPr>
          <p:nvPr>
            <p:ph idx="1"/>
          </p:nvPr>
        </p:nvSpPr>
        <p:spPr>
          <a:xfrm>
            <a:off x="533400" y="990600"/>
            <a:ext cx="8153400" cy="5135563"/>
          </a:xfrm>
        </p:spPr>
        <p:txBody>
          <a:bodyPr>
            <a:normAutofit fontScale="70000" lnSpcReduction="20000"/>
          </a:bodyPr>
          <a:lstStyle/>
          <a:p>
            <a:pPr marL="0" lvl="0" indent="0">
              <a:buNone/>
            </a:pPr>
            <a:r>
              <a:rPr lang="en-IN" dirty="0" smtClean="0"/>
              <a:t>Testing </a:t>
            </a:r>
            <a:r>
              <a:rPr lang="en-IN" dirty="0"/>
              <a:t>applications on mobile devices is more challenging than testing web apps on desktop due to :</a:t>
            </a:r>
          </a:p>
          <a:p>
            <a:pPr lvl="0"/>
            <a:r>
              <a:rPr lang="en-IN" b="1" dirty="0"/>
              <a:t>Wide varieties of mobile devices</a:t>
            </a:r>
            <a:r>
              <a:rPr lang="en-IN" dirty="0"/>
              <a:t> like </a:t>
            </a:r>
            <a:r>
              <a:rPr lang="en-IN" dirty="0" smtClean="0"/>
              <a:t>Samsung</a:t>
            </a:r>
            <a:r>
              <a:rPr lang="en-IN" dirty="0"/>
              <a:t>, Apple and Nokia.</a:t>
            </a:r>
          </a:p>
          <a:p>
            <a:pPr lvl="0"/>
            <a:r>
              <a:rPr lang="en-IN" b="1" dirty="0"/>
              <a:t>Different range of mobile devices</a:t>
            </a:r>
            <a:r>
              <a:rPr lang="en-IN" dirty="0"/>
              <a:t> with different screen sizes and hardware configurations like hard keypad, virtual keypad (touch screen) and trackball etc.</a:t>
            </a:r>
          </a:p>
          <a:p>
            <a:pPr lvl="0"/>
            <a:r>
              <a:rPr lang="en-IN" b="1" dirty="0"/>
              <a:t>Different mobile operating systems</a:t>
            </a:r>
            <a:r>
              <a:rPr lang="en-IN" dirty="0"/>
              <a:t> like Android, Symbian, Windows, Blackberry and IOS.</a:t>
            </a:r>
          </a:p>
          <a:p>
            <a:pPr lvl="0"/>
            <a:r>
              <a:rPr lang="en-IN" b="1" dirty="0"/>
              <a:t>Different versions of operation system</a:t>
            </a:r>
            <a:r>
              <a:rPr lang="en-IN" dirty="0"/>
              <a:t> like iOS 5.x, iOS 6.x, BB5.x, BB6.x etc.</a:t>
            </a:r>
          </a:p>
          <a:p>
            <a:pPr lvl="0"/>
            <a:r>
              <a:rPr lang="en-IN" b="1" dirty="0"/>
              <a:t>Different mobile network operators</a:t>
            </a:r>
            <a:r>
              <a:rPr lang="en-IN" dirty="0"/>
              <a:t> like GSM(Global System for Mobile Communication) and CDMA(Code Division Multiple Access).</a:t>
            </a:r>
          </a:p>
          <a:p>
            <a:pPr lvl="0"/>
            <a:r>
              <a:rPr lang="en-IN" dirty="0"/>
              <a:t> </a:t>
            </a:r>
            <a:r>
              <a:rPr lang="en-IN" b="1" dirty="0"/>
              <a:t>Frequent updates </a:t>
            </a:r>
            <a:r>
              <a:rPr lang="en-IN" dirty="0"/>
              <a:t>(like android- 4.2, 4.3, 4.4, iOS-5.x, 6.x) – with each update a new testing cycle is recommended to make sure no application functionality is impacted.</a:t>
            </a:r>
          </a:p>
          <a:p>
            <a:pPr marL="0" indent="0">
              <a:buNone/>
            </a:pPr>
            <a:endParaRPr lang="en-IN" dirty="0"/>
          </a:p>
        </p:txBody>
      </p:sp>
    </p:spTree>
    <p:extLst>
      <p:ext uri="{BB962C8B-B14F-4D97-AF65-F5344CB8AC3E}">
        <p14:creationId xmlns:p14="http://schemas.microsoft.com/office/powerpoint/2010/main" val="40277430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t>Basic Difference between Mobile and Desktop Application Testing</a:t>
            </a:r>
            <a:endParaRPr lang="en-IN" sz="3200" dirty="0"/>
          </a:p>
        </p:txBody>
      </p:sp>
      <p:sp>
        <p:nvSpPr>
          <p:cNvPr id="3" name="Content Placeholder 2"/>
          <p:cNvSpPr>
            <a:spLocks noGrp="1"/>
          </p:cNvSpPr>
          <p:nvPr>
            <p:ph idx="1"/>
          </p:nvPr>
        </p:nvSpPr>
        <p:spPr/>
        <p:txBody>
          <a:bodyPr>
            <a:normAutofit fontScale="92500" lnSpcReduction="20000"/>
          </a:bodyPr>
          <a:lstStyle/>
          <a:p>
            <a:pPr lvl="0"/>
            <a:r>
              <a:rPr lang="en-IN" dirty="0"/>
              <a:t>On desktop, the application is tested on a central processing unit. On a mobile device, the application is tested on handsets like Samsung, Nokia, Apple and HTC.</a:t>
            </a:r>
          </a:p>
          <a:p>
            <a:pPr lvl="0"/>
            <a:r>
              <a:rPr lang="en-IN" dirty="0"/>
              <a:t>Mobile device screen size is smaller than desktop.</a:t>
            </a:r>
          </a:p>
          <a:p>
            <a:pPr lvl="0"/>
            <a:r>
              <a:rPr lang="en-IN" dirty="0"/>
              <a:t>Mobile devices have less memory than desktop.</a:t>
            </a:r>
          </a:p>
          <a:p>
            <a:pPr lvl="0"/>
            <a:r>
              <a:rPr lang="en-IN" dirty="0"/>
              <a:t>Mobiles use network connections like 2G, 3G, 4G or WIFI where desktop use broadband or dial up connections.</a:t>
            </a:r>
          </a:p>
          <a:p>
            <a:pPr lvl="0"/>
            <a:r>
              <a:rPr lang="en-IN" dirty="0"/>
              <a:t>The automation tool used for desktop application testing might not work on mobile applications.</a:t>
            </a:r>
          </a:p>
          <a:p>
            <a:pPr marL="0" indent="0">
              <a:buNone/>
            </a:pPr>
            <a:endParaRPr lang="en-IN" dirty="0"/>
          </a:p>
        </p:txBody>
      </p:sp>
    </p:spTree>
    <p:extLst>
      <p:ext uri="{BB962C8B-B14F-4D97-AF65-F5344CB8AC3E}">
        <p14:creationId xmlns:p14="http://schemas.microsoft.com/office/powerpoint/2010/main" val="166663879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Types of Mobile App </a:t>
            </a:r>
            <a:r>
              <a:rPr lang="en-IN" b="1" dirty="0" smtClean="0"/>
              <a:t>Testing</a:t>
            </a:r>
            <a:endParaRPr lang="en-IN" dirty="0"/>
          </a:p>
        </p:txBody>
      </p:sp>
      <p:sp>
        <p:nvSpPr>
          <p:cNvPr id="3" name="Content Placeholder 2"/>
          <p:cNvSpPr>
            <a:spLocks noGrp="1"/>
          </p:cNvSpPr>
          <p:nvPr>
            <p:ph idx="1"/>
          </p:nvPr>
        </p:nvSpPr>
        <p:spPr>
          <a:xfrm>
            <a:off x="457200" y="1371600"/>
            <a:ext cx="8229600" cy="4754563"/>
          </a:xfrm>
        </p:spPr>
        <p:txBody>
          <a:bodyPr>
            <a:normAutofit fontScale="85000" lnSpcReduction="10000"/>
          </a:bodyPr>
          <a:lstStyle/>
          <a:p>
            <a:pPr lvl="0" algn="just"/>
            <a:r>
              <a:rPr lang="en-IN" b="1" dirty="0" smtClean="0"/>
              <a:t>Compatibility </a:t>
            </a:r>
            <a:r>
              <a:rPr lang="en-IN" b="1" dirty="0"/>
              <a:t>testing</a:t>
            </a:r>
            <a:r>
              <a:rPr lang="en-IN" dirty="0"/>
              <a:t>– Testing of the application in different mobiles devices, browsers, screen sizes and OS versions according to the requirements.</a:t>
            </a:r>
          </a:p>
          <a:p>
            <a:pPr lvl="0" algn="just"/>
            <a:r>
              <a:rPr lang="en-IN" b="1" dirty="0"/>
              <a:t>Interface testing</a:t>
            </a:r>
            <a:r>
              <a:rPr lang="en-IN" dirty="0"/>
              <a:t>– Testing of menu options, buttons, bookmarks, history, settings, and navigation flow of the application.</a:t>
            </a:r>
          </a:p>
          <a:p>
            <a:pPr lvl="0" algn="just"/>
            <a:r>
              <a:rPr lang="en-IN" b="1" dirty="0"/>
              <a:t>Services testing</a:t>
            </a:r>
            <a:r>
              <a:rPr lang="en-IN" dirty="0"/>
              <a:t>– Testing the services of the application online and offline.</a:t>
            </a:r>
          </a:p>
          <a:p>
            <a:pPr lvl="0" algn="just"/>
            <a:r>
              <a:rPr lang="en-IN" b="1" dirty="0"/>
              <a:t>Low level resource testing</a:t>
            </a:r>
            <a:r>
              <a:rPr lang="en-IN" dirty="0"/>
              <a:t>: Testing of memory usage, auto deletion of temporary files, local database growing issues known as low level resource testing.</a:t>
            </a:r>
          </a:p>
          <a:p>
            <a:pPr marL="0" indent="0" algn="just">
              <a:buNone/>
            </a:pPr>
            <a:endParaRPr lang="en-IN" dirty="0"/>
          </a:p>
        </p:txBody>
      </p:sp>
    </p:spTree>
    <p:extLst>
      <p:ext uri="{BB962C8B-B14F-4D97-AF65-F5344CB8AC3E}">
        <p14:creationId xmlns:p14="http://schemas.microsoft.com/office/powerpoint/2010/main" val="41801460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Types of Mobile App </a:t>
            </a:r>
            <a:r>
              <a:rPr lang="en-IN" b="1" dirty="0" smtClean="0"/>
              <a:t>Testing</a:t>
            </a:r>
            <a:endParaRPr lang="en-IN" dirty="0"/>
          </a:p>
        </p:txBody>
      </p:sp>
      <p:sp>
        <p:nvSpPr>
          <p:cNvPr id="3" name="Content Placeholder 2"/>
          <p:cNvSpPr>
            <a:spLocks noGrp="1"/>
          </p:cNvSpPr>
          <p:nvPr>
            <p:ph idx="1"/>
          </p:nvPr>
        </p:nvSpPr>
        <p:spPr>
          <a:xfrm>
            <a:off x="304800" y="1219200"/>
            <a:ext cx="8382000" cy="4906963"/>
          </a:xfrm>
        </p:spPr>
        <p:txBody>
          <a:bodyPr>
            <a:normAutofit fontScale="77500" lnSpcReduction="20000"/>
          </a:bodyPr>
          <a:lstStyle/>
          <a:p>
            <a:pPr algn="just"/>
            <a:r>
              <a:rPr lang="en-IN" b="1" dirty="0"/>
              <a:t>Performance testing</a:t>
            </a:r>
            <a:r>
              <a:rPr lang="en-IN" dirty="0"/>
              <a:t>– Testing the performance of the application by changing the connection from 2G, 3G to WIFI, sharing the documents, battery consumption, etc</a:t>
            </a:r>
            <a:r>
              <a:rPr lang="en-IN" dirty="0" smtClean="0"/>
              <a:t>.</a:t>
            </a:r>
            <a:r>
              <a:rPr lang="en-IN" dirty="0"/>
              <a:t> </a:t>
            </a:r>
            <a:endParaRPr lang="en-IN" dirty="0" smtClean="0"/>
          </a:p>
          <a:p>
            <a:pPr algn="just"/>
            <a:r>
              <a:rPr lang="en-IN" dirty="0" smtClean="0"/>
              <a:t>Testing </a:t>
            </a:r>
            <a:r>
              <a:rPr lang="en-IN" dirty="0"/>
              <a:t>the performance and behaviour of the application under certain conditions such as low battery, bad network coverage, low available memory, simultaneous access to application’s server by several users and other conditions. Performance of an application can be affected from two sides: application’s server side and client’s side. Performance</a:t>
            </a:r>
            <a:r>
              <a:rPr lang="en-IN" u="sng" dirty="0"/>
              <a:t> </a:t>
            </a:r>
            <a:r>
              <a:rPr lang="en-IN" dirty="0"/>
              <a:t>testing is carried out to check both.</a:t>
            </a:r>
          </a:p>
          <a:p>
            <a:pPr lvl="0" algn="just"/>
            <a:r>
              <a:rPr lang="en-IN" b="1" dirty="0" smtClean="0"/>
              <a:t>Operational </a:t>
            </a:r>
            <a:r>
              <a:rPr lang="en-IN" b="1" dirty="0"/>
              <a:t>testing</a:t>
            </a:r>
            <a:r>
              <a:rPr lang="en-IN" dirty="0"/>
              <a:t>– Testing of backups and recovery plan if battery goes down, or data loss while upgrading the application from store.</a:t>
            </a:r>
          </a:p>
          <a:p>
            <a:pPr lvl="0" algn="just"/>
            <a:r>
              <a:rPr lang="en-IN" b="1" dirty="0" smtClean="0"/>
              <a:t>Security </a:t>
            </a:r>
            <a:r>
              <a:rPr lang="en-IN" b="1" dirty="0"/>
              <a:t>Testing</a:t>
            </a:r>
            <a:r>
              <a:rPr lang="en-IN" dirty="0"/>
              <a:t>– Testing an application to validate if the information system protects data or not.</a:t>
            </a:r>
          </a:p>
          <a:p>
            <a:pPr marL="0" indent="0" algn="just">
              <a:buNone/>
            </a:pPr>
            <a:endParaRPr lang="en-IN" dirty="0"/>
          </a:p>
        </p:txBody>
      </p:sp>
    </p:spTree>
    <p:extLst>
      <p:ext uri="{BB962C8B-B14F-4D97-AF65-F5344CB8AC3E}">
        <p14:creationId xmlns:p14="http://schemas.microsoft.com/office/powerpoint/2010/main" val="11418715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74638"/>
            <a:ext cx="8153400" cy="639762"/>
          </a:xfrm>
        </p:spPr>
        <p:txBody>
          <a:bodyPr>
            <a:normAutofit/>
          </a:bodyPr>
          <a:lstStyle/>
          <a:p>
            <a:r>
              <a:rPr lang="en-IN" sz="3200" b="1" dirty="0"/>
              <a:t>Types of Mobile App </a:t>
            </a:r>
            <a:r>
              <a:rPr lang="en-IN" sz="3200" b="1" dirty="0" smtClean="0"/>
              <a:t>Testing</a:t>
            </a:r>
            <a:endParaRPr lang="en-IN" sz="3200" dirty="0"/>
          </a:p>
        </p:txBody>
      </p:sp>
      <p:sp>
        <p:nvSpPr>
          <p:cNvPr id="3" name="Content Placeholder 2"/>
          <p:cNvSpPr>
            <a:spLocks noGrp="1"/>
          </p:cNvSpPr>
          <p:nvPr>
            <p:ph idx="1"/>
          </p:nvPr>
        </p:nvSpPr>
        <p:spPr>
          <a:xfrm>
            <a:off x="685800" y="914400"/>
            <a:ext cx="8229600" cy="5638800"/>
          </a:xfrm>
        </p:spPr>
        <p:txBody>
          <a:bodyPr>
            <a:noAutofit/>
          </a:bodyPr>
          <a:lstStyle/>
          <a:p>
            <a:pPr marL="0" indent="0" algn="just">
              <a:buNone/>
            </a:pPr>
            <a:r>
              <a:rPr lang="en-IN" sz="1200" dirty="0"/>
              <a:t>The fundamental objective of </a:t>
            </a:r>
            <a:r>
              <a:rPr lang="en-IN" sz="1400" b="1" dirty="0"/>
              <a:t>security testing </a:t>
            </a:r>
            <a:r>
              <a:rPr lang="en-IN" sz="1200" dirty="0"/>
              <a:t>is to ensure that the application’s data and networking security requirements are met as per guidelines.</a:t>
            </a:r>
          </a:p>
          <a:p>
            <a:pPr algn="just"/>
            <a:r>
              <a:rPr lang="en-IN" sz="1200" dirty="0"/>
              <a:t>The following are the most crucial areas for checking the security of Mobile applications.</a:t>
            </a:r>
          </a:p>
          <a:p>
            <a:pPr algn="just"/>
            <a:r>
              <a:rPr lang="en-IN" sz="1200" dirty="0"/>
              <a:t>To validate that the application is able to withstand any brute force attack which is an automated process of trial and error used to guess a person’s username, password or credit-card number.</a:t>
            </a:r>
          </a:p>
          <a:p>
            <a:pPr algn="just"/>
            <a:r>
              <a:rPr lang="en-IN" sz="1200" dirty="0"/>
              <a:t>To validate whether an application is not permitting an attacker to access sensitive content or functionality without proper authentication.</a:t>
            </a:r>
          </a:p>
          <a:p>
            <a:pPr algn="just"/>
            <a:r>
              <a:rPr lang="en-IN" sz="1200" dirty="0"/>
              <a:t>To validate that the application has a strong password protection system and it does not permit an attacker to obtain, change or recover another user’s password.</a:t>
            </a:r>
          </a:p>
          <a:p>
            <a:pPr algn="just"/>
            <a:r>
              <a:rPr lang="en-IN" sz="1200" dirty="0"/>
              <a:t>To validate that the application does not suffer from insufficient session expiration.</a:t>
            </a:r>
          </a:p>
          <a:p>
            <a:pPr algn="just"/>
            <a:r>
              <a:rPr lang="en-IN" sz="1200" dirty="0"/>
              <a:t>To identify the dynamic dependencies and take measures to prevent any attacker for accessing these vulnerabilities.</a:t>
            </a:r>
          </a:p>
          <a:p>
            <a:pPr algn="just"/>
            <a:r>
              <a:rPr lang="en-IN" sz="1200" dirty="0"/>
              <a:t>To prevent from</a:t>
            </a:r>
            <a:r>
              <a:rPr lang="en-IN" sz="1200" dirty="0">
                <a:hlinkClick r:id="rId2"/>
              </a:rPr>
              <a:t> SQL </a:t>
            </a:r>
            <a:r>
              <a:rPr lang="en-IN" sz="1200" dirty="0"/>
              <a:t>injection related attacks.</a:t>
            </a:r>
          </a:p>
          <a:p>
            <a:pPr algn="just"/>
            <a:r>
              <a:rPr lang="en-IN" sz="1200" dirty="0"/>
              <a:t>To identify and recover from any unmanaged code scenarios.</a:t>
            </a:r>
          </a:p>
          <a:p>
            <a:pPr algn="just"/>
            <a:r>
              <a:rPr lang="en-IN" sz="1200" dirty="0"/>
              <a:t>To ensure whether the certificates are validated, does the application implement Certificate Pinning or not.</a:t>
            </a:r>
          </a:p>
          <a:p>
            <a:pPr algn="just"/>
            <a:r>
              <a:rPr lang="en-IN" sz="1200" dirty="0"/>
              <a:t>To protect the application and the network from the denial of service attacks.</a:t>
            </a:r>
          </a:p>
          <a:p>
            <a:pPr algn="just"/>
            <a:r>
              <a:rPr lang="en-IN" sz="1200" dirty="0" smtClean="0"/>
              <a:t>To </a:t>
            </a:r>
            <a:r>
              <a:rPr lang="en-IN" sz="1200" dirty="0"/>
              <a:t>enable the session management for preventing unauthorized users to access unsolicited information.</a:t>
            </a:r>
          </a:p>
          <a:p>
            <a:pPr algn="just"/>
            <a:r>
              <a:rPr lang="en-IN" sz="1200" dirty="0"/>
              <a:t>To check if any cryptography code is broken and ensure that it is repaired.</a:t>
            </a:r>
          </a:p>
          <a:p>
            <a:pPr algn="just"/>
            <a:r>
              <a:rPr lang="en-IN" sz="1200" dirty="0"/>
              <a:t>To validate whether the business logic implementation is secured and not vulnerable to any attack from outside.</a:t>
            </a:r>
          </a:p>
          <a:p>
            <a:pPr algn="just"/>
            <a:r>
              <a:rPr lang="en-IN" sz="1200" dirty="0"/>
              <a:t>To </a:t>
            </a:r>
            <a:r>
              <a:rPr lang="en-IN" sz="1200" dirty="0" err="1"/>
              <a:t>analyze</a:t>
            </a:r>
            <a:r>
              <a:rPr lang="en-IN" sz="1200" dirty="0"/>
              <a:t> file system interactions, determine any vulnerability and correct these problems.</a:t>
            </a:r>
          </a:p>
          <a:p>
            <a:pPr algn="just"/>
            <a:r>
              <a:rPr lang="en-IN" sz="1200" dirty="0"/>
              <a:t>To validate the protocol handlers for example trying to reconfigure the default landing page for the application using a malicious iframe.</a:t>
            </a:r>
          </a:p>
          <a:p>
            <a:pPr algn="just"/>
            <a:r>
              <a:rPr lang="en-IN" sz="1200" dirty="0"/>
              <a:t>To protect against malicious client side </a:t>
            </a:r>
            <a:r>
              <a:rPr lang="en-IN" sz="1200" dirty="0" smtClean="0"/>
              <a:t>injections. And malicious </a:t>
            </a:r>
            <a:r>
              <a:rPr lang="en-IN" sz="1200" dirty="0"/>
              <a:t>runtime injections.</a:t>
            </a:r>
          </a:p>
          <a:p>
            <a:pPr algn="just"/>
            <a:r>
              <a:rPr lang="en-IN" sz="1200" dirty="0"/>
              <a:t>To investigate file caching and prevent any malicious possibilities from the same.</a:t>
            </a:r>
          </a:p>
          <a:p>
            <a:pPr algn="just"/>
            <a:r>
              <a:rPr lang="en-IN" sz="1200" dirty="0"/>
              <a:t>To prevent from insecure data storage in the keyboard cache of the applications.</a:t>
            </a:r>
          </a:p>
          <a:p>
            <a:pPr algn="just"/>
            <a:r>
              <a:rPr lang="en-IN" sz="1200" dirty="0"/>
              <a:t>To investigate cookies and preventing any malicious deeds from the cookies.</a:t>
            </a:r>
          </a:p>
          <a:p>
            <a:pPr algn="just"/>
            <a:r>
              <a:rPr lang="en-IN" sz="1200" dirty="0" smtClean="0"/>
              <a:t>Investigate </a:t>
            </a:r>
            <a:r>
              <a:rPr lang="en-IN" sz="1200" dirty="0"/>
              <a:t>custom created files and preventing any malicious deeds from the custom created files.</a:t>
            </a:r>
          </a:p>
          <a:p>
            <a:pPr algn="just"/>
            <a:r>
              <a:rPr lang="en-IN" sz="1200" dirty="0"/>
              <a:t>To prevent from buffer overflows and memory corruption cases.</a:t>
            </a:r>
          </a:p>
          <a:p>
            <a:pPr marL="0" indent="0" algn="just">
              <a:buNone/>
            </a:pPr>
            <a:endParaRPr lang="en-IN" sz="1200" dirty="0"/>
          </a:p>
        </p:txBody>
      </p:sp>
    </p:spTree>
    <p:extLst>
      <p:ext uri="{BB962C8B-B14F-4D97-AF65-F5344CB8AC3E}">
        <p14:creationId xmlns:p14="http://schemas.microsoft.com/office/powerpoint/2010/main" val="7792160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Types of Mobile App </a:t>
            </a:r>
            <a:r>
              <a:rPr lang="en-IN" b="1" dirty="0" smtClean="0"/>
              <a:t>Testing</a:t>
            </a:r>
            <a:endParaRPr lang="en-IN" dirty="0"/>
          </a:p>
        </p:txBody>
      </p:sp>
      <p:sp>
        <p:nvSpPr>
          <p:cNvPr id="3" name="Content Placeholder 2"/>
          <p:cNvSpPr>
            <a:spLocks noGrp="1"/>
          </p:cNvSpPr>
          <p:nvPr>
            <p:ph idx="1"/>
          </p:nvPr>
        </p:nvSpPr>
        <p:spPr>
          <a:xfrm>
            <a:off x="457200" y="1219200"/>
            <a:ext cx="8229600" cy="4906963"/>
          </a:xfrm>
        </p:spPr>
        <p:txBody>
          <a:bodyPr>
            <a:normAutofit fontScale="70000" lnSpcReduction="20000"/>
          </a:bodyPr>
          <a:lstStyle/>
          <a:p>
            <a:pPr algn="just"/>
            <a:r>
              <a:rPr lang="en-IN" b="1" dirty="0" smtClean="0"/>
              <a:t>Functional </a:t>
            </a:r>
            <a:r>
              <a:rPr lang="en-IN" b="1" dirty="0"/>
              <a:t>Testing</a:t>
            </a:r>
            <a:r>
              <a:rPr lang="en-IN" dirty="0"/>
              <a:t>: Functional testing ensures that the application is working as per the requirements. Most of the test conducted for this is driven by the user interface and call flow</a:t>
            </a:r>
          </a:p>
          <a:p>
            <a:pPr algn="just"/>
            <a:r>
              <a:rPr lang="en-IN" dirty="0"/>
              <a:t> </a:t>
            </a:r>
            <a:r>
              <a:rPr lang="en-IN" b="1" dirty="0"/>
              <a:t>Laboratory Testing</a:t>
            </a:r>
            <a:r>
              <a:rPr lang="en-IN" dirty="0"/>
              <a:t>: Laboratory testing, usually carried out by network carriers, is done by simulating the complete wireless network. This test is performed to find out any glitches when a mobile application uses voice and/or data connection to perform some functions</a:t>
            </a:r>
            <a:r>
              <a:rPr lang="en-IN" dirty="0" smtClean="0"/>
              <a:t>.</a:t>
            </a:r>
          </a:p>
          <a:p>
            <a:pPr algn="just"/>
            <a:r>
              <a:rPr lang="en-IN" b="1" dirty="0"/>
              <a:t>Installation testing</a:t>
            </a:r>
            <a:r>
              <a:rPr lang="en-IN" dirty="0"/>
              <a:t>: </a:t>
            </a:r>
            <a:r>
              <a:rPr lang="en-IN" dirty="0" smtClean="0"/>
              <a:t>Validation </a:t>
            </a:r>
            <a:r>
              <a:rPr lang="en-IN" dirty="0"/>
              <a:t>of the application by installing /uninstalling it on the devices.</a:t>
            </a:r>
          </a:p>
          <a:p>
            <a:pPr lvl="1" algn="just"/>
            <a:r>
              <a:rPr lang="en-IN" dirty="0" smtClean="0"/>
              <a:t>Certain </a:t>
            </a:r>
            <a:r>
              <a:rPr lang="en-IN" dirty="0"/>
              <a:t>mobile applications come pre-installed on the device whereas others have to be installed from the store. Installation testing verifies that the installation process goes smoothly without the user having to face any difficulty. This testing process covers installation, updating and uninstalling of an application</a:t>
            </a:r>
          </a:p>
          <a:p>
            <a:pPr algn="just"/>
            <a:endParaRPr lang="en-IN" dirty="0"/>
          </a:p>
          <a:p>
            <a:pPr marL="0" indent="0" algn="just">
              <a:buNone/>
            </a:pPr>
            <a:endParaRPr lang="en-IN" dirty="0"/>
          </a:p>
        </p:txBody>
      </p:sp>
    </p:spTree>
    <p:extLst>
      <p:ext uri="{BB962C8B-B14F-4D97-AF65-F5344CB8AC3E}">
        <p14:creationId xmlns:p14="http://schemas.microsoft.com/office/powerpoint/2010/main" val="28486176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Types of Mobile App </a:t>
            </a:r>
            <a:r>
              <a:rPr lang="en-IN" b="1" dirty="0" smtClean="0"/>
              <a:t>Testing</a:t>
            </a:r>
            <a:endParaRPr lang="en-IN" dirty="0"/>
          </a:p>
        </p:txBody>
      </p:sp>
      <p:sp>
        <p:nvSpPr>
          <p:cNvPr id="3" name="Content Placeholder 2"/>
          <p:cNvSpPr>
            <a:spLocks noGrp="1"/>
          </p:cNvSpPr>
          <p:nvPr>
            <p:ph idx="1"/>
          </p:nvPr>
        </p:nvSpPr>
        <p:spPr>
          <a:xfrm>
            <a:off x="457200" y="1219200"/>
            <a:ext cx="8229600" cy="4906963"/>
          </a:xfrm>
        </p:spPr>
        <p:txBody>
          <a:bodyPr>
            <a:normAutofit fontScale="55000" lnSpcReduction="20000"/>
          </a:bodyPr>
          <a:lstStyle/>
          <a:p>
            <a:r>
              <a:rPr lang="en-IN" b="1" dirty="0" smtClean="0"/>
              <a:t>Memory </a:t>
            </a:r>
            <a:r>
              <a:rPr lang="en-IN" b="1" dirty="0"/>
              <a:t>Leakage Testing</a:t>
            </a:r>
            <a:r>
              <a:rPr lang="en-IN" dirty="0"/>
              <a:t>: Memory leakage happens when a computer program or application is unable to manage the memory it is allocated resulting in poor performance of the application and the overall slowdown of the system. As mobile devices have significant constraints of available memory, memory leakage testing is crucial for the proper functioning of an application</a:t>
            </a:r>
          </a:p>
          <a:p>
            <a:r>
              <a:rPr lang="en-IN" b="1" dirty="0" smtClean="0"/>
              <a:t>Interrupt </a:t>
            </a:r>
            <a:r>
              <a:rPr lang="en-IN" b="1" dirty="0"/>
              <a:t>Testing</a:t>
            </a:r>
            <a:r>
              <a:rPr lang="en-IN" dirty="0"/>
              <a:t>: An application while functioning may face several interruptions like incoming calls or network coverage outage and recovery. The different types of interruptions are:</a:t>
            </a:r>
          </a:p>
          <a:p>
            <a:pPr lvl="1"/>
            <a:r>
              <a:rPr lang="en-IN" dirty="0"/>
              <a:t>Incoming and Outgoing </a:t>
            </a:r>
            <a:r>
              <a:rPr lang="en-IN" u="sng" dirty="0"/>
              <a:t> </a:t>
            </a:r>
            <a:r>
              <a:rPr lang="en-IN" dirty="0" smtClean="0"/>
              <a:t>SMS</a:t>
            </a:r>
            <a:endParaRPr lang="en-IN" dirty="0"/>
          </a:p>
          <a:p>
            <a:pPr lvl="1"/>
            <a:r>
              <a:rPr lang="en-IN" dirty="0"/>
              <a:t>Incoming and Outgoing calls</a:t>
            </a:r>
          </a:p>
          <a:p>
            <a:pPr lvl="1"/>
            <a:r>
              <a:rPr lang="en-IN" dirty="0"/>
              <a:t>Incoming Notifications</a:t>
            </a:r>
          </a:p>
          <a:p>
            <a:pPr lvl="1"/>
            <a:r>
              <a:rPr lang="en-IN" dirty="0"/>
              <a:t>Battery Removal</a:t>
            </a:r>
          </a:p>
          <a:p>
            <a:pPr lvl="1"/>
            <a:r>
              <a:rPr lang="en-IN" dirty="0"/>
              <a:t>Cable Insertion and Removal for data transfer</a:t>
            </a:r>
          </a:p>
          <a:p>
            <a:pPr lvl="1"/>
            <a:r>
              <a:rPr lang="en-IN" dirty="0"/>
              <a:t>Network outage and recovery</a:t>
            </a:r>
          </a:p>
          <a:p>
            <a:pPr lvl="1"/>
            <a:r>
              <a:rPr lang="en-IN" dirty="0"/>
              <a:t>Media Player on/off</a:t>
            </a:r>
          </a:p>
          <a:p>
            <a:pPr lvl="1"/>
            <a:r>
              <a:rPr lang="en-IN" dirty="0"/>
              <a:t>Device Power cycle</a:t>
            </a:r>
          </a:p>
          <a:p>
            <a:pPr lvl="1"/>
            <a:r>
              <a:rPr lang="en-IN" dirty="0"/>
              <a:t>An application should be able to handle these interruptions by going into a suspended state and resuming afterwards.</a:t>
            </a:r>
          </a:p>
          <a:p>
            <a:pPr marL="0" indent="0" algn="just">
              <a:buNone/>
            </a:pPr>
            <a:endParaRPr lang="en-IN" dirty="0"/>
          </a:p>
        </p:txBody>
      </p:sp>
    </p:spTree>
    <p:extLst>
      <p:ext uri="{BB962C8B-B14F-4D97-AF65-F5344CB8AC3E}">
        <p14:creationId xmlns:p14="http://schemas.microsoft.com/office/powerpoint/2010/main" val="396974418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Types of Mobile App </a:t>
            </a:r>
            <a:r>
              <a:rPr lang="en-IN" b="1" dirty="0" smtClean="0"/>
              <a:t>Testing</a:t>
            </a:r>
            <a:endParaRPr lang="en-IN" dirty="0"/>
          </a:p>
        </p:txBody>
      </p:sp>
      <p:sp>
        <p:nvSpPr>
          <p:cNvPr id="3" name="Content Placeholder 2"/>
          <p:cNvSpPr>
            <a:spLocks noGrp="1"/>
          </p:cNvSpPr>
          <p:nvPr>
            <p:ph idx="1"/>
          </p:nvPr>
        </p:nvSpPr>
        <p:spPr>
          <a:xfrm>
            <a:off x="457200" y="1219200"/>
            <a:ext cx="8229600" cy="4906963"/>
          </a:xfrm>
        </p:spPr>
        <p:txBody>
          <a:bodyPr>
            <a:normAutofit fontScale="70000" lnSpcReduction="20000"/>
          </a:bodyPr>
          <a:lstStyle/>
          <a:p>
            <a:pPr marL="0" lvl="0" indent="0" algn="just">
              <a:buNone/>
            </a:pPr>
            <a:r>
              <a:rPr lang="en-IN" sz="3400" b="1" dirty="0"/>
              <a:t>Usability testing</a:t>
            </a:r>
            <a:r>
              <a:rPr lang="en-IN" sz="3400" dirty="0"/>
              <a:t>: To make sure that the mobile app is easy to use and provides a satisfactory user experience to the customers.</a:t>
            </a:r>
          </a:p>
          <a:p>
            <a:pPr marL="0" indent="0" algn="just">
              <a:buNone/>
            </a:pPr>
            <a:endParaRPr lang="en-IN" sz="3400" dirty="0" smtClean="0"/>
          </a:p>
          <a:p>
            <a:pPr marL="0" indent="0" algn="just">
              <a:buNone/>
            </a:pPr>
            <a:r>
              <a:rPr lang="en-IN" sz="3400" dirty="0" smtClean="0"/>
              <a:t>Usability </a:t>
            </a:r>
            <a:r>
              <a:rPr lang="en-IN" sz="3400" dirty="0"/>
              <a:t>testing is carried out to verify if the application is achieving its goals and getting a favourable response from users. This is important as the usability of an application is its key to commercial success (it is nothing but </a:t>
            </a:r>
            <a:r>
              <a:rPr lang="en-IN" sz="3400" b="1" dirty="0"/>
              <a:t>user friendliness</a:t>
            </a:r>
            <a:r>
              <a:rPr lang="en-IN" sz="3400" dirty="0"/>
              <a:t>).Another important part of usability testing is to make sure that the user experience is uniform across all devices. This section of testing hopes to address the key challenges of the variety of mobile devices and the diversity in mobile platforms/OS, which is also called device fragmentation. One key portion of this type of usability testing is to be sure that there are no major errors in the functionality, placement, or sizing of the user interface on different devices.</a:t>
            </a:r>
          </a:p>
          <a:p>
            <a:pPr marL="0" indent="0" algn="just">
              <a:buNone/>
            </a:pPr>
            <a:endParaRPr lang="en-IN" dirty="0"/>
          </a:p>
        </p:txBody>
      </p:sp>
    </p:spTree>
    <p:extLst>
      <p:ext uri="{BB962C8B-B14F-4D97-AF65-F5344CB8AC3E}">
        <p14:creationId xmlns:p14="http://schemas.microsoft.com/office/powerpoint/2010/main" val="312703615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Types of Mobile App </a:t>
            </a:r>
            <a:r>
              <a:rPr lang="en-IN" b="1" dirty="0" smtClean="0"/>
              <a:t>Testing</a:t>
            </a:r>
            <a:endParaRPr lang="en-IN" dirty="0"/>
          </a:p>
        </p:txBody>
      </p:sp>
      <p:sp>
        <p:nvSpPr>
          <p:cNvPr id="4" name="Content Placeholder 3"/>
          <p:cNvSpPr>
            <a:spLocks noGrp="1"/>
          </p:cNvSpPr>
          <p:nvPr>
            <p:ph idx="1"/>
          </p:nvPr>
        </p:nvSpPr>
        <p:spPr>
          <a:xfrm>
            <a:off x="457200" y="1295400"/>
            <a:ext cx="8534400" cy="6096000"/>
          </a:xfrm>
        </p:spPr>
        <p:txBody>
          <a:bodyPr>
            <a:noAutofit/>
          </a:bodyPr>
          <a:lstStyle/>
          <a:p>
            <a:pPr algn="just"/>
            <a:r>
              <a:rPr lang="en-IN" sz="2000" b="1" dirty="0"/>
              <a:t>Certification Testing</a:t>
            </a:r>
            <a:r>
              <a:rPr lang="en-IN" sz="2000" dirty="0"/>
              <a:t>: To get a certificate of compliance, each mobile device needs to be tested against the guidelines set by different mobile platforms.</a:t>
            </a:r>
          </a:p>
          <a:p>
            <a:pPr algn="just"/>
            <a:r>
              <a:rPr lang="en-IN" sz="2000" dirty="0"/>
              <a:t>The Certified Mobile Application Tester (CMAT) certification exam is offered by the Global Association for Quality Management (GAQM) via Pearson </a:t>
            </a:r>
            <a:r>
              <a:rPr lang="en-IN" sz="2000" dirty="0" err="1"/>
              <a:t>Vue</a:t>
            </a:r>
            <a:r>
              <a:rPr lang="en-IN" sz="2000" dirty="0"/>
              <a:t> Testing </a:t>
            </a:r>
            <a:r>
              <a:rPr lang="en-IN" sz="2000" dirty="0" err="1"/>
              <a:t>Center</a:t>
            </a:r>
            <a:r>
              <a:rPr lang="en-IN" sz="2000" dirty="0"/>
              <a:t> worldwide to benefit the Mobile Application Testing Community.</a:t>
            </a:r>
          </a:p>
          <a:p>
            <a:pPr algn="just"/>
            <a:r>
              <a:rPr lang="en-IN" sz="2000" dirty="0"/>
              <a:t>  </a:t>
            </a:r>
            <a:r>
              <a:rPr lang="en-IN" sz="2000" b="1" dirty="0"/>
              <a:t>Location Testing</a:t>
            </a:r>
            <a:r>
              <a:rPr lang="en-IN" sz="2000" dirty="0"/>
              <a:t>: Connectivity changes with network and location, but you can't mimic those fluctuating conditions in a lab. Only in Country non automated testers can perform comprehensive usability and functionality testing.</a:t>
            </a:r>
          </a:p>
          <a:p>
            <a:pPr algn="just"/>
            <a:r>
              <a:rPr lang="en-IN" sz="2000" b="1" dirty="0" smtClean="0"/>
              <a:t>Outdated </a:t>
            </a:r>
            <a:r>
              <a:rPr lang="en-IN" sz="2000" b="1" dirty="0"/>
              <a:t>Software Testing</a:t>
            </a:r>
            <a:r>
              <a:rPr lang="en-IN" sz="2000" dirty="0"/>
              <a:t>: Not everyone regularly updates their operating system. Some Android users might not even have access to the newest version. Professional Testers can test outdated software.</a:t>
            </a:r>
          </a:p>
          <a:p>
            <a:pPr algn="just"/>
            <a:r>
              <a:rPr lang="en-IN" sz="2000" b="1" dirty="0" smtClean="0"/>
              <a:t>Load </a:t>
            </a:r>
            <a:r>
              <a:rPr lang="en-IN" sz="2000" b="1" dirty="0"/>
              <a:t>Testing</a:t>
            </a:r>
            <a:r>
              <a:rPr lang="en-IN" sz="2000" dirty="0"/>
              <a:t>: When many users all attempt to download, load, and use your app or game simultaneously, slow load times or crashes can occur causing many customers to abandon your app, game, or website</a:t>
            </a:r>
            <a:r>
              <a:rPr lang="en-IN" sz="2000" dirty="0" smtClean="0"/>
              <a:t>.</a:t>
            </a:r>
          </a:p>
          <a:p>
            <a:pPr algn="just"/>
            <a:endParaRPr lang="en-IN" sz="2000" dirty="0"/>
          </a:p>
        </p:txBody>
      </p:sp>
    </p:spTree>
    <p:extLst>
      <p:ext uri="{BB962C8B-B14F-4D97-AF65-F5344CB8AC3E}">
        <p14:creationId xmlns:p14="http://schemas.microsoft.com/office/powerpoint/2010/main" val="2226841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Types of Mobile App </a:t>
            </a:r>
            <a:r>
              <a:rPr lang="en-IN" b="1" dirty="0" smtClean="0"/>
              <a:t>Testing</a:t>
            </a:r>
            <a:endParaRPr lang="en-IN" dirty="0"/>
          </a:p>
        </p:txBody>
      </p:sp>
      <p:sp>
        <p:nvSpPr>
          <p:cNvPr id="4" name="Content Placeholder 3"/>
          <p:cNvSpPr>
            <a:spLocks noGrp="1"/>
          </p:cNvSpPr>
          <p:nvPr>
            <p:ph idx="1"/>
          </p:nvPr>
        </p:nvSpPr>
        <p:spPr>
          <a:xfrm>
            <a:off x="457200" y="1295400"/>
            <a:ext cx="8534400" cy="6096000"/>
          </a:xfrm>
        </p:spPr>
        <p:txBody>
          <a:bodyPr>
            <a:noAutofit/>
          </a:bodyPr>
          <a:lstStyle/>
          <a:p>
            <a:pPr algn="just"/>
            <a:r>
              <a:rPr lang="en-IN" sz="2000" b="1" dirty="0"/>
              <a:t>Black box Testing</a:t>
            </a:r>
            <a:r>
              <a:rPr lang="en-IN" sz="2000" dirty="0"/>
              <a:t>: This type of testing doesn't include the internally coding logic of the application. Tester tests the application with functionality without peering with internally structure of the application. This method of test can be applied virtually to every level of software testing: unit, integration, system and acceptance.</a:t>
            </a:r>
          </a:p>
          <a:p>
            <a:pPr algn="just"/>
            <a:r>
              <a:rPr lang="en-IN" sz="2000" b="1" dirty="0" smtClean="0"/>
              <a:t>CrowdSourced </a:t>
            </a:r>
            <a:r>
              <a:rPr lang="en-IN" sz="2000" b="1" dirty="0"/>
              <a:t>Testing</a:t>
            </a:r>
            <a:r>
              <a:rPr lang="en-IN" sz="2000" dirty="0"/>
              <a:t>: In recent years, crowdsourced testing has become popular as companies can test mobile applications faster and cheaper using a global community of testers. Due to growing diversity of devices and operating systems as well as localization needs, it is difficult to comprehensively test mobile applications with small in-house testing teams. A global community of </a:t>
            </a:r>
            <a:r>
              <a:rPr lang="en-IN" sz="2000" dirty="0">
                <a:solidFill>
                  <a:schemeClr val="tx1">
                    <a:lumMod val="95000"/>
                    <a:lumOff val="5000"/>
                  </a:schemeClr>
                </a:solidFill>
              </a:rPr>
              <a:t>testers provides easy access to different devices and platforms. A globally distributed team can also test it in multiple locations and under different network conditions. Finally, localization issues can be tested by hiring testers in required geographies. Since real users using real devices test the application, it is more likely to find issues faced by users under real world conditions. </a:t>
            </a:r>
          </a:p>
          <a:p>
            <a:pPr marL="0" indent="0" algn="just">
              <a:buNone/>
            </a:pPr>
            <a:endParaRPr lang="en-IN" sz="2000" dirty="0"/>
          </a:p>
        </p:txBody>
      </p:sp>
    </p:spTree>
    <p:extLst>
      <p:ext uri="{BB962C8B-B14F-4D97-AF65-F5344CB8AC3E}">
        <p14:creationId xmlns:p14="http://schemas.microsoft.com/office/powerpoint/2010/main" val="92500031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77200" cy="715962"/>
          </a:xfrm>
        </p:spPr>
        <p:txBody>
          <a:bodyPr>
            <a:normAutofit/>
          </a:bodyPr>
          <a:lstStyle/>
          <a:p>
            <a:r>
              <a:rPr lang="en-IN" sz="3200" b="1" dirty="0"/>
              <a:t>Mobile Application Testing Strategy</a:t>
            </a:r>
            <a:endParaRPr lang="en-IN" sz="3200" dirty="0"/>
          </a:p>
        </p:txBody>
      </p:sp>
      <p:sp>
        <p:nvSpPr>
          <p:cNvPr id="3" name="Content Placeholder 2"/>
          <p:cNvSpPr>
            <a:spLocks noGrp="1"/>
          </p:cNvSpPr>
          <p:nvPr>
            <p:ph idx="1"/>
          </p:nvPr>
        </p:nvSpPr>
        <p:spPr>
          <a:xfrm>
            <a:off x="381000" y="914400"/>
            <a:ext cx="8534400" cy="6172200"/>
          </a:xfrm>
        </p:spPr>
        <p:txBody>
          <a:bodyPr>
            <a:noAutofit/>
          </a:bodyPr>
          <a:lstStyle/>
          <a:p>
            <a:pPr marL="0" indent="0" algn="just">
              <a:buNone/>
            </a:pPr>
            <a:r>
              <a:rPr lang="en-IN" sz="1800" dirty="0"/>
              <a:t>The Test strategy should make sure that all the quality and performance guidelines are met. A few pointers in this area:</a:t>
            </a:r>
          </a:p>
          <a:p>
            <a:pPr marL="0" indent="0" algn="just">
              <a:buNone/>
            </a:pPr>
            <a:r>
              <a:rPr lang="en-IN" sz="1800" dirty="0"/>
              <a:t>1) Selection of the devices – </a:t>
            </a:r>
            <a:r>
              <a:rPr lang="en-IN" sz="1800" dirty="0" err="1"/>
              <a:t>Analyze</a:t>
            </a:r>
            <a:r>
              <a:rPr lang="en-IN" sz="1800" dirty="0"/>
              <a:t> the market and choose the devices that are widely used. (This decision mostly relies on the clients. The client or the app builders consider the popularity factor of a certain devices as well as the marketing needs for the application to decide what handsets to use for testing.)</a:t>
            </a:r>
          </a:p>
          <a:p>
            <a:pPr marL="0" indent="0" algn="just">
              <a:buNone/>
            </a:pPr>
            <a:r>
              <a:rPr lang="en-IN" sz="1800" dirty="0"/>
              <a:t>2) Emulators – The use of these is extremely useful in the initial stages of development, as they allow quick and efficient checking of the app. Emulator is a system that runs software from one environment to another environment without changing the software itself. It duplicates the features and work on real system.</a:t>
            </a:r>
          </a:p>
          <a:p>
            <a:pPr marL="0" indent="0" algn="just">
              <a:buNone/>
            </a:pPr>
            <a:r>
              <a:rPr lang="en-IN" sz="1800" dirty="0"/>
              <a:t>Types of Mobile Emulators</a:t>
            </a:r>
          </a:p>
          <a:p>
            <a:pPr marL="0" indent="0" algn="just">
              <a:buNone/>
            </a:pPr>
            <a:r>
              <a:rPr lang="en-IN" sz="1800" dirty="0" smtClean="0"/>
              <a:t>•Device </a:t>
            </a:r>
            <a:r>
              <a:rPr lang="en-IN" sz="1800" dirty="0"/>
              <a:t>Emulator- provided by device manufacturers</a:t>
            </a:r>
          </a:p>
          <a:p>
            <a:pPr marL="0" indent="0" algn="just">
              <a:buNone/>
            </a:pPr>
            <a:r>
              <a:rPr lang="en-IN" sz="1800" dirty="0" smtClean="0"/>
              <a:t>•Browser </a:t>
            </a:r>
            <a:r>
              <a:rPr lang="en-IN" sz="1800" dirty="0"/>
              <a:t>Emulator- simulates mobile browser environments.</a:t>
            </a:r>
          </a:p>
          <a:p>
            <a:pPr marL="0" indent="0" algn="just">
              <a:buNone/>
            </a:pPr>
            <a:r>
              <a:rPr lang="en-IN" sz="1800" dirty="0" smtClean="0"/>
              <a:t>•Operating </a:t>
            </a:r>
            <a:r>
              <a:rPr lang="en-IN" sz="1800" dirty="0"/>
              <a:t>systems Emulator- Apple provides emulators for iPhones, Microsoft for Windows phones and Google Android phones</a:t>
            </a:r>
          </a:p>
          <a:p>
            <a:pPr marL="0" indent="0" algn="just">
              <a:buNone/>
            </a:pPr>
            <a:r>
              <a:rPr lang="en-IN" sz="1800" dirty="0"/>
              <a:t>List of few free and easy to use mobile device emulators</a:t>
            </a:r>
          </a:p>
          <a:p>
            <a:pPr lvl="1" algn="just"/>
            <a:r>
              <a:rPr lang="en-IN" sz="1400" dirty="0"/>
              <a:t>Mobile Phone Emulator – Used to test handsets like iPhone, blackberry, HTC, Samsung etc.</a:t>
            </a:r>
          </a:p>
          <a:p>
            <a:pPr lvl="1" algn="just"/>
            <a:r>
              <a:rPr lang="en-IN" sz="1400" dirty="0" err="1"/>
              <a:t>MobiReady</a:t>
            </a:r>
            <a:r>
              <a:rPr lang="en-IN" sz="1400" dirty="0"/>
              <a:t> – With this, not only can we test the web app, we can also check the code.</a:t>
            </a:r>
          </a:p>
          <a:p>
            <a:pPr lvl="1" algn="just"/>
            <a:r>
              <a:rPr lang="en-IN" sz="1400" dirty="0"/>
              <a:t> </a:t>
            </a:r>
            <a:r>
              <a:rPr lang="en-IN" sz="1400" dirty="0" err="1"/>
              <a:t>Responsivepx</a:t>
            </a:r>
            <a:r>
              <a:rPr lang="en-IN" sz="1400" dirty="0"/>
              <a:t> – It checks the responses of the web pages, appearances and functionality of the websites.</a:t>
            </a:r>
          </a:p>
          <a:p>
            <a:pPr lvl="1" algn="just"/>
            <a:r>
              <a:rPr lang="en-IN" sz="1400" dirty="0"/>
              <a:t> </a:t>
            </a:r>
            <a:r>
              <a:rPr lang="en-IN" sz="1400" dirty="0" err="1"/>
              <a:t>Screenfly</a:t>
            </a:r>
            <a:r>
              <a:rPr lang="en-IN" sz="1400" dirty="0"/>
              <a:t> – It is a customizable tool and used to test websites under different categories.</a:t>
            </a:r>
          </a:p>
          <a:p>
            <a:pPr marL="0" indent="0" algn="just">
              <a:buNone/>
            </a:pPr>
            <a:endParaRPr lang="en-IN" sz="1800" dirty="0"/>
          </a:p>
        </p:txBody>
      </p:sp>
    </p:spTree>
    <p:extLst>
      <p:ext uri="{BB962C8B-B14F-4D97-AF65-F5344CB8AC3E}">
        <p14:creationId xmlns:p14="http://schemas.microsoft.com/office/powerpoint/2010/main" val="21394554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Mobile Application Testing Strategy</a:t>
            </a:r>
            <a:endParaRPr lang="en-IN" dirty="0"/>
          </a:p>
        </p:txBody>
      </p:sp>
      <p:sp>
        <p:nvSpPr>
          <p:cNvPr id="4" name="Content Placeholder 3"/>
          <p:cNvSpPr>
            <a:spLocks noGrp="1"/>
          </p:cNvSpPr>
          <p:nvPr>
            <p:ph idx="1"/>
          </p:nvPr>
        </p:nvSpPr>
        <p:spPr/>
        <p:txBody>
          <a:bodyPr>
            <a:normAutofit fontScale="92500" lnSpcReduction="20000"/>
          </a:bodyPr>
          <a:lstStyle/>
          <a:p>
            <a:pPr marL="0" indent="0" algn="just">
              <a:buNone/>
            </a:pPr>
            <a:r>
              <a:rPr lang="en-IN" dirty="0"/>
              <a:t>3) After a satisfactory level of development is complete for the mobile app, you could move to test on the physical devices for a more real life scenarios based testing.</a:t>
            </a:r>
          </a:p>
          <a:p>
            <a:pPr marL="0" indent="0" algn="just">
              <a:buNone/>
            </a:pPr>
            <a:r>
              <a:rPr lang="en-IN" dirty="0"/>
              <a:t>4) Consider cloud computing based testing: Cloud computing is basically running devices on multiple systems or networks via Internet where applications can be tested, updated and managed. For testing purposes, it creates the web based mobile environment on a simulator to access the mobile app.</a:t>
            </a:r>
          </a:p>
          <a:p>
            <a:pPr marL="0" indent="0">
              <a:buNone/>
            </a:pPr>
            <a:endParaRPr lang="en-IN" dirty="0"/>
          </a:p>
        </p:txBody>
      </p:sp>
    </p:spTree>
    <p:extLst>
      <p:ext uri="{BB962C8B-B14F-4D97-AF65-F5344CB8AC3E}">
        <p14:creationId xmlns:p14="http://schemas.microsoft.com/office/powerpoint/2010/main" val="3477253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Mobile Application Testing Strategy</a:t>
            </a:r>
            <a:endParaRPr lang="en-IN" dirty="0"/>
          </a:p>
        </p:txBody>
      </p:sp>
      <p:sp>
        <p:nvSpPr>
          <p:cNvPr id="3" name="Content Placeholder 2"/>
          <p:cNvSpPr>
            <a:spLocks noGrp="1"/>
          </p:cNvSpPr>
          <p:nvPr>
            <p:ph idx="1"/>
          </p:nvPr>
        </p:nvSpPr>
        <p:spPr>
          <a:xfrm>
            <a:off x="381000" y="1143000"/>
            <a:ext cx="8382000" cy="5410200"/>
          </a:xfrm>
        </p:spPr>
        <p:txBody>
          <a:bodyPr>
            <a:noAutofit/>
          </a:bodyPr>
          <a:lstStyle/>
          <a:p>
            <a:pPr marL="0" indent="0">
              <a:buNone/>
            </a:pPr>
            <a:r>
              <a:rPr lang="en-IN" sz="1800" b="1" dirty="0" smtClean="0"/>
              <a:t>5)Automation </a:t>
            </a:r>
            <a:r>
              <a:rPr lang="en-IN" sz="1800" b="1" dirty="0"/>
              <a:t>vs. Manual testing</a:t>
            </a:r>
            <a:endParaRPr lang="en-IN" sz="1800" dirty="0"/>
          </a:p>
          <a:p>
            <a:pPr lvl="1"/>
            <a:r>
              <a:rPr lang="en-IN" sz="1800" dirty="0"/>
              <a:t>If the application contains new functionality, test it manually.</a:t>
            </a:r>
          </a:p>
          <a:p>
            <a:pPr lvl="1"/>
            <a:r>
              <a:rPr lang="en-IN" sz="1800" dirty="0"/>
              <a:t>If the application requires testing once or twice, do it manually.</a:t>
            </a:r>
          </a:p>
          <a:p>
            <a:pPr lvl="1"/>
            <a:r>
              <a:rPr lang="en-IN" sz="1800" dirty="0"/>
              <a:t>Automate the scripts for regression test cases. If regression tests are repeated, automated testing is perfect for that.</a:t>
            </a:r>
          </a:p>
          <a:p>
            <a:pPr lvl="1"/>
            <a:r>
              <a:rPr lang="en-IN" sz="1800" dirty="0"/>
              <a:t>Automate the scripts for complex scenarios which are time consuming if executed manually.</a:t>
            </a:r>
          </a:p>
          <a:p>
            <a:r>
              <a:rPr lang="en-IN" sz="1800" b="1" dirty="0"/>
              <a:t>Two kinds of automation tools are available to test mobile apps:</a:t>
            </a:r>
            <a:endParaRPr lang="en-IN" sz="1800" dirty="0"/>
          </a:p>
          <a:p>
            <a:pPr lvl="1"/>
            <a:r>
              <a:rPr lang="en-IN" sz="1800" b="1" dirty="0"/>
              <a:t>Object based mobile testing tools</a:t>
            </a:r>
            <a:r>
              <a:rPr lang="en-IN" sz="1800" dirty="0"/>
              <a:t>– automation by mapping elements on the device screen into objects. This approach is independent of screen size and mainly used for Android devices.</a:t>
            </a:r>
          </a:p>
          <a:p>
            <a:pPr lvl="1"/>
            <a:r>
              <a:rPr lang="en-IN" sz="1800" dirty="0" err="1"/>
              <a:t>Eg</a:t>
            </a:r>
            <a:r>
              <a:rPr lang="en-IN" sz="1800" dirty="0"/>
              <a:t>:- </a:t>
            </a:r>
            <a:r>
              <a:rPr lang="en-IN" sz="1800" dirty="0" err="1"/>
              <a:t>ranorex</a:t>
            </a:r>
            <a:r>
              <a:rPr lang="en-IN" sz="1800" dirty="0"/>
              <a:t>, </a:t>
            </a:r>
            <a:r>
              <a:rPr lang="en-IN" sz="1800" dirty="0" err="1"/>
              <a:t>jamo</a:t>
            </a:r>
            <a:r>
              <a:rPr lang="en-IN" sz="1800" dirty="0"/>
              <a:t> solution</a:t>
            </a:r>
          </a:p>
          <a:p>
            <a:pPr lvl="1"/>
            <a:r>
              <a:rPr lang="en-IN" sz="1800" b="1" dirty="0"/>
              <a:t>Image based mobile testing tools</a:t>
            </a:r>
            <a:r>
              <a:rPr lang="en-IN" sz="1800" dirty="0"/>
              <a:t>– create automation scripts based on screen coordinates of elements.</a:t>
            </a:r>
          </a:p>
          <a:p>
            <a:pPr lvl="1"/>
            <a:r>
              <a:rPr lang="en-IN" sz="1800" dirty="0" err="1"/>
              <a:t>Eg</a:t>
            </a:r>
            <a:r>
              <a:rPr lang="en-IN" sz="1800" dirty="0"/>
              <a:t>:- </a:t>
            </a:r>
            <a:r>
              <a:rPr lang="en-IN" sz="1800" dirty="0" err="1"/>
              <a:t>Sikuli</a:t>
            </a:r>
            <a:r>
              <a:rPr lang="en-IN" sz="1800" dirty="0"/>
              <a:t>, Egg Plant, </a:t>
            </a:r>
            <a:r>
              <a:rPr lang="en-IN" sz="1800" dirty="0" err="1"/>
              <a:t>RoutineBot</a:t>
            </a:r>
            <a:endParaRPr lang="en-IN" sz="1800" dirty="0"/>
          </a:p>
          <a:p>
            <a:pPr marL="0" indent="0">
              <a:buNone/>
            </a:pPr>
            <a:r>
              <a:rPr lang="en-IN" sz="1800" b="1" dirty="0"/>
              <a:t>6) Network</a:t>
            </a:r>
            <a:r>
              <a:rPr lang="en-IN" sz="1800" dirty="0"/>
              <a:t> </a:t>
            </a:r>
            <a:r>
              <a:rPr lang="en-IN" sz="1800" b="1" dirty="0"/>
              <a:t>configuration</a:t>
            </a:r>
            <a:r>
              <a:rPr lang="en-IN" sz="1800" dirty="0"/>
              <a:t> is also necessary part of mobile testing. It’s important to validate the application on different networks like 2G, 3G, 4G or WIFI.</a:t>
            </a:r>
          </a:p>
          <a:p>
            <a:pPr marL="0" indent="0">
              <a:buNone/>
            </a:pPr>
            <a:endParaRPr lang="en-IN" sz="1800" dirty="0"/>
          </a:p>
        </p:txBody>
      </p:sp>
    </p:spTree>
    <p:extLst>
      <p:ext uri="{BB962C8B-B14F-4D97-AF65-F5344CB8AC3E}">
        <p14:creationId xmlns:p14="http://schemas.microsoft.com/office/powerpoint/2010/main" val="24904312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smtClean="0"/>
              <a:t>Sample Test </a:t>
            </a:r>
            <a:r>
              <a:rPr lang="en-IN" b="1" dirty="0"/>
              <a:t>Cases for Testing a Mobile App</a:t>
            </a:r>
            <a:endParaRPr lang="en-IN" dirty="0"/>
          </a:p>
        </p:txBody>
      </p:sp>
      <p:sp>
        <p:nvSpPr>
          <p:cNvPr id="3" name="Content Placeholder 2"/>
          <p:cNvSpPr>
            <a:spLocks noGrp="1"/>
          </p:cNvSpPr>
          <p:nvPr>
            <p:ph idx="1"/>
          </p:nvPr>
        </p:nvSpPr>
        <p:spPr>
          <a:xfrm>
            <a:off x="457200" y="1600200"/>
            <a:ext cx="8382000" cy="4648200"/>
          </a:xfrm>
        </p:spPr>
        <p:txBody>
          <a:bodyPr>
            <a:normAutofit fontScale="70000" lnSpcReduction="20000"/>
          </a:bodyPr>
          <a:lstStyle/>
          <a:p>
            <a:pPr marL="0" indent="0" algn="just">
              <a:buNone/>
            </a:pPr>
            <a:r>
              <a:rPr lang="en-IN" dirty="0"/>
              <a:t>In addition to functionality based test cases, Mobile application testing requires </a:t>
            </a:r>
            <a:r>
              <a:rPr lang="en-IN" b="1" dirty="0"/>
              <a:t>special test cases </a:t>
            </a:r>
            <a:r>
              <a:rPr lang="en-IN" dirty="0"/>
              <a:t>which should cover following scenarios.</a:t>
            </a:r>
          </a:p>
          <a:p>
            <a:pPr lvl="0" algn="just"/>
            <a:r>
              <a:rPr lang="en-IN" b="1" dirty="0"/>
              <a:t>Battery usage</a:t>
            </a:r>
            <a:r>
              <a:rPr lang="en-IN" dirty="0"/>
              <a:t>– It’s important to keep a track of </a:t>
            </a:r>
            <a:r>
              <a:rPr lang="en-IN" dirty="0" smtClean="0"/>
              <a:t>battery consumption </a:t>
            </a:r>
            <a:r>
              <a:rPr lang="en-IN" dirty="0"/>
              <a:t>while running application on the mobile devices.</a:t>
            </a:r>
          </a:p>
          <a:p>
            <a:pPr lvl="0" algn="just"/>
            <a:r>
              <a:rPr lang="en-IN" b="1" dirty="0"/>
              <a:t>Speed of the application- </a:t>
            </a:r>
            <a:r>
              <a:rPr lang="en-IN" dirty="0"/>
              <a:t>the response time on different devices, with different memory parameters, with different network types etc.</a:t>
            </a:r>
          </a:p>
          <a:p>
            <a:pPr lvl="0" algn="just"/>
            <a:r>
              <a:rPr lang="en-IN" b="1" dirty="0"/>
              <a:t>Data requirements </a:t>
            </a:r>
            <a:r>
              <a:rPr lang="en-IN" dirty="0"/>
              <a:t>– For installation as well as to verify if the user with limited data plan will able to download it.</a:t>
            </a:r>
          </a:p>
          <a:p>
            <a:pPr lvl="0" algn="just"/>
            <a:r>
              <a:rPr lang="en-IN" b="1" dirty="0"/>
              <a:t>Memory requirement</a:t>
            </a:r>
            <a:r>
              <a:rPr lang="en-IN" dirty="0"/>
              <a:t>– again, to download, install and run</a:t>
            </a:r>
          </a:p>
          <a:p>
            <a:pPr lvl="0" algn="just"/>
            <a:r>
              <a:rPr lang="en-IN" b="1" dirty="0"/>
              <a:t>Functionality of the application</a:t>
            </a:r>
            <a:r>
              <a:rPr lang="en-IN" dirty="0"/>
              <a:t>– make sure application is </a:t>
            </a:r>
            <a:r>
              <a:rPr lang="en-IN" dirty="0" smtClean="0"/>
              <a:t>not crashing </a:t>
            </a:r>
            <a:r>
              <a:rPr lang="en-IN" dirty="0"/>
              <a:t>due to network failure or anything else</a:t>
            </a:r>
            <a:r>
              <a:rPr lang="en-IN" dirty="0" smtClean="0"/>
              <a:t>.</a:t>
            </a:r>
            <a:r>
              <a:rPr lang="en-IN" dirty="0"/>
              <a:t> </a:t>
            </a:r>
          </a:p>
          <a:p>
            <a:pPr marL="0" indent="0" algn="just">
              <a:buNone/>
            </a:pPr>
            <a:endParaRPr lang="en-IN" dirty="0"/>
          </a:p>
        </p:txBody>
      </p:sp>
    </p:spTree>
    <p:extLst>
      <p:ext uri="{BB962C8B-B14F-4D97-AF65-F5344CB8AC3E}">
        <p14:creationId xmlns:p14="http://schemas.microsoft.com/office/powerpoint/2010/main" val="74374491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214</TotalTime>
  <Words>1740</Words>
  <Application>Microsoft Office PowerPoint</Application>
  <PresentationFormat>On-screen Show (4:3)</PresentationFormat>
  <Paragraphs>130</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Mobile application testing</vt:lpstr>
      <vt:lpstr>Mobile application testing</vt:lpstr>
      <vt:lpstr>Types of Mobile Testing</vt:lpstr>
      <vt:lpstr>Basic differences</vt:lpstr>
      <vt:lpstr>Challenges</vt:lpstr>
      <vt:lpstr>Basic Difference between Mobile and Desktop Application Testing</vt:lpstr>
      <vt:lpstr>Types of Mobile App Testing</vt:lpstr>
      <vt:lpstr>Types of Mobile App Testing</vt:lpstr>
      <vt:lpstr>Types of Mobile App Testing</vt:lpstr>
      <vt:lpstr>Types of Mobile App Testing</vt:lpstr>
      <vt:lpstr>Types of Mobile App Testing</vt:lpstr>
      <vt:lpstr>Types of Mobile App Testing</vt:lpstr>
      <vt:lpstr>Types of Mobile App Testing</vt:lpstr>
      <vt:lpstr>Types of Mobile App Testing</vt:lpstr>
      <vt:lpstr>Mobile Application Testing Strategy</vt:lpstr>
      <vt:lpstr>Mobile Application Testing Strategy</vt:lpstr>
      <vt:lpstr>Mobile Application Testing Strategy</vt:lpstr>
      <vt:lpstr>Sample Test Cases for Testing a Mobile App</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12</cp:revision>
  <dcterms:created xsi:type="dcterms:W3CDTF">2006-08-16T00:00:00Z</dcterms:created>
  <dcterms:modified xsi:type="dcterms:W3CDTF">2018-10-08T06:00:02Z</dcterms:modified>
</cp:coreProperties>
</file>