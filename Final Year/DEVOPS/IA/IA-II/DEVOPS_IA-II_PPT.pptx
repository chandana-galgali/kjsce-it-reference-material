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Marcellus"/>
      <p:regular r:id="rId17"/>
    </p:embeddedFont>
    <p:embeddedFont>
      <p:font typeface="Fir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DXYnTIPPLSv6RTfhb2/8y+VS5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396F42-89E5-4B95-8D59-ED61EC642D85}">
  <a:tblStyle styleId="{E2396F42-89E5-4B95-8D59-ED61EC642D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Fira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arcellu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Fira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Fira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99fdd24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699fdd241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d07558520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d07558520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99fdd2416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699fdd241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99fdd2416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699fdd241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07558520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8d07558520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d07558520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8d0755852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dfd6c5503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6dfd6c550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SLAB\Downloads\KJSCE\K J Somaiya College of Engineering.png"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387803"/>
            <a:ext cx="1981200" cy="647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researchgate.net/publication/390108683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ctrTitle"/>
          </p:nvPr>
        </p:nvSpPr>
        <p:spPr>
          <a:xfrm>
            <a:off x="2472125" y="363475"/>
            <a:ext cx="81504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3209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Deployment Strategies in a Kubernetes - Based Microservices Architecture</a:t>
            </a:r>
            <a:endParaRPr b="1" sz="3209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492717" y="1433752"/>
            <a:ext cx="12109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Department of Information Technology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8" y="2274354"/>
            <a:ext cx="6052457" cy="351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59220" t="0"/>
          <a:stretch/>
        </p:blipFill>
        <p:spPr>
          <a:xfrm rot="-5400000">
            <a:off x="7424061" y="1000149"/>
            <a:ext cx="3512457" cy="60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ctrTitle"/>
          </p:nvPr>
        </p:nvSpPr>
        <p:spPr>
          <a:xfrm>
            <a:off x="1412850" y="1417475"/>
            <a:ext cx="93663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3209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 Comparative Performance Analysis of Canary vs. Blue - Green Deployment Strategies</a:t>
            </a:r>
            <a:endParaRPr b="1" sz="3209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1799100" y="2459762"/>
            <a:ext cx="8593800" cy="30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Group ID:</a:t>
            </a: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 2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Group Members:</a:t>
            </a:r>
            <a:endParaRPr b="1"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12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16010422230	- KRISHI JAIN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12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16010422231 - KAUSTUBH NAIR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12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16010422233 - PRACHI GANDHI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12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16010422234 - CHANDANA RAMESH GALGALI</a:t>
            </a:r>
            <a:endParaRPr b="1"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3313100" y="338840"/>
            <a:ext cx="68565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Challenge of Zero - Downtime Continuous Delivery (CD)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99875" y="1471970"/>
            <a:ext cx="5896200" cy="2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The DevOps Mandate: </a:t>
            </a: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Organizations strive for rapid and reliable software releases by enhancing CI/CD pipelines.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Core Problem:</a:t>
            </a: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 How to deploy new application versions while minimizing downtime and mitigating risks?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29298" l="4092" r="4549" t="36610"/>
          <a:stretch/>
        </p:blipFill>
        <p:spPr>
          <a:xfrm>
            <a:off x="6158525" y="1623675"/>
            <a:ext cx="5896200" cy="2723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" name="Google Shape;100;p1"/>
          <p:cNvSpPr txBox="1"/>
          <p:nvPr/>
        </p:nvSpPr>
        <p:spPr>
          <a:xfrm>
            <a:off x="199875" y="4389205"/>
            <a:ext cx="118920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latin typeface="Marcellus"/>
                <a:ea typeface="Marcellus"/>
                <a:cs typeface="Marcellus"/>
                <a:sym typeface="Marcellus"/>
              </a:rPr>
              <a:t>Blue-Green Deployment (BG): </a:t>
            </a:r>
            <a:r>
              <a:rPr lang="en-US" sz="2400">
                <a:latin typeface="Marcellus"/>
                <a:ea typeface="Marcellus"/>
                <a:cs typeface="Marcellus"/>
                <a:sym typeface="Marcellus"/>
              </a:rPr>
              <a:t>I</a:t>
            </a:r>
            <a:r>
              <a:rPr lang="en-US" sz="2400">
                <a:latin typeface="Marcellus"/>
                <a:ea typeface="Marcellus"/>
                <a:cs typeface="Marcellus"/>
                <a:sym typeface="Marcellus"/>
              </a:rPr>
              <a:t>nvolves maintaining two identical production environments (live and idle).</a:t>
            </a:r>
            <a:endParaRPr sz="2400"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latin typeface="Marcellus"/>
                <a:ea typeface="Marcellus"/>
                <a:cs typeface="Marcellus"/>
                <a:sym typeface="Marcellus"/>
              </a:rPr>
              <a:t>Canary Deployment: </a:t>
            </a:r>
            <a:r>
              <a:rPr lang="en-US" sz="2400">
                <a:latin typeface="Marcellus"/>
                <a:ea typeface="Marcellus"/>
                <a:cs typeface="Marcellus"/>
                <a:sym typeface="Marcellus"/>
              </a:rPr>
              <a:t>Gradually rolls out new versions to a subset of users, enabling early issue detection.</a:t>
            </a:r>
            <a:endParaRPr sz="2400"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99fdd2416_0_2"/>
          <p:cNvSpPr txBox="1"/>
          <p:nvPr>
            <p:ph type="ctrTitle"/>
          </p:nvPr>
        </p:nvSpPr>
        <p:spPr>
          <a:xfrm>
            <a:off x="2621550" y="383425"/>
            <a:ext cx="8099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Strategy 1: Blue-Green Deployment (The "Instant Switch")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6" name="Google Shape;106;g3699fdd2416_0_2"/>
          <p:cNvSpPr txBox="1"/>
          <p:nvPr>
            <p:ph idx="1" type="subTitle"/>
          </p:nvPr>
        </p:nvSpPr>
        <p:spPr>
          <a:xfrm>
            <a:off x="653150" y="1589360"/>
            <a:ext cx="1082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The live system (Blue) and the new version (Green) run in parallel; traffic is switched between them.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7" name="Google Shape;107;g3699fdd2416_0_2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" name="Google Shape;108;g3699fdd2416_0_2"/>
          <p:cNvSpPr/>
          <p:nvPr/>
        </p:nvSpPr>
        <p:spPr>
          <a:xfrm>
            <a:off x="653100" y="3328245"/>
            <a:ext cx="5287200" cy="254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699fdd2416_0_2"/>
          <p:cNvSpPr/>
          <p:nvPr/>
        </p:nvSpPr>
        <p:spPr>
          <a:xfrm>
            <a:off x="6325300" y="3328245"/>
            <a:ext cx="5154600" cy="2543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699fdd2416_0_2"/>
          <p:cNvSpPr txBox="1"/>
          <p:nvPr>
            <p:ph idx="1" type="subTitle"/>
          </p:nvPr>
        </p:nvSpPr>
        <p:spPr>
          <a:xfrm>
            <a:off x="653150" y="2702795"/>
            <a:ext cx="5287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Key Advantages (Speed &amp; Recovery)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1" name="Google Shape;111;g3699fdd2416_0_2"/>
          <p:cNvSpPr txBox="1"/>
          <p:nvPr>
            <p:ph idx="1" type="subTitle"/>
          </p:nvPr>
        </p:nvSpPr>
        <p:spPr>
          <a:xfrm>
            <a:off x="6325300" y="2702795"/>
            <a:ext cx="5101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Key Disadvantages (Cost &amp; Risk)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2" name="Google Shape;112;g3699fdd2416_0_2"/>
          <p:cNvSpPr txBox="1"/>
          <p:nvPr>
            <p:ph idx="1" type="subTitle"/>
          </p:nvPr>
        </p:nvSpPr>
        <p:spPr>
          <a:xfrm>
            <a:off x="861600" y="3528995"/>
            <a:ext cx="49461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Enables seamless rollbacks.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Provides minimal downtime during the switch.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3" name="Google Shape;113;g3699fdd2416_0_2"/>
          <p:cNvSpPr txBox="1"/>
          <p:nvPr>
            <p:ph idx="1" type="subTitle"/>
          </p:nvPr>
        </p:nvSpPr>
        <p:spPr>
          <a:xfrm>
            <a:off x="6412300" y="3528995"/>
            <a:ext cx="49461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High Infrastructure Overhead: Requires duplication of the production environment.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Infrastructure overhead was reported at 65%.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d07558520_1_40"/>
          <p:cNvSpPr txBox="1"/>
          <p:nvPr>
            <p:ph type="ctrTitle"/>
          </p:nvPr>
        </p:nvSpPr>
        <p:spPr>
          <a:xfrm>
            <a:off x="2621550" y="383425"/>
            <a:ext cx="8099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Strategy 2: Canary Deployment (The "Gradual Rollout")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9" name="Google Shape;119;g38d07558520_1_40"/>
          <p:cNvSpPr txBox="1"/>
          <p:nvPr>
            <p:ph idx="1" type="subTitle"/>
          </p:nvPr>
        </p:nvSpPr>
        <p:spPr>
          <a:xfrm>
            <a:off x="444700" y="1505970"/>
            <a:ext cx="11376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New release is exposed to a small subset of users before a full rollout. This allows for real-time monitoring and validation.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0" name="Google Shape;120;g38d07558520_1_40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" name="Google Shape;121;g38d07558520_1_40"/>
          <p:cNvSpPr/>
          <p:nvPr/>
        </p:nvSpPr>
        <p:spPr>
          <a:xfrm>
            <a:off x="444700" y="3140650"/>
            <a:ext cx="5495700" cy="271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d07558520_1_40"/>
          <p:cNvSpPr/>
          <p:nvPr/>
        </p:nvSpPr>
        <p:spPr>
          <a:xfrm>
            <a:off x="6325300" y="3140650"/>
            <a:ext cx="5495700" cy="271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d07558520_1_40"/>
          <p:cNvSpPr txBox="1"/>
          <p:nvPr>
            <p:ph idx="1" type="subTitle"/>
          </p:nvPr>
        </p:nvSpPr>
        <p:spPr>
          <a:xfrm>
            <a:off x="653150" y="2515190"/>
            <a:ext cx="5287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Key Advantages (Risk Mitigation)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4" name="Google Shape;124;g38d07558520_1_40"/>
          <p:cNvSpPr txBox="1"/>
          <p:nvPr>
            <p:ph idx="1" type="subTitle"/>
          </p:nvPr>
        </p:nvSpPr>
        <p:spPr>
          <a:xfrm>
            <a:off x="6325300" y="2515190"/>
            <a:ext cx="5101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Key Disadvantages (Complexity)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5" name="Google Shape;125;g38d07558520_1_40"/>
          <p:cNvSpPr txBox="1"/>
          <p:nvPr>
            <p:ph idx="1" type="subTitle"/>
          </p:nvPr>
        </p:nvSpPr>
        <p:spPr>
          <a:xfrm>
            <a:off x="520500" y="3174635"/>
            <a:ext cx="5287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Exhibited a lower failure rate (3%) than BG (5%).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Perceived to be more effective (85%) in reducing risk exposure.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Showed slightly better system stability (99.98% uptime).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6" name="Google Shape;126;g38d07558520_1_40"/>
          <p:cNvSpPr txBox="1"/>
          <p:nvPr>
            <p:ph idx="1" type="subTitle"/>
          </p:nvPr>
        </p:nvSpPr>
        <p:spPr>
          <a:xfrm>
            <a:off x="6412300" y="3174635"/>
            <a:ext cx="5287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Longer Time-to-Deploy (30 mins) compared to BG (15 mins).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Requires sophisticated traffic routing complexities and monitoring overhead.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99fdd2416_0_28"/>
          <p:cNvSpPr txBox="1"/>
          <p:nvPr>
            <p:ph type="title"/>
          </p:nvPr>
        </p:nvSpPr>
        <p:spPr>
          <a:xfrm>
            <a:off x="3537300" y="331450"/>
            <a:ext cx="6412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Quantitative Analysis: Comparing Core Performance Metrics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2" name="Google Shape;132;g3699fdd2416_0_28"/>
          <p:cNvSpPr txBox="1"/>
          <p:nvPr>
            <p:ph idx="12" type="sldNum"/>
          </p:nvPr>
        </p:nvSpPr>
        <p:spPr>
          <a:xfrm>
            <a:off x="102458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33" name="Google Shape;133;g3699fdd2416_0_28"/>
          <p:cNvGraphicFramePr/>
          <p:nvPr/>
        </p:nvGraphicFramePr>
        <p:xfrm>
          <a:off x="1108638" y="17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{E2396F42-89E5-4B95-8D59-ED61EC642D85}</a:tableStyleId>
              </a:tblPr>
              <a:tblGrid>
                <a:gridCol w="4987350"/>
                <a:gridCol w="2493675"/>
                <a:gridCol w="2493675"/>
              </a:tblGrid>
              <a:tr h="994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Metric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Blue-Green Deployment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Canary Deployment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Average Deployment Time (TTD)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15 mins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30 mins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Failure Rate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5%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3%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User Impact (Errors/1000 users)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12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5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Infrastructure Overhead</a:t>
                      </a:r>
                      <a:endParaRPr b="1"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65%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50%</a:t>
                      </a:r>
                      <a:endParaRPr sz="2400"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99fdd2416_0_33"/>
          <p:cNvSpPr txBox="1"/>
          <p:nvPr>
            <p:ph type="title"/>
          </p:nvPr>
        </p:nvSpPr>
        <p:spPr>
          <a:xfrm>
            <a:off x="2844375" y="496450"/>
            <a:ext cx="75711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Statistical Analysis: The Trade-Offs 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(Risk vs. Cost)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9" name="Google Shape;139;g3699fdd2416_0_33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0" name="Google Shape;140;g3699fdd2416_0_33"/>
          <p:cNvSpPr txBox="1"/>
          <p:nvPr>
            <p:ph type="title"/>
          </p:nvPr>
        </p:nvSpPr>
        <p:spPr>
          <a:xfrm>
            <a:off x="310900" y="1505425"/>
            <a:ext cx="6818100" cy="3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Failure Rate (Canary Wins):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T-Test confirmed Canary Deployments significantly reduce failure rates (p&lt;0.05). Fewer user disruptions (5 vs. 12 error reports per 1000 users).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Rollback Success (Comparable):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Chi-Square Test showed no significant difference in rollback success rates (p&gt;0.05). Both provide robust failure recovery.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41" name="Google Shape;141;g3699fdd2416_0_3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9000" y="1505425"/>
            <a:ext cx="4913751" cy="30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699fdd2416_0_33"/>
          <p:cNvSpPr txBox="1"/>
          <p:nvPr/>
        </p:nvSpPr>
        <p:spPr>
          <a:xfrm>
            <a:off x="310900" y="4872449"/>
            <a:ext cx="11731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Infrastructure Cost (BG Loses):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ANOVA confirmed Blue-Green requires significantly higher infrastructure investment (p&lt;0.01).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d07558520_1_75"/>
          <p:cNvSpPr txBox="1"/>
          <p:nvPr>
            <p:ph type="title"/>
          </p:nvPr>
        </p:nvSpPr>
        <p:spPr>
          <a:xfrm>
            <a:off x="2844375" y="496450"/>
            <a:ext cx="75711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Industry Adoption and the Rise of the Hybrid Model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8" name="Google Shape;148;g38d07558520_1_75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" name="Google Shape;149;g38d07558520_1_75"/>
          <p:cNvSpPr txBox="1"/>
          <p:nvPr>
            <p:ph type="title"/>
          </p:nvPr>
        </p:nvSpPr>
        <p:spPr>
          <a:xfrm>
            <a:off x="1067325" y="1656302"/>
            <a:ext cx="69936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Case Studies: Strategy Alignment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Netflix (Canary):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Prioritizes low risk/user impact; uses AI-driven anomaly detection.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Amazon (Blue-Green):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Prioritizes instant rollback; critical for transactional security (e-commerce).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Hybrid Model (Google):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Combines Canary for new features and Blue-Green for critical system updates.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Goal: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Optimize both speed and stability.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50" name="Google Shape;150;g38d07558520_1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013" y="2125675"/>
            <a:ext cx="842125" cy="6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8d07558520_1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47" y="3350829"/>
            <a:ext cx="1280150" cy="38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8d07558520_1_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824" y="4716350"/>
            <a:ext cx="631600" cy="6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8d07558520_1_75"/>
          <p:cNvSpPr/>
          <p:nvPr/>
        </p:nvSpPr>
        <p:spPr>
          <a:xfrm>
            <a:off x="9339525" y="1007478"/>
            <a:ext cx="1560125" cy="525500"/>
          </a:xfrm>
          <a:prstGeom prst="flowChartProcess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Start</a:t>
            </a:r>
            <a:endParaRPr b="1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4" name="Google Shape;154;g38d07558520_1_75"/>
          <p:cNvSpPr/>
          <p:nvPr/>
        </p:nvSpPr>
        <p:spPr>
          <a:xfrm>
            <a:off x="9339560" y="5703526"/>
            <a:ext cx="1560125" cy="525500"/>
          </a:xfrm>
          <a:prstGeom prst="flowChartProcess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arcellus"/>
                <a:ea typeface="Marcellus"/>
                <a:cs typeface="Marcellus"/>
                <a:sym typeface="Marcellus"/>
              </a:rPr>
              <a:t>Deploy</a:t>
            </a:r>
            <a:endParaRPr b="1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5" name="Google Shape;155;g38d07558520_1_75"/>
          <p:cNvSpPr/>
          <p:nvPr/>
        </p:nvSpPr>
        <p:spPr>
          <a:xfrm>
            <a:off x="8924537" y="1762501"/>
            <a:ext cx="2390150" cy="1282075"/>
          </a:xfrm>
          <a:prstGeom prst="flowChartDecision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rcellus"/>
                <a:ea typeface="Marcellus"/>
                <a:cs typeface="Marcellus"/>
                <a:sym typeface="Marcellus"/>
              </a:rPr>
              <a:t>Is Risk Tolerance High?</a:t>
            </a:r>
            <a:endParaRPr b="1" sz="120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6" name="Google Shape;156;g38d07558520_1_75"/>
          <p:cNvSpPr/>
          <p:nvPr/>
        </p:nvSpPr>
        <p:spPr>
          <a:xfrm>
            <a:off x="8924525" y="4199723"/>
            <a:ext cx="2390150" cy="1282075"/>
          </a:xfrm>
          <a:prstGeom prst="flowChartDecision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rcellus"/>
                <a:ea typeface="Marcellus"/>
                <a:cs typeface="Marcellus"/>
                <a:sym typeface="Marcellus"/>
              </a:rPr>
              <a:t>Is Infrastructure Budget Low?</a:t>
            </a:r>
            <a:endParaRPr b="1" sz="1200"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57" name="Google Shape;157;g38d07558520_1_75"/>
          <p:cNvPicPr preferRelativeResize="0"/>
          <p:nvPr/>
        </p:nvPicPr>
        <p:blipFill rotWithShape="1">
          <a:blip r:embed="rId6">
            <a:alphaModFix/>
          </a:blip>
          <a:srcRect b="9973" l="2172" r="2143" t="10993"/>
          <a:stretch/>
        </p:blipFill>
        <p:spPr>
          <a:xfrm>
            <a:off x="8196554" y="3319160"/>
            <a:ext cx="1525475" cy="5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8d07558520_1_75"/>
          <p:cNvPicPr preferRelativeResize="0"/>
          <p:nvPr/>
        </p:nvPicPr>
        <p:blipFill rotWithShape="1">
          <a:blip r:embed="rId7">
            <a:alphaModFix/>
          </a:blip>
          <a:srcRect b="5501" l="1521" r="1560" t="6478"/>
          <a:stretch/>
        </p:blipFill>
        <p:spPr>
          <a:xfrm>
            <a:off x="10480396" y="3314510"/>
            <a:ext cx="1560125" cy="57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g38d07558520_1_75"/>
          <p:cNvCxnSpPr>
            <a:stCxn id="156" idx="2"/>
            <a:endCxn id="154" idx="0"/>
          </p:cNvCxnSpPr>
          <p:nvPr/>
        </p:nvCxnSpPr>
        <p:spPr>
          <a:xfrm>
            <a:off x="10119600" y="5481798"/>
            <a:ext cx="0" cy="2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g38d07558520_1_75"/>
          <p:cNvCxnSpPr>
            <a:stCxn id="153" idx="2"/>
            <a:endCxn id="155" idx="0"/>
          </p:cNvCxnSpPr>
          <p:nvPr/>
        </p:nvCxnSpPr>
        <p:spPr>
          <a:xfrm>
            <a:off x="10119588" y="1532978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g38d07558520_1_75"/>
          <p:cNvCxnSpPr>
            <a:stCxn id="157" idx="2"/>
            <a:endCxn id="156" idx="0"/>
          </p:cNvCxnSpPr>
          <p:nvPr/>
        </p:nvCxnSpPr>
        <p:spPr>
          <a:xfrm flipH="1" rot="-5400000">
            <a:off x="9379592" y="3459660"/>
            <a:ext cx="319800" cy="11604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" name="Google Shape;162;g38d07558520_1_75"/>
          <p:cNvCxnSpPr>
            <a:stCxn id="158" idx="2"/>
            <a:endCxn id="156" idx="0"/>
          </p:cNvCxnSpPr>
          <p:nvPr/>
        </p:nvCxnSpPr>
        <p:spPr>
          <a:xfrm rot="5400000">
            <a:off x="10532508" y="3471685"/>
            <a:ext cx="315000" cy="11409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3" name="Google Shape;163;g38d07558520_1_75"/>
          <p:cNvCxnSpPr>
            <a:stCxn id="155" idx="2"/>
            <a:endCxn id="157" idx="0"/>
          </p:cNvCxnSpPr>
          <p:nvPr/>
        </p:nvCxnSpPr>
        <p:spPr>
          <a:xfrm rot="5400000">
            <a:off x="9402162" y="2601626"/>
            <a:ext cx="274500" cy="11604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g38d07558520_1_75"/>
          <p:cNvCxnSpPr>
            <a:stCxn id="155" idx="2"/>
            <a:endCxn id="158" idx="0"/>
          </p:cNvCxnSpPr>
          <p:nvPr/>
        </p:nvCxnSpPr>
        <p:spPr>
          <a:xfrm flipH="1" rot="-5400000">
            <a:off x="10555062" y="2609126"/>
            <a:ext cx="270000" cy="11409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g38d07558520_1_75"/>
          <p:cNvSpPr txBox="1"/>
          <p:nvPr/>
        </p:nvSpPr>
        <p:spPr>
          <a:xfrm>
            <a:off x="10874123" y="2765600"/>
            <a:ext cx="4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Yes</a:t>
            </a:r>
            <a:endParaRPr b="1" sz="1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6" name="Google Shape;166;g38d07558520_1_75"/>
          <p:cNvSpPr txBox="1"/>
          <p:nvPr/>
        </p:nvSpPr>
        <p:spPr>
          <a:xfrm>
            <a:off x="10874125" y="4135738"/>
            <a:ext cx="4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Yes</a:t>
            </a:r>
            <a:endParaRPr b="1" sz="1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7" name="Google Shape;167;g38d07558520_1_75"/>
          <p:cNvSpPr txBox="1"/>
          <p:nvPr/>
        </p:nvSpPr>
        <p:spPr>
          <a:xfrm>
            <a:off x="8924525" y="2765600"/>
            <a:ext cx="4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</a:t>
            </a:r>
            <a:endParaRPr b="1" sz="1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8" name="Google Shape;168;g38d07558520_1_75"/>
          <p:cNvSpPr txBox="1"/>
          <p:nvPr/>
        </p:nvSpPr>
        <p:spPr>
          <a:xfrm>
            <a:off x="8924525" y="4064200"/>
            <a:ext cx="4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</a:t>
            </a:r>
            <a:endParaRPr b="1" sz="1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07558520_1_82"/>
          <p:cNvSpPr txBox="1"/>
          <p:nvPr>
            <p:ph type="title"/>
          </p:nvPr>
        </p:nvSpPr>
        <p:spPr>
          <a:xfrm>
            <a:off x="2844375" y="496450"/>
            <a:ext cx="75711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Conclusion: The Strategic Deployment Choice</a:t>
            </a:r>
            <a:endParaRPr b="1" sz="32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4" name="Google Shape;174;g38d07558520_1_82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g38d07558520_1_82"/>
          <p:cNvSpPr txBox="1"/>
          <p:nvPr>
            <p:ph type="title"/>
          </p:nvPr>
        </p:nvSpPr>
        <p:spPr>
          <a:xfrm>
            <a:off x="158750" y="1492675"/>
            <a:ext cx="56769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Summary of Trade-Offs: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Blue-Green: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Best for Speed (15 mins TTD) and Instant Rollback. High resource cost.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Canary: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Best for Risk Mitigation (3% failure) and Stability. Longer rollout time.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6" name="Google Shape;176;g38d07558520_1_82"/>
          <p:cNvSpPr txBox="1"/>
          <p:nvPr>
            <p:ph type="title"/>
          </p:nvPr>
        </p:nvSpPr>
        <p:spPr>
          <a:xfrm>
            <a:off x="6248550" y="1492675"/>
            <a:ext cx="56769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 Recommendations:</a:t>
            </a:r>
            <a:endParaRPr b="1"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Strategic Alignment: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Match strategy to the application's risk profile (e.g., Canary for financial, BG for SaaS).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Cost: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Small-to-medium enterprises (SMEs) should favor Canary to avoid high BG infrastructure costs.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Char char="●"/>
            </a:pPr>
            <a:r>
              <a:rPr b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Future: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Adopt a Hybrid Model and invest in AI-driven monitoring for optimal outcomes.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cxnSp>
        <p:nvCxnSpPr>
          <p:cNvPr id="177" name="Google Shape;177;g38d07558520_1_82"/>
          <p:cNvCxnSpPr/>
          <p:nvPr/>
        </p:nvCxnSpPr>
        <p:spPr>
          <a:xfrm>
            <a:off x="6064250" y="1574800"/>
            <a:ext cx="0" cy="419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dfd6c5503_0_34"/>
          <p:cNvSpPr txBox="1"/>
          <p:nvPr>
            <p:ph idx="12" type="sldNum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" name="Google Shape;183;g36dfd6c5503_0_34"/>
          <p:cNvSpPr txBox="1"/>
          <p:nvPr>
            <p:ph type="title"/>
          </p:nvPr>
        </p:nvSpPr>
        <p:spPr>
          <a:xfrm>
            <a:off x="4629150" y="88247"/>
            <a:ext cx="30861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References</a:t>
            </a:r>
            <a:endParaRPr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84" name="Google Shape;184;g36dfd6c5503_0_34"/>
          <p:cNvSpPr txBox="1"/>
          <p:nvPr>
            <p:ph idx="1" type="body"/>
          </p:nvPr>
        </p:nvSpPr>
        <p:spPr>
          <a:xfrm>
            <a:off x="397050" y="1214975"/>
            <a:ext cx="6201600" cy="4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cellus"/>
              <a:buAutoNum type="arabicPeriod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M. Idowu and B. Barnty, "A Deep Dive into Blue-Green and Canary Deployments: Benefits, Challenges, and Best Practices," ResearchGate, Article, March 2025. [Online].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Available: </a:t>
            </a:r>
            <a:r>
              <a:rPr lang="en-US" sz="2400" u="sng">
                <a:solidFill>
                  <a:schemeClr val="hlink"/>
                </a:solidFill>
                <a:latin typeface="Marcellus"/>
                <a:ea typeface="Marcellus"/>
                <a:cs typeface="Marcellus"/>
                <a:sym typeface="Marcellus"/>
                <a:hlinkClick r:id="rId3"/>
              </a:rPr>
              <a:t>https://www.researchgate.net/publication/390108683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85" name="Google Shape;185;g36dfd6c5503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7850" y="1152350"/>
            <a:ext cx="4676464" cy="480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Pushpendra Kumar Dhansoia</dc:creator>
</cp:coreProperties>
</file>