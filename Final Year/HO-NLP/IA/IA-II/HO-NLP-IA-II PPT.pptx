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arcellus"/>
      <p:regular r:id="rId15"/>
    </p:embeddedFont>
    <p:embeddedFont>
      <p:font typeface="Fir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yIbjabqY4tw0scytUkIMhFGJS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rcellus-regular.fntdata"/><Relationship Id="rId14" Type="http://schemas.openxmlformats.org/officeDocument/2006/relationships/slide" Target="slides/slide9.xml"/><Relationship Id="rId17" Type="http://schemas.openxmlformats.org/officeDocument/2006/relationships/font" Target="fonts/FiraSans-bold.fntdata"/><Relationship Id="rId16" Type="http://schemas.openxmlformats.org/officeDocument/2006/relationships/font" Target="fonts/Fir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Sans-boldItalic.fntdata"/><Relationship Id="rId6" Type="http://schemas.openxmlformats.org/officeDocument/2006/relationships/slide" Target="slides/slide1.xml"/><Relationship Id="rId18" Type="http://schemas.openxmlformats.org/officeDocument/2006/relationships/font" Target="fonts/Fir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1d93c82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51d93c82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1d93c82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951d93c824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1d93c82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951d93c824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51d93c82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951d93c824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51d93c82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951d93c824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51d93c82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951d93c824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51d93c82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951d93c824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9" name="Google Shape;9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SLAB\Downloads\KJSCE\K J Somaiya College of Engineering.png" id="10" name="Google Shape;1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387803"/>
            <a:ext cx="1981200" cy="647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13119" l="6767" r="9261" t="13711"/>
          <a:stretch/>
        </p:blipFill>
        <p:spPr>
          <a:xfrm>
            <a:off x="6595050" y="3244775"/>
            <a:ext cx="3574538" cy="31147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type="ctrTitle"/>
          </p:nvPr>
        </p:nvSpPr>
        <p:spPr>
          <a:xfrm>
            <a:off x="0" y="1024115"/>
            <a:ext cx="121920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4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Enhancing Factual Grounding with Retrieval-Augmented Generation (RAG)</a:t>
            </a:r>
            <a:endParaRPr sz="440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886810" y="3879320"/>
            <a:ext cx="55821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Roll No.</a:t>
            </a:r>
            <a:r>
              <a:rPr b="1"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:</a:t>
            </a: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 16010422234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Name: </a:t>
            </a: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Chandana Ramesh Galgali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Course:</a:t>
            </a: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 HO-NLP </a:t>
            </a:r>
            <a:endParaRPr b="1"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" name="Google Shape;84;p15"/>
          <p:cNvSpPr txBox="1"/>
          <p:nvPr>
            <p:ph type="ctrTitle"/>
          </p:nvPr>
        </p:nvSpPr>
        <p:spPr>
          <a:xfrm>
            <a:off x="0" y="2452815"/>
            <a:ext cx="1219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Combating Hallucinations and Stale Knowledge in Large Language Models</a:t>
            </a:r>
            <a:endParaRPr sz="2800"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24945" l="9974" r="9846" t="21831"/>
          <a:stretch/>
        </p:blipFill>
        <p:spPr>
          <a:xfrm>
            <a:off x="6781520" y="1198264"/>
            <a:ext cx="4877701" cy="323773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type="ctrTitle"/>
          </p:nvPr>
        </p:nvSpPr>
        <p:spPr>
          <a:xfrm>
            <a:off x="2487500" y="380550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Limits of Parametric Knowledge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" name="Google Shape;92;p1"/>
          <p:cNvSpPr txBox="1"/>
          <p:nvPr>
            <p:ph type="title"/>
          </p:nvPr>
        </p:nvSpPr>
        <p:spPr>
          <a:xfrm>
            <a:off x="366775" y="1204675"/>
            <a:ext cx="63939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Large Language Models (LLMs) store vast knowledge in their parameters, but this "parametric memory" has critical flaws.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Hallucinations: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Models often generate plausible-sounding but factually incorrect or nonsensical statements. They confidently "make stuff up".   </a:t>
            </a:r>
            <a:endParaRPr b="1"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46733" y="4137600"/>
            <a:ext cx="113133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Stale Knowledge: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model's knowledge is frozen at the end of its training. It cannot be updated with new, real-time information without costly retraining.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Lack of Transparency: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It's difficult to trace where an answer came from, making it hard for users to verify claims or trust the output.</a:t>
            </a:r>
            <a:endParaRPr b="1"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951d93c824_0_18"/>
          <p:cNvPicPr preferRelativeResize="0"/>
          <p:nvPr/>
        </p:nvPicPr>
        <p:blipFill rotWithShape="1">
          <a:blip r:embed="rId3">
            <a:alphaModFix/>
          </a:blip>
          <a:srcRect b="33806" l="0" r="0" t="34679"/>
          <a:stretch/>
        </p:blipFill>
        <p:spPr>
          <a:xfrm>
            <a:off x="1886087" y="951905"/>
            <a:ext cx="8419825" cy="26535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951d93c824_0_18"/>
          <p:cNvSpPr txBox="1"/>
          <p:nvPr>
            <p:ph type="ctrTitle"/>
          </p:nvPr>
        </p:nvSpPr>
        <p:spPr>
          <a:xfrm>
            <a:off x="1882990" y="213800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ct val="166666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 Hybrid Approach for Smarter, 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ct val="166666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More Reliable AI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0" name="Google Shape;100;g3951d93c824_0_18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" name="Google Shape;101;g3951d93c824_0_18"/>
          <p:cNvSpPr txBox="1"/>
          <p:nvPr>
            <p:ph type="title"/>
          </p:nvPr>
        </p:nvSpPr>
        <p:spPr>
          <a:xfrm>
            <a:off x="366300" y="3346925"/>
            <a:ext cx="114594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RAG is a framework that enhances LLMs by connecting them to an external, authoritative knowledge base before generating a response.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It combines the LLM's broad parametric knowledge with verifiable, non-parametric knowledge from a source you control (e.g., company documents, a specific database, or the live web).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goal is to ground the LLM's response in factual, up-to-date context, making it more accurate and trustworthy.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951d93c824_0_30"/>
          <p:cNvPicPr preferRelativeResize="0"/>
          <p:nvPr/>
        </p:nvPicPr>
        <p:blipFill rotWithShape="1">
          <a:blip r:embed="rId3">
            <a:alphaModFix/>
          </a:blip>
          <a:srcRect b="39919" l="0" r="0" t="38804"/>
          <a:stretch/>
        </p:blipFill>
        <p:spPr>
          <a:xfrm>
            <a:off x="2339138" y="1095153"/>
            <a:ext cx="7597425" cy="1616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951d93c824_0_30"/>
          <p:cNvSpPr txBox="1"/>
          <p:nvPr>
            <p:ph type="ctrTitle"/>
          </p:nvPr>
        </p:nvSpPr>
        <p:spPr>
          <a:xfrm>
            <a:off x="2070595" y="213800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From Query to Grounded Answer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8" name="Google Shape;108;g3951d93c824_0_30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" name="Google Shape;109;g3951d93c824_0_30"/>
          <p:cNvSpPr txBox="1"/>
          <p:nvPr>
            <p:ph type="title"/>
          </p:nvPr>
        </p:nvSpPr>
        <p:spPr>
          <a:xfrm>
            <a:off x="366300" y="2502400"/>
            <a:ext cx="115431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RETRIEVE: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When a user asks a question, the system first searches an external knowledge base for relevant information. This is done using semantic search, which understands the meaning of the query, not just keywords.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AUGMENT: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The most relevant retrieved information (or "context") is then combined with the original user prompt. This creates a new, enriched prompt that gives the LLM the facts it needs.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GENERATE: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This augmented prompt is fed to the LLM. The model uses the provided context to synthesize a final answer that is grounded in the retrieved data, rather than relying solely on its internal memory.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951d93c824_0_40"/>
          <p:cNvPicPr preferRelativeResize="0"/>
          <p:nvPr/>
        </p:nvPicPr>
        <p:blipFill rotWithShape="1">
          <a:blip r:embed="rId3">
            <a:alphaModFix/>
          </a:blip>
          <a:srcRect b="0" l="0" r="0" t="5401"/>
          <a:stretch/>
        </p:blipFill>
        <p:spPr>
          <a:xfrm>
            <a:off x="6556850" y="1204235"/>
            <a:ext cx="5238651" cy="49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951d93c824_0_40"/>
          <p:cNvSpPr txBox="1"/>
          <p:nvPr>
            <p:ph type="ctrTitle"/>
          </p:nvPr>
        </p:nvSpPr>
        <p:spPr>
          <a:xfrm>
            <a:off x="2466650" y="213800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Finding Meaning in Data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6" name="Google Shape;116;g3951d93c824_0_40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g3951d93c824_0_40"/>
          <p:cNvSpPr txBox="1"/>
          <p:nvPr>
            <p:ph type="title"/>
          </p:nvPr>
        </p:nvSpPr>
        <p:spPr>
          <a:xfrm>
            <a:off x="366300" y="1022400"/>
            <a:ext cx="63990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"retrieval" step is powered by vector embeddings.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Text from documents and the user's query are converted into numerical representations (vectors) that capture their semantic meaning.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system finds documents whose vector embeddings are mathematically "closest" to the query's vector. This means they are the most similar in meaning.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This is far more powerful than simple keyword matching.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51d93c824_0_50"/>
          <p:cNvSpPr txBox="1"/>
          <p:nvPr>
            <p:ph type="ctrTitle"/>
          </p:nvPr>
        </p:nvSpPr>
        <p:spPr>
          <a:xfrm>
            <a:off x="2070595" y="213800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Why is </a:t>
            </a: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RAG a </a:t>
            </a: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Game-Changer?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3" name="Google Shape;123;g3951d93c824_0_50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" name="Google Shape;124;g3951d93c824_0_50"/>
          <p:cNvSpPr txBox="1"/>
          <p:nvPr>
            <p:ph type="title"/>
          </p:nvPr>
        </p:nvSpPr>
        <p:spPr>
          <a:xfrm>
            <a:off x="2112575" y="1696364"/>
            <a:ext cx="97632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Improves Factuality: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Drastically reduces hallucinations by grounding responses in verifiable evidence. Models generate more specific and factual language.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Enables Knowledge Updates: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The model's knowledge can be kept current by simply updating the external document database—no expensive retraining required.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Builds Trust &amp; Transparency: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RAG can cite its sources, providing "provenance" for its answers. This allows users to verify the information and trust the system's outputs.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25" name="Google Shape;125;g3951d93c824_0_50"/>
          <p:cNvPicPr preferRelativeResize="0"/>
          <p:nvPr/>
        </p:nvPicPr>
        <p:blipFill rotWithShape="1">
          <a:blip r:embed="rId3">
            <a:alphaModFix/>
          </a:blip>
          <a:srcRect b="27685" l="17804" r="17804" t="15548"/>
          <a:stretch/>
        </p:blipFill>
        <p:spPr>
          <a:xfrm>
            <a:off x="445710" y="3136579"/>
            <a:ext cx="1666875" cy="146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951d93c824_0_50"/>
          <p:cNvPicPr preferRelativeResize="0"/>
          <p:nvPr/>
        </p:nvPicPr>
        <p:blipFill rotWithShape="1">
          <a:blip r:embed="rId4">
            <a:alphaModFix/>
          </a:blip>
          <a:srcRect b="25505" l="20439" r="21060" t="15178"/>
          <a:stretch/>
        </p:blipFill>
        <p:spPr>
          <a:xfrm>
            <a:off x="555604" y="4789244"/>
            <a:ext cx="1449311" cy="146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951d93c824_0_50"/>
          <p:cNvPicPr preferRelativeResize="0"/>
          <p:nvPr/>
        </p:nvPicPr>
        <p:blipFill rotWithShape="1">
          <a:blip r:embed="rId5">
            <a:alphaModFix/>
          </a:blip>
          <a:srcRect b="14254" l="14866" r="15500" t="15178"/>
          <a:stretch/>
        </p:blipFill>
        <p:spPr>
          <a:xfrm>
            <a:off x="555604" y="1521151"/>
            <a:ext cx="1449326" cy="1468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51d93c824_0_75"/>
          <p:cNvSpPr txBox="1"/>
          <p:nvPr>
            <p:ph type="ctrTitle"/>
          </p:nvPr>
        </p:nvSpPr>
        <p:spPr>
          <a:xfrm>
            <a:off x="2466650" y="85579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 Shift in the Role of the LLM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33" name="Google Shape;133;g3951d93c824_0_75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4" name="Google Shape;134;g3951d93c824_0_75"/>
          <p:cNvSpPr txBox="1"/>
          <p:nvPr>
            <p:ph type="title"/>
          </p:nvPr>
        </p:nvSpPr>
        <p:spPr>
          <a:xfrm>
            <a:off x="4237402" y="866950"/>
            <a:ext cx="78948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RAG framework was formally introduced in the paper </a:t>
            </a: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"Retrieval-Augmented Generation for Knowledge-Intensive NLP Tasks"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(Lewis et al., 2020).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This research proved that RAG models could achieve state-of-the-art results on open-domain question answering tasks.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Impact: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RAG reframes the LLM from being an all-knowing (but flawed) oracle into a powerful reasoning and synthesis engine. It creates a division of labor: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○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Retriever: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Acts as an expert librarian.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○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LLM: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Acts as a skilled scholar who interprets the librarian's findings.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35" name="Google Shape;135;g3951d93c824_0_75"/>
          <p:cNvPicPr preferRelativeResize="0"/>
          <p:nvPr/>
        </p:nvPicPr>
        <p:blipFill rotWithShape="1">
          <a:blip r:embed="rId3">
            <a:alphaModFix/>
          </a:blip>
          <a:srcRect b="0" l="0" r="0" t="3203"/>
          <a:stretch/>
        </p:blipFill>
        <p:spPr>
          <a:xfrm>
            <a:off x="47300" y="1123400"/>
            <a:ext cx="4190100" cy="49156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951d93c824_0_82"/>
          <p:cNvPicPr preferRelativeResize="0"/>
          <p:nvPr/>
        </p:nvPicPr>
        <p:blipFill rotWithShape="1">
          <a:blip r:embed="rId3">
            <a:alphaModFix/>
          </a:blip>
          <a:srcRect b="36943" l="3537" r="3852" t="37543"/>
          <a:stretch/>
        </p:blipFill>
        <p:spPr>
          <a:xfrm>
            <a:off x="1674933" y="1256030"/>
            <a:ext cx="8843279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951d93c824_0_82"/>
          <p:cNvSpPr txBox="1"/>
          <p:nvPr>
            <p:ph type="ctrTitle"/>
          </p:nvPr>
        </p:nvSpPr>
        <p:spPr>
          <a:xfrm>
            <a:off x="1806570" y="223911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Summary and Future Directions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2" name="Google Shape;142;g3951d93c824_0_82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3" name="Google Shape;143;g3951d93c824_0_82"/>
          <p:cNvSpPr txBox="1"/>
          <p:nvPr>
            <p:ph type="title"/>
          </p:nvPr>
        </p:nvSpPr>
        <p:spPr>
          <a:xfrm>
            <a:off x="189275" y="3504652"/>
            <a:ext cx="118146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RAG is a practical and powerful solution to the core weaknesses of today's LLMs.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It makes AI systems more reliable, trustworthy, and ready for real-world applications where facts matter.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future of RAG includes more advanced retrieval strategies, multi-modal capabilities (retrieving from images and tables), and further optimization for speed and efficiency.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51d93c824_0_92"/>
          <p:cNvSpPr txBox="1"/>
          <p:nvPr>
            <p:ph type="ctrTitle"/>
          </p:nvPr>
        </p:nvSpPr>
        <p:spPr>
          <a:xfrm>
            <a:off x="1869105" y="182221"/>
            <a:ext cx="85047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References</a:t>
            </a:r>
            <a:endParaRPr sz="36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9" name="Google Shape;149;g3951d93c824_0_92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0" name="Google Shape;150;g3951d93c824_0_92"/>
          <p:cNvSpPr txBox="1"/>
          <p:nvPr>
            <p:ph type="title"/>
          </p:nvPr>
        </p:nvSpPr>
        <p:spPr>
          <a:xfrm>
            <a:off x="189274" y="1535860"/>
            <a:ext cx="119430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P. Lewis, E. Perez, A. Piktus, F. Petroni, V. Karpukhin, N. Goyal, H. Küttler, M. Lewis, W. Yih, T. Rocktäschel, S. Riedel, and D. Kiela, "Retrieval-Augmented Generation for Knowledge-Intensive NLP Tasks," in Advances in Neural Information Processing Systems, 2020.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2022-02-21T05:08:08Z</dcterms:created>
  <dc:creator>Pushpendra Kumar Dhansoia</dc:creator>
</cp:coreProperties>
</file>