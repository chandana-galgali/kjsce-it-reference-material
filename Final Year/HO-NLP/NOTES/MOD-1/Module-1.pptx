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y="6858000" cx="12192000"/>
  <p:notesSz cx="6858000" cy="9144000"/>
  <p:embeddedFontLst>
    <p:embeddedFont>
      <p:font typeface="Inter"/>
      <p:bold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47" roundtripDataSignature="AMtx7mhF2OQbSmm457IphGl0ZjtfnYMTk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schemas.openxmlformats.org/officeDocument/2006/relationships/font" Target="fonts/Inter-boldItalic.fntdata"/><Relationship Id="rId23" Type="http://schemas.openxmlformats.org/officeDocument/2006/relationships/slide" Target="slides/slide18.xml"/><Relationship Id="rId45" Type="http://schemas.openxmlformats.org/officeDocument/2006/relationships/font" Target="fonts/Inter-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customschemas.google.com/relationships/presentationmetadata" Target="meta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 name="Google Shape;6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 name="Google Shape;7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NLP May Not Show Context</a:t>
            </a:r>
            <a:endParaRPr/>
          </a:p>
          <a:p>
            <a:pPr indent="0" lvl="0" marL="0" rtl="0" algn="l">
              <a:spcBef>
                <a:spcPts val="0"/>
              </a:spcBef>
              <a:spcAft>
                <a:spcPts val="0"/>
              </a:spcAft>
              <a:buNone/>
            </a:pPr>
            <a:r>
              <a:rPr b="1" lang="en-US"/>
              <a:t>Challenge</a:t>
            </a:r>
            <a:r>
              <a:rPr lang="en-US"/>
              <a:t>:</a:t>
            </a:r>
            <a:endParaRPr/>
          </a:p>
          <a:p>
            <a:pPr indent="-76200" lvl="0" marL="0" rtl="0" algn="l">
              <a:spcBef>
                <a:spcPts val="0"/>
              </a:spcBef>
              <a:spcAft>
                <a:spcPts val="0"/>
              </a:spcAft>
              <a:buClr>
                <a:schemeClr val="dk1"/>
              </a:buClr>
              <a:buSzPts val="1200"/>
              <a:buFont typeface="Arial"/>
              <a:buChar char="•"/>
            </a:pPr>
            <a:r>
              <a:rPr lang="en-US"/>
              <a:t>NLP systems often struggle to maintain context over a conversation, leading to misunderstandings.</a:t>
            </a:r>
            <a:endParaRPr/>
          </a:p>
          <a:p>
            <a:pPr indent="0" lvl="0" marL="0" rtl="0" algn="l">
              <a:spcBef>
                <a:spcPts val="0"/>
              </a:spcBef>
              <a:spcAft>
                <a:spcPts val="0"/>
              </a:spcAft>
              <a:buNone/>
            </a:pPr>
            <a:r>
              <a:rPr b="1" lang="en-US"/>
              <a:t>Example</a:t>
            </a:r>
            <a:r>
              <a:rPr lang="en-US"/>
              <a:t>:</a:t>
            </a:r>
            <a:endParaRPr/>
          </a:p>
          <a:p>
            <a:pPr indent="-76200" lvl="0" marL="0" rtl="0" algn="l">
              <a:spcBef>
                <a:spcPts val="0"/>
              </a:spcBef>
              <a:spcAft>
                <a:spcPts val="0"/>
              </a:spcAft>
              <a:buClr>
                <a:schemeClr val="dk1"/>
              </a:buClr>
              <a:buSzPts val="1200"/>
              <a:buFont typeface="Arial"/>
              <a:buChar char="•"/>
            </a:pPr>
            <a:r>
              <a:rPr b="1" lang="en-US"/>
              <a:t>User</a:t>
            </a:r>
            <a:r>
              <a:rPr lang="en-US"/>
              <a:t>: "Where is my order?"</a:t>
            </a:r>
            <a:endParaRPr/>
          </a:p>
          <a:p>
            <a:pPr indent="-76200" lvl="0" marL="0" rtl="0" algn="l">
              <a:spcBef>
                <a:spcPts val="0"/>
              </a:spcBef>
              <a:spcAft>
                <a:spcPts val="0"/>
              </a:spcAft>
              <a:buClr>
                <a:schemeClr val="dk1"/>
              </a:buClr>
              <a:buSzPts val="1200"/>
              <a:buFont typeface="Arial"/>
              <a:buChar char="•"/>
            </a:pPr>
            <a:r>
              <a:rPr b="1" lang="en-US"/>
              <a:t>Chatbot</a:t>
            </a:r>
            <a:r>
              <a:rPr lang="en-US"/>
              <a:t>: "Can you provide your order number?"</a:t>
            </a:r>
            <a:endParaRPr/>
          </a:p>
          <a:p>
            <a:pPr indent="-76200" lvl="0" marL="0" rtl="0" algn="l">
              <a:spcBef>
                <a:spcPts val="0"/>
              </a:spcBef>
              <a:spcAft>
                <a:spcPts val="0"/>
              </a:spcAft>
              <a:buClr>
                <a:schemeClr val="dk1"/>
              </a:buClr>
              <a:buSzPts val="1200"/>
              <a:buFont typeface="Arial"/>
              <a:buChar char="•"/>
            </a:pPr>
            <a:r>
              <a:rPr b="1" lang="en-US"/>
              <a:t>User</a:t>
            </a:r>
            <a:r>
              <a:rPr lang="en-US"/>
              <a:t>: "It's 12345."</a:t>
            </a:r>
            <a:endParaRPr/>
          </a:p>
          <a:p>
            <a:pPr indent="-76200" lvl="0" marL="0" rtl="0" algn="l">
              <a:spcBef>
                <a:spcPts val="0"/>
              </a:spcBef>
              <a:spcAft>
                <a:spcPts val="0"/>
              </a:spcAft>
              <a:buClr>
                <a:schemeClr val="dk1"/>
              </a:buClr>
              <a:buSzPts val="1200"/>
              <a:buFont typeface="Arial"/>
              <a:buChar char="•"/>
            </a:pPr>
            <a:r>
              <a:rPr b="1" lang="en-US"/>
              <a:t>User (later)</a:t>
            </a:r>
            <a:r>
              <a:rPr lang="en-US"/>
              <a:t>: "Why is it delayed?"</a:t>
            </a:r>
            <a:endParaRPr/>
          </a:p>
          <a:p>
            <a:pPr indent="-76200" lvl="0" marL="0" rtl="0" algn="l">
              <a:spcBef>
                <a:spcPts val="0"/>
              </a:spcBef>
              <a:spcAft>
                <a:spcPts val="0"/>
              </a:spcAft>
              <a:buClr>
                <a:schemeClr val="dk1"/>
              </a:buClr>
              <a:buSzPts val="1200"/>
              <a:buFont typeface="Arial"/>
              <a:buChar char="•"/>
            </a:pPr>
            <a:r>
              <a:rPr b="1" lang="en-US"/>
              <a:t>Chatbot</a:t>
            </a:r>
            <a:r>
              <a:rPr lang="en-US"/>
              <a:t>: "Can you provide your order number?"</a:t>
            </a:r>
            <a:endParaRPr/>
          </a:p>
          <a:p>
            <a:pPr indent="0" lvl="0" marL="0" rtl="0" algn="l">
              <a:spcBef>
                <a:spcPts val="0"/>
              </a:spcBef>
              <a:spcAft>
                <a:spcPts val="0"/>
              </a:spcAft>
              <a:buNone/>
            </a:pPr>
            <a:r>
              <a:rPr b="1" lang="en-US"/>
              <a:t>Explanation</a:t>
            </a:r>
            <a:r>
              <a:rPr lang="en-US"/>
              <a:t>:</a:t>
            </a:r>
            <a:endParaRPr/>
          </a:p>
          <a:p>
            <a:pPr indent="-76200" lvl="0" marL="0" rtl="0" algn="l">
              <a:spcBef>
                <a:spcPts val="0"/>
              </a:spcBef>
              <a:spcAft>
                <a:spcPts val="0"/>
              </a:spcAft>
              <a:buClr>
                <a:schemeClr val="dk1"/>
              </a:buClr>
              <a:buSzPts val="1200"/>
              <a:buFont typeface="Arial"/>
              <a:buChar char="•"/>
            </a:pPr>
            <a:r>
              <a:rPr lang="en-US"/>
              <a:t>The chatbot fails to remember the order number provided earlier in the conversation, demonstrating a lack of contextual understanding.</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US"/>
              <a:t>NLP is Unpredictable</a:t>
            </a:r>
            <a:endParaRPr/>
          </a:p>
          <a:p>
            <a:pPr indent="0" lvl="0" marL="0" rtl="0" algn="l">
              <a:spcBef>
                <a:spcPts val="0"/>
              </a:spcBef>
              <a:spcAft>
                <a:spcPts val="0"/>
              </a:spcAft>
              <a:buNone/>
            </a:pPr>
            <a:r>
              <a:rPr b="1" lang="en-US"/>
              <a:t>Challenge</a:t>
            </a:r>
            <a:r>
              <a:rPr lang="en-US"/>
              <a:t>:</a:t>
            </a:r>
            <a:endParaRPr/>
          </a:p>
          <a:p>
            <a:pPr indent="-76200" lvl="0" marL="0" rtl="0" algn="l">
              <a:spcBef>
                <a:spcPts val="0"/>
              </a:spcBef>
              <a:spcAft>
                <a:spcPts val="0"/>
              </a:spcAft>
              <a:buClr>
                <a:schemeClr val="dk1"/>
              </a:buClr>
              <a:buSzPts val="1200"/>
              <a:buFont typeface="Arial"/>
              <a:buChar char="•"/>
            </a:pPr>
            <a:r>
              <a:rPr lang="en-US"/>
              <a:t>NLP systems can produce unpredictable responses, especially when faced with unusual or complex queries.</a:t>
            </a:r>
            <a:endParaRPr/>
          </a:p>
          <a:p>
            <a:pPr indent="0" lvl="0" marL="0" rtl="0" algn="l">
              <a:spcBef>
                <a:spcPts val="0"/>
              </a:spcBef>
              <a:spcAft>
                <a:spcPts val="0"/>
              </a:spcAft>
              <a:buNone/>
            </a:pPr>
            <a:r>
              <a:rPr b="1" lang="en-US"/>
              <a:t>Example</a:t>
            </a:r>
            <a:r>
              <a:rPr lang="en-US"/>
              <a:t>:</a:t>
            </a:r>
            <a:endParaRPr/>
          </a:p>
          <a:p>
            <a:pPr indent="-76200" lvl="0" marL="0" rtl="0" algn="l">
              <a:spcBef>
                <a:spcPts val="0"/>
              </a:spcBef>
              <a:spcAft>
                <a:spcPts val="0"/>
              </a:spcAft>
              <a:buClr>
                <a:schemeClr val="dk1"/>
              </a:buClr>
              <a:buSzPts val="1200"/>
              <a:buFont typeface="Arial"/>
              <a:buChar char="•"/>
            </a:pPr>
            <a:r>
              <a:rPr b="1" lang="en-US"/>
              <a:t>User</a:t>
            </a:r>
            <a:r>
              <a:rPr lang="en-US"/>
              <a:t>: "I need help with my recent purchase."</a:t>
            </a:r>
            <a:endParaRPr/>
          </a:p>
          <a:p>
            <a:pPr indent="-76200" lvl="0" marL="0" rtl="0" algn="l">
              <a:spcBef>
                <a:spcPts val="0"/>
              </a:spcBef>
              <a:spcAft>
                <a:spcPts val="0"/>
              </a:spcAft>
              <a:buClr>
                <a:schemeClr val="dk1"/>
              </a:buClr>
              <a:buSzPts val="1200"/>
              <a:buFont typeface="Arial"/>
              <a:buChar char="•"/>
            </a:pPr>
            <a:r>
              <a:rPr b="1" lang="en-US"/>
              <a:t>Chatbot</a:t>
            </a:r>
            <a:r>
              <a:rPr lang="en-US"/>
              <a:t>: "Can you tell me the product name?"</a:t>
            </a:r>
            <a:endParaRPr/>
          </a:p>
          <a:p>
            <a:pPr indent="-76200" lvl="0" marL="0" rtl="0" algn="l">
              <a:spcBef>
                <a:spcPts val="0"/>
              </a:spcBef>
              <a:spcAft>
                <a:spcPts val="0"/>
              </a:spcAft>
              <a:buClr>
                <a:schemeClr val="dk1"/>
              </a:buClr>
              <a:buSzPts val="1200"/>
              <a:buFont typeface="Arial"/>
              <a:buChar char="•"/>
            </a:pPr>
            <a:r>
              <a:rPr b="1" lang="en-US"/>
              <a:t>User</a:t>
            </a:r>
            <a:r>
              <a:rPr lang="en-US"/>
              <a:t>: "It's a vintage clock."</a:t>
            </a:r>
            <a:endParaRPr/>
          </a:p>
          <a:p>
            <a:pPr indent="-76200" lvl="0" marL="0" rtl="0" algn="l">
              <a:spcBef>
                <a:spcPts val="0"/>
              </a:spcBef>
              <a:spcAft>
                <a:spcPts val="0"/>
              </a:spcAft>
              <a:buClr>
                <a:schemeClr val="dk1"/>
              </a:buClr>
              <a:buSzPts val="1200"/>
              <a:buFont typeface="Arial"/>
              <a:buChar char="•"/>
            </a:pPr>
            <a:r>
              <a:rPr b="1" lang="en-US"/>
              <a:t>Chatbot</a:t>
            </a:r>
            <a:r>
              <a:rPr lang="en-US"/>
              <a:t>: "Did you mean 'clock'? What kind of clock?"</a:t>
            </a:r>
            <a:endParaRPr/>
          </a:p>
          <a:p>
            <a:pPr indent="0" lvl="0" marL="0" rtl="0" algn="l">
              <a:spcBef>
                <a:spcPts val="0"/>
              </a:spcBef>
              <a:spcAft>
                <a:spcPts val="0"/>
              </a:spcAft>
              <a:buNone/>
            </a:pPr>
            <a:r>
              <a:rPr b="1" lang="en-US"/>
              <a:t>Explanation</a:t>
            </a:r>
            <a:r>
              <a:rPr lang="en-US"/>
              <a:t>:</a:t>
            </a:r>
            <a:endParaRPr/>
          </a:p>
          <a:p>
            <a:pPr indent="-76200" lvl="0" marL="0" rtl="0" algn="l">
              <a:spcBef>
                <a:spcPts val="0"/>
              </a:spcBef>
              <a:spcAft>
                <a:spcPts val="0"/>
              </a:spcAft>
              <a:buClr>
                <a:schemeClr val="dk1"/>
              </a:buClr>
              <a:buSzPts val="1200"/>
              <a:buFont typeface="Arial"/>
              <a:buChar char="•"/>
            </a:pPr>
            <a:r>
              <a:rPr lang="en-US"/>
              <a:t>The chatbot's responses can become erratic or redundant, especially with ambiguous or less common terms like "vintage clock."</a:t>
            </a:r>
            <a:endParaRPr/>
          </a:p>
          <a:p>
            <a:pPr indent="0" lvl="0" marL="0" rtl="0" algn="l">
              <a:spcBef>
                <a:spcPts val="0"/>
              </a:spcBef>
              <a:spcAft>
                <a:spcPts val="0"/>
              </a:spcAft>
              <a:buNone/>
            </a:pPr>
            <a:r>
              <a:rPr b="1" lang="en-US"/>
              <a:t>NLP May Require More Keystrokes</a:t>
            </a:r>
            <a:endParaRPr/>
          </a:p>
          <a:p>
            <a:pPr indent="-76200" lvl="0" marL="0" rtl="0" algn="l">
              <a:spcBef>
                <a:spcPts val="0"/>
              </a:spcBef>
              <a:spcAft>
                <a:spcPts val="0"/>
              </a:spcAft>
              <a:buClr>
                <a:schemeClr val="dk1"/>
              </a:buClr>
              <a:buSzPts val="1200"/>
              <a:buFont typeface="Arial"/>
              <a:buChar char="•"/>
            </a:pPr>
            <a:r>
              <a:rPr lang="en-US"/>
              <a:t>Interacting with NLP systems can sometimes be heavier/ inconvenient and require more user input than necessary.</a:t>
            </a:r>
            <a:endParaRPr/>
          </a:p>
          <a:p>
            <a:pPr indent="-76200" lvl="0" marL="0" rtl="0" algn="l">
              <a:spcBef>
                <a:spcPts val="0"/>
              </a:spcBef>
              <a:spcAft>
                <a:spcPts val="0"/>
              </a:spcAft>
              <a:buClr>
                <a:schemeClr val="dk1"/>
              </a:buClr>
              <a:buSzPts val="1200"/>
              <a:buFont typeface="Arial"/>
              <a:buChar char="•"/>
            </a:pPr>
            <a:r>
              <a:rPr lang="en-US"/>
              <a:t>example: Conversation in chatbot regarding returning of item.</a:t>
            </a:r>
            <a:endParaRPr/>
          </a:p>
          <a:p>
            <a:pPr indent="-76200" lvl="0" marL="0" rtl="0" algn="l">
              <a:spcBef>
                <a:spcPts val="0"/>
              </a:spcBef>
              <a:spcAft>
                <a:spcPts val="0"/>
              </a:spcAft>
              <a:buClr>
                <a:schemeClr val="dk1"/>
              </a:buClr>
              <a:buSzPts val="1200"/>
              <a:buFont typeface="Arial"/>
              <a:buChar char="•"/>
            </a:pPr>
            <a:r>
              <a:rPr lang="en-US"/>
              <a:t>The conversation involves multiple back-and-forth exchanges, requiring the user to input more information step by step rather than processing a more concise input.</a:t>
            </a:r>
            <a:endParaRPr/>
          </a:p>
          <a:p>
            <a:pPr indent="0" lvl="0" marL="0" rtl="0" algn="l">
              <a:spcBef>
                <a:spcPts val="0"/>
              </a:spcBef>
              <a:spcAft>
                <a:spcPts val="0"/>
              </a:spcAft>
              <a:buNone/>
            </a:pPr>
            <a:r>
              <a:rPr b="1" lang="en-US"/>
              <a:t>NLP is Unable to Adapt to New Domains</a:t>
            </a:r>
            <a:endParaRPr/>
          </a:p>
          <a:p>
            <a:pPr indent="0" lvl="0" marL="0" rtl="0" algn="l">
              <a:spcBef>
                <a:spcPts val="0"/>
              </a:spcBef>
              <a:spcAft>
                <a:spcPts val="0"/>
              </a:spcAft>
              <a:buNone/>
            </a:pPr>
            <a:r>
              <a:rPr b="1" lang="en-US"/>
              <a:t>Challenge</a:t>
            </a:r>
            <a:r>
              <a:rPr lang="en-US"/>
              <a:t>:</a:t>
            </a:r>
            <a:endParaRPr/>
          </a:p>
          <a:p>
            <a:pPr indent="-76200" lvl="0" marL="0" rtl="0" algn="l">
              <a:spcBef>
                <a:spcPts val="0"/>
              </a:spcBef>
              <a:spcAft>
                <a:spcPts val="0"/>
              </a:spcAft>
              <a:buClr>
                <a:schemeClr val="dk1"/>
              </a:buClr>
              <a:buSzPts val="1200"/>
              <a:buFont typeface="Arial"/>
              <a:buChar char="•"/>
            </a:pPr>
            <a:r>
              <a:rPr lang="en-US"/>
              <a:t>NLP systems are often designed for specific tasks and struggle to adapt to new or unfamiliar domains.</a:t>
            </a:r>
            <a:endParaRPr/>
          </a:p>
          <a:p>
            <a:pPr indent="0" lvl="0" marL="0" rtl="0" algn="l">
              <a:spcBef>
                <a:spcPts val="0"/>
              </a:spcBef>
              <a:spcAft>
                <a:spcPts val="0"/>
              </a:spcAft>
              <a:buNone/>
            </a:pPr>
            <a:r>
              <a:rPr lang="en-US"/>
              <a:t>The chatbot is built for handling e-commerce related queries and cannot adapt to requests outside its pre-defined domain, such as finding hiking trails.</a:t>
            </a:r>
            <a:endParaRPr/>
          </a:p>
        </p:txBody>
      </p:sp>
      <p:sp>
        <p:nvSpPr>
          <p:cNvPr id="85" name="Google Shape;8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76200" lvl="0" marL="0" rtl="0" algn="l">
              <a:spcBef>
                <a:spcPts val="0"/>
              </a:spcBef>
              <a:spcAft>
                <a:spcPts val="0"/>
              </a:spcAft>
              <a:buClr>
                <a:schemeClr val="dk1"/>
              </a:buClr>
              <a:buSzPts val="1200"/>
              <a:buFont typeface="Calibri"/>
              <a:buAutoNum type="arabicPeriod"/>
            </a:pPr>
            <a:r>
              <a:rPr b="1" lang="en-US"/>
              <a:t>Deixis: </a:t>
            </a:r>
            <a:r>
              <a:rPr lang="en-US"/>
              <a:t>Indexicality, Context-dependency, Referentiality, Pronominal reference</a:t>
            </a:r>
            <a:endParaRPr b="1"/>
          </a:p>
          <a:p>
            <a:pPr indent="-76200" lvl="0" marL="0" rtl="0" algn="l">
              <a:spcBef>
                <a:spcPts val="0"/>
              </a:spcBef>
              <a:spcAft>
                <a:spcPts val="0"/>
              </a:spcAft>
              <a:buClr>
                <a:schemeClr val="dk1"/>
              </a:buClr>
              <a:buSzPts val="1200"/>
              <a:buFont typeface="Calibri"/>
              <a:buAutoNum type="arabicPeriod"/>
            </a:pPr>
            <a:r>
              <a:rPr b="1" lang="en-US"/>
              <a:t>Person Deixis: </a:t>
            </a:r>
            <a:r>
              <a:rPr lang="en-US"/>
              <a:t>Refers to participants in the conversation.</a:t>
            </a:r>
            <a:endParaRPr/>
          </a:p>
          <a:p>
            <a:pPr indent="-285750" lvl="1" marL="742950" rtl="0" algn="l">
              <a:spcBef>
                <a:spcPts val="0"/>
              </a:spcBef>
              <a:spcAft>
                <a:spcPts val="0"/>
              </a:spcAft>
              <a:buClr>
                <a:schemeClr val="dk1"/>
              </a:buClr>
              <a:buSzPts val="1200"/>
              <a:buFont typeface="Calibri"/>
              <a:buAutoNum type="arabicPeriod"/>
            </a:pPr>
            <a:r>
              <a:rPr b="1" lang="en-US"/>
              <a:t>Examples</a:t>
            </a:r>
            <a:r>
              <a:rPr lang="en-US"/>
              <a:t>:</a:t>
            </a:r>
            <a:endParaRPr/>
          </a:p>
          <a:p>
            <a:pPr indent="-228600" lvl="2" marL="1143000" rtl="0" algn="l">
              <a:spcBef>
                <a:spcPts val="0"/>
              </a:spcBef>
              <a:spcAft>
                <a:spcPts val="0"/>
              </a:spcAft>
              <a:buClr>
                <a:schemeClr val="dk1"/>
              </a:buClr>
              <a:buSzPts val="1200"/>
              <a:buFont typeface="Calibri"/>
              <a:buAutoNum type="arabicPeriod"/>
            </a:pPr>
            <a:r>
              <a:rPr b="1" lang="en-US"/>
              <a:t>First Person</a:t>
            </a:r>
            <a:r>
              <a:rPr lang="en-US"/>
              <a:t>: "I," "we" (e.g., "I am speaking.")</a:t>
            </a:r>
            <a:endParaRPr/>
          </a:p>
          <a:p>
            <a:pPr indent="-228600" lvl="2" marL="1143000" rtl="0" algn="l">
              <a:spcBef>
                <a:spcPts val="0"/>
              </a:spcBef>
              <a:spcAft>
                <a:spcPts val="0"/>
              </a:spcAft>
              <a:buClr>
                <a:schemeClr val="dk1"/>
              </a:buClr>
              <a:buSzPts val="1200"/>
              <a:buFont typeface="Calibri"/>
              <a:buAutoNum type="arabicPeriod"/>
            </a:pPr>
            <a:r>
              <a:rPr b="1" lang="en-US"/>
              <a:t>Second Person</a:t>
            </a:r>
            <a:r>
              <a:rPr lang="en-US"/>
              <a:t>: "you" (e.g., "You are listening.")</a:t>
            </a:r>
            <a:endParaRPr/>
          </a:p>
          <a:p>
            <a:pPr indent="-228600" lvl="2" marL="1143000" rtl="0" algn="l">
              <a:spcBef>
                <a:spcPts val="0"/>
              </a:spcBef>
              <a:spcAft>
                <a:spcPts val="0"/>
              </a:spcAft>
              <a:buClr>
                <a:schemeClr val="dk1"/>
              </a:buClr>
              <a:buSzPts val="1200"/>
              <a:buFont typeface="Calibri"/>
              <a:buAutoNum type="arabicPeriod"/>
            </a:pPr>
            <a:r>
              <a:rPr b="1" lang="en-US"/>
              <a:t>Third Person</a:t>
            </a:r>
            <a:r>
              <a:rPr lang="en-US"/>
              <a:t>: "he," "she," "they" (e.g., "She is coming.")</a:t>
            </a:r>
            <a:endParaRPr/>
          </a:p>
          <a:p>
            <a:pPr indent="-76200" lvl="0" marL="0" rtl="0" algn="l">
              <a:spcBef>
                <a:spcPts val="0"/>
              </a:spcBef>
              <a:spcAft>
                <a:spcPts val="0"/>
              </a:spcAft>
              <a:buClr>
                <a:schemeClr val="dk1"/>
              </a:buClr>
              <a:buSzPts val="1200"/>
              <a:buFont typeface="Calibri"/>
              <a:buAutoNum type="arabicPeriod"/>
            </a:pPr>
            <a:r>
              <a:rPr b="1" lang="en-US"/>
              <a:t>Place Deixis</a:t>
            </a:r>
            <a:r>
              <a:rPr lang="en-US"/>
              <a:t>: Refers to spatial locations.</a:t>
            </a:r>
            <a:endParaRPr/>
          </a:p>
          <a:p>
            <a:pPr indent="-285750" lvl="1" marL="742950" rtl="0" algn="l">
              <a:spcBef>
                <a:spcPts val="0"/>
              </a:spcBef>
              <a:spcAft>
                <a:spcPts val="0"/>
              </a:spcAft>
              <a:buClr>
                <a:schemeClr val="dk1"/>
              </a:buClr>
              <a:buSzPts val="1200"/>
              <a:buFont typeface="Calibri"/>
              <a:buAutoNum type="arabicPeriod"/>
            </a:pPr>
            <a:r>
              <a:rPr b="1" lang="en-US"/>
              <a:t>Examples</a:t>
            </a:r>
            <a:r>
              <a:rPr lang="en-US"/>
              <a:t>:</a:t>
            </a:r>
            <a:endParaRPr/>
          </a:p>
          <a:p>
            <a:pPr indent="-228600" lvl="2" marL="1143000" rtl="0" algn="l">
              <a:spcBef>
                <a:spcPts val="0"/>
              </a:spcBef>
              <a:spcAft>
                <a:spcPts val="0"/>
              </a:spcAft>
              <a:buClr>
                <a:schemeClr val="dk1"/>
              </a:buClr>
              <a:buSzPts val="1200"/>
              <a:buFont typeface="Calibri"/>
              <a:buAutoNum type="arabicPeriod"/>
            </a:pPr>
            <a:r>
              <a:rPr b="1" lang="en-US"/>
              <a:t>"here"</a:t>
            </a:r>
            <a:r>
              <a:rPr lang="en-US"/>
              <a:t>: Refers to the location of the speaker (e.g., "I am here.")</a:t>
            </a:r>
            <a:endParaRPr/>
          </a:p>
          <a:p>
            <a:pPr indent="-228600" lvl="2" marL="1143000" rtl="0" algn="l">
              <a:spcBef>
                <a:spcPts val="0"/>
              </a:spcBef>
              <a:spcAft>
                <a:spcPts val="0"/>
              </a:spcAft>
              <a:buClr>
                <a:schemeClr val="dk1"/>
              </a:buClr>
              <a:buSzPts val="1200"/>
              <a:buFont typeface="Calibri"/>
              <a:buAutoNum type="arabicPeriod"/>
            </a:pPr>
            <a:r>
              <a:rPr b="1" lang="en-US"/>
              <a:t>"there"</a:t>
            </a:r>
            <a:r>
              <a:rPr lang="en-US"/>
              <a:t>: Refers to a location away from the speaker (e.g., "The book is there.")</a:t>
            </a:r>
            <a:endParaRPr/>
          </a:p>
          <a:p>
            <a:pPr indent="-76200" lvl="0" marL="0" rtl="0" algn="l">
              <a:spcBef>
                <a:spcPts val="0"/>
              </a:spcBef>
              <a:spcAft>
                <a:spcPts val="0"/>
              </a:spcAft>
              <a:buClr>
                <a:schemeClr val="dk1"/>
              </a:buClr>
              <a:buSzPts val="1200"/>
              <a:buFont typeface="Calibri"/>
              <a:buAutoNum type="arabicPeriod"/>
            </a:pPr>
            <a:r>
              <a:rPr b="1" lang="en-US"/>
              <a:t>Time Deixis: </a:t>
            </a:r>
            <a:r>
              <a:rPr lang="en-US"/>
              <a:t>Refers to temporal points or periods.</a:t>
            </a:r>
            <a:endParaRPr/>
          </a:p>
          <a:p>
            <a:pPr indent="-285750" lvl="1" marL="742950" rtl="0" algn="l">
              <a:spcBef>
                <a:spcPts val="0"/>
              </a:spcBef>
              <a:spcAft>
                <a:spcPts val="0"/>
              </a:spcAft>
              <a:buClr>
                <a:schemeClr val="dk1"/>
              </a:buClr>
              <a:buSzPts val="1200"/>
              <a:buFont typeface="Calibri"/>
              <a:buAutoNum type="arabicPeriod"/>
            </a:pPr>
            <a:r>
              <a:rPr b="1" lang="en-US"/>
              <a:t>Examples</a:t>
            </a:r>
            <a:r>
              <a:rPr lang="en-US"/>
              <a:t>:</a:t>
            </a:r>
            <a:endParaRPr/>
          </a:p>
          <a:p>
            <a:pPr indent="-228600" lvl="2" marL="1143000" rtl="0" algn="l">
              <a:spcBef>
                <a:spcPts val="0"/>
              </a:spcBef>
              <a:spcAft>
                <a:spcPts val="0"/>
              </a:spcAft>
              <a:buClr>
                <a:schemeClr val="dk1"/>
              </a:buClr>
              <a:buSzPts val="1200"/>
              <a:buFont typeface="Calibri"/>
              <a:buAutoNum type="arabicPeriod"/>
            </a:pPr>
            <a:r>
              <a:rPr b="1" lang="en-US"/>
              <a:t>"now"</a:t>
            </a:r>
            <a:r>
              <a:rPr lang="en-US"/>
              <a:t>: Refers to the current time (e.g., "We need to leave now.")</a:t>
            </a:r>
            <a:endParaRPr/>
          </a:p>
          <a:p>
            <a:pPr indent="-228600" lvl="2" marL="1143000" rtl="0" algn="l">
              <a:spcBef>
                <a:spcPts val="0"/>
              </a:spcBef>
              <a:spcAft>
                <a:spcPts val="0"/>
              </a:spcAft>
              <a:buClr>
                <a:schemeClr val="dk1"/>
              </a:buClr>
              <a:buSzPts val="1200"/>
              <a:buFont typeface="Calibri"/>
              <a:buAutoNum type="arabicPeriod"/>
            </a:pPr>
            <a:r>
              <a:rPr b="1" lang="en-US"/>
              <a:t>"then"</a:t>
            </a:r>
            <a:r>
              <a:rPr lang="en-US"/>
              <a:t>: Refers to a specific time in the past or future (e.g., "We will meet then.")</a:t>
            </a:r>
            <a:endParaRPr/>
          </a:p>
          <a:p>
            <a:pPr indent="-76200" lvl="0" marL="0" rtl="0" algn="l">
              <a:spcBef>
                <a:spcPts val="0"/>
              </a:spcBef>
              <a:spcAft>
                <a:spcPts val="0"/>
              </a:spcAft>
              <a:buClr>
                <a:schemeClr val="dk1"/>
              </a:buClr>
              <a:buSzPts val="1200"/>
              <a:buFont typeface="Calibri"/>
              <a:buAutoNum type="arabicPeriod"/>
            </a:pPr>
            <a:r>
              <a:rPr b="1" lang="en-US"/>
              <a:t>Discourse Deixis</a:t>
            </a:r>
            <a:r>
              <a:rPr lang="en-US"/>
              <a:t>: Refers to parts of the discourse.</a:t>
            </a:r>
            <a:endParaRPr/>
          </a:p>
          <a:p>
            <a:pPr indent="-285750" lvl="1" marL="742950" rtl="0" algn="l">
              <a:spcBef>
                <a:spcPts val="0"/>
              </a:spcBef>
              <a:spcAft>
                <a:spcPts val="0"/>
              </a:spcAft>
              <a:buClr>
                <a:schemeClr val="dk1"/>
              </a:buClr>
              <a:buSzPts val="1200"/>
              <a:buFont typeface="Calibri"/>
              <a:buAutoNum type="arabicPeriod"/>
            </a:pPr>
            <a:r>
              <a:rPr b="1" lang="en-US"/>
              <a:t>Examples</a:t>
            </a:r>
            <a:r>
              <a:rPr lang="en-US"/>
              <a:t>: </a:t>
            </a:r>
            <a:r>
              <a:rPr b="1" lang="en-US"/>
              <a:t>this. that</a:t>
            </a:r>
            <a:endParaRPr/>
          </a:p>
          <a:p>
            <a:pPr indent="-76200" lvl="0" marL="0" rtl="0" algn="l">
              <a:spcBef>
                <a:spcPts val="0"/>
              </a:spcBef>
              <a:spcAft>
                <a:spcPts val="0"/>
              </a:spcAft>
              <a:buClr>
                <a:schemeClr val="dk1"/>
              </a:buClr>
              <a:buSzPts val="1200"/>
              <a:buFont typeface="Calibri"/>
              <a:buAutoNum type="arabicPeriod"/>
            </a:pPr>
            <a:r>
              <a:rPr b="1" lang="en-US"/>
              <a:t>Social Deixis</a:t>
            </a:r>
            <a:r>
              <a:rPr lang="en-US"/>
              <a:t>: Refers to social aspects, such as formality and politeness.</a:t>
            </a:r>
            <a:endParaRPr/>
          </a:p>
          <a:p>
            <a:pPr indent="-285750" lvl="1" marL="742950" rtl="0" algn="l">
              <a:spcBef>
                <a:spcPts val="0"/>
              </a:spcBef>
              <a:spcAft>
                <a:spcPts val="0"/>
              </a:spcAft>
              <a:buClr>
                <a:schemeClr val="dk1"/>
              </a:buClr>
              <a:buSzPts val="1200"/>
              <a:buFont typeface="Calibri"/>
              <a:buAutoNum type="arabicPeriod"/>
            </a:pPr>
            <a:r>
              <a:rPr b="1" lang="en-US"/>
              <a:t>Examples</a:t>
            </a:r>
            <a:r>
              <a:rPr lang="en-US"/>
              <a:t>:</a:t>
            </a:r>
            <a:endParaRPr/>
          </a:p>
          <a:p>
            <a:pPr indent="-228600" lvl="2" marL="1143000" rtl="0" algn="l">
              <a:spcBef>
                <a:spcPts val="0"/>
              </a:spcBef>
              <a:spcAft>
                <a:spcPts val="0"/>
              </a:spcAft>
              <a:buClr>
                <a:schemeClr val="dk1"/>
              </a:buClr>
              <a:buSzPts val="1200"/>
              <a:buFont typeface="Calibri"/>
              <a:buAutoNum type="arabicPeriod"/>
            </a:pPr>
            <a:r>
              <a:rPr b="1" lang="en-US"/>
              <a:t>Titles</a:t>
            </a:r>
            <a:r>
              <a:rPr lang="en-US"/>
              <a:t>: "Mr.," "Mrs.," "Dr." (e.g., "Dr. Smith will see you now.")</a:t>
            </a:r>
            <a:endParaRPr/>
          </a:p>
          <a:p>
            <a:pPr indent="-228600" lvl="2" marL="1143000" rtl="0" algn="l">
              <a:spcBef>
                <a:spcPts val="0"/>
              </a:spcBef>
              <a:spcAft>
                <a:spcPts val="0"/>
              </a:spcAft>
              <a:buClr>
                <a:schemeClr val="dk1"/>
              </a:buClr>
              <a:buSzPts val="1200"/>
              <a:buFont typeface="Calibri"/>
              <a:buAutoNum type="arabicPeriod"/>
            </a:pPr>
            <a:r>
              <a:rPr b="1" lang="en-US"/>
              <a:t>Honorifics</a:t>
            </a:r>
            <a:r>
              <a:rPr lang="en-US"/>
              <a:t>: "sir," "madam" (e.g., "Thank you, sir.")</a:t>
            </a:r>
            <a:endParaRPr/>
          </a:p>
          <a:p>
            <a:pPr indent="0" lvl="0" marL="0" rtl="0" algn="l">
              <a:spcBef>
                <a:spcPts val="0"/>
              </a:spcBef>
              <a:spcAft>
                <a:spcPts val="0"/>
              </a:spcAft>
              <a:buNone/>
            </a:pPr>
            <a:r>
              <a:t/>
            </a:r>
            <a:endParaRPr/>
          </a:p>
        </p:txBody>
      </p:sp>
      <p:sp>
        <p:nvSpPr>
          <p:cNvPr id="242" name="Google Shape;242;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2" name="Shape 22"/>
        <p:cNvGrpSpPr/>
        <p:nvPr/>
      </p:nvGrpSpPr>
      <p:grpSpPr>
        <a:xfrm>
          <a:off x="0" y="0"/>
          <a:ext cx="0" cy="0"/>
          <a:chOff x="0" y="0"/>
          <a:chExt cx="0" cy="0"/>
        </a:xfrm>
      </p:grpSpPr>
      <p:sp>
        <p:nvSpPr>
          <p:cNvPr id="23" name="Google Shape;23;p44"/>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0"/>
              </a:spcBef>
              <a:spcAft>
                <a:spcPts val="0"/>
              </a:spcAft>
              <a:buClr>
                <a:srgbClr val="930B0B"/>
              </a:buClr>
              <a:buSzPts val="3600"/>
              <a:buFont typeface="Times New Roman"/>
              <a:buNone/>
              <a:defRPr b="0" i="0" sz="3600" u="none" cap="none" strike="noStrike">
                <a:solidFill>
                  <a:srgbClr val="930B0B"/>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4" name="Google Shape;24;p44"/>
          <p:cNvSpPr txBox="1"/>
          <p:nvPr>
            <p:ph idx="1" type="body"/>
          </p:nvPr>
        </p:nvSpPr>
        <p:spPr>
          <a:xfrm>
            <a:off x="546970" y="1324628"/>
            <a:ext cx="10972800" cy="4525963"/>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1pPr>
            <a:lvl2pPr indent="-381000" lvl="1" marL="914400" marR="0" rtl="0" algn="l">
              <a:lnSpc>
                <a:spcPct val="90000"/>
              </a:lnSpc>
              <a:spcBef>
                <a:spcPts val="500"/>
              </a:spcBef>
              <a:spcAft>
                <a:spcPts val="0"/>
              </a:spcAft>
              <a:buClr>
                <a:schemeClr val="dk1"/>
              </a:buClr>
              <a:buSzPts val="2400"/>
              <a:buFont typeface="Courier New"/>
              <a:buChar char="o"/>
              <a:defRPr b="0" i="0" sz="2400" u="none" cap="none" strike="noStrike">
                <a:solidFill>
                  <a:schemeClr val="dk1"/>
                </a:solidFill>
                <a:latin typeface="Times New Roman"/>
                <a:ea typeface="Times New Roman"/>
                <a:cs typeface="Times New Roman"/>
                <a:sym typeface="Times New Roman"/>
              </a:defRPr>
            </a:lvl2pPr>
            <a:lvl3pPr indent="-355600" lvl="2" marL="1371600" marR="0" rtl="0" algn="l">
              <a:lnSpc>
                <a:spcPct val="90000"/>
              </a:lnSpc>
              <a:spcBef>
                <a:spcPts val="500"/>
              </a:spcBef>
              <a:spcAft>
                <a:spcPts val="0"/>
              </a:spcAft>
              <a:buClr>
                <a:schemeClr val="dk1"/>
              </a:buClr>
              <a:buSzPts val="2000"/>
              <a:buFont typeface="Calibri"/>
              <a:buChar char="−"/>
              <a:defRPr b="0" i="0" sz="2000" u="none" cap="none" strike="noStrike">
                <a:solidFill>
                  <a:schemeClr val="dk1"/>
                </a:solidFill>
                <a:latin typeface="Times New Roman"/>
                <a:ea typeface="Times New Roman"/>
                <a:cs typeface="Times New Roman"/>
                <a:sym typeface="Times New Roman"/>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5" name="Shape 2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
        <p:nvSpPr>
          <p:cNvPr id="27" name="Google Shape;27;p46"/>
          <p:cNvSpPr txBox="1"/>
          <p:nvPr>
            <p:ph idx="1" type="body"/>
          </p:nvPr>
        </p:nvSpPr>
        <p:spPr>
          <a:xfrm>
            <a:off x="546970" y="1324628"/>
            <a:ext cx="10972800" cy="4525963"/>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1pPr>
            <a:lvl2pPr indent="-381000" lvl="1" marL="914400" marR="0" rtl="0" algn="l">
              <a:lnSpc>
                <a:spcPct val="90000"/>
              </a:lnSpc>
              <a:spcBef>
                <a:spcPts val="500"/>
              </a:spcBef>
              <a:spcAft>
                <a:spcPts val="0"/>
              </a:spcAft>
              <a:buClr>
                <a:schemeClr val="dk1"/>
              </a:buClr>
              <a:buSzPts val="2400"/>
              <a:buFont typeface="Courier New"/>
              <a:buChar char="o"/>
              <a:defRPr b="0" i="0" sz="2400" u="none" cap="none" strike="noStrike">
                <a:solidFill>
                  <a:schemeClr val="dk1"/>
                </a:solidFill>
                <a:latin typeface="Times New Roman"/>
                <a:ea typeface="Times New Roman"/>
                <a:cs typeface="Times New Roman"/>
                <a:sym typeface="Times New Roman"/>
              </a:defRPr>
            </a:lvl2pPr>
            <a:lvl3pPr indent="-355600" lvl="2" marL="1371600" marR="0" rtl="0" algn="l">
              <a:lnSpc>
                <a:spcPct val="90000"/>
              </a:lnSpc>
              <a:spcBef>
                <a:spcPts val="500"/>
              </a:spcBef>
              <a:spcAft>
                <a:spcPts val="0"/>
              </a:spcAft>
              <a:buClr>
                <a:schemeClr val="dk1"/>
              </a:buClr>
              <a:buSzPts val="2000"/>
              <a:buFont typeface="Calibri"/>
              <a:buChar char="−"/>
              <a:defRPr b="0" i="0" sz="2000" u="none" cap="none" strike="noStrike">
                <a:solidFill>
                  <a:schemeClr val="dk1"/>
                </a:solidFill>
                <a:latin typeface="Times New Roman"/>
                <a:ea typeface="Times New Roman"/>
                <a:cs typeface="Times New Roman"/>
                <a:sym typeface="Times New Roman"/>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28" name="Shape 28"/>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4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1" name="Google Shape;31;p4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2" name="Shape 32"/>
        <p:cNvGrpSpPr/>
        <p:nvPr/>
      </p:nvGrpSpPr>
      <p:grpSpPr>
        <a:xfrm>
          <a:off x="0" y="0"/>
          <a:ext cx="0" cy="0"/>
          <a:chOff x="0" y="0"/>
          <a:chExt cx="0" cy="0"/>
        </a:xfrm>
      </p:grpSpPr>
      <p:sp>
        <p:nvSpPr>
          <p:cNvPr id="33" name="Google Shape;33;p49"/>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0"/>
              </a:spcBef>
              <a:spcAft>
                <a:spcPts val="0"/>
              </a:spcAft>
              <a:buClr>
                <a:srgbClr val="930B0B"/>
              </a:buClr>
              <a:buSzPts val="3600"/>
              <a:buFont typeface="Times New Roman"/>
              <a:buNone/>
              <a:defRPr b="0" i="0" sz="3600" u="none" cap="none" strike="noStrike">
                <a:solidFill>
                  <a:srgbClr val="930B0B"/>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4" name="Google Shape;34;p49"/>
          <p:cNvSpPr txBox="1"/>
          <p:nvPr>
            <p:ph idx="1" type="body"/>
          </p:nvPr>
        </p:nvSpPr>
        <p:spPr>
          <a:xfrm>
            <a:off x="526093" y="1189973"/>
            <a:ext cx="10997852" cy="489930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1pPr>
            <a:lvl2pPr indent="-335280" lvl="1" marL="914400" marR="0" rtl="0" algn="l">
              <a:lnSpc>
                <a:spcPct val="90000"/>
              </a:lnSpc>
              <a:spcBef>
                <a:spcPts val="500"/>
              </a:spcBef>
              <a:spcAft>
                <a:spcPts val="0"/>
              </a:spcAft>
              <a:buClr>
                <a:srgbClr val="C55A11"/>
              </a:buClr>
              <a:buSzPts val="1680"/>
              <a:buFont typeface="Courier New"/>
              <a:buChar char="o"/>
              <a:defRPr b="0" i="0" sz="2400" u="none" cap="none" strike="noStrike">
                <a:solidFill>
                  <a:schemeClr val="dk1"/>
                </a:solidFill>
                <a:latin typeface="Times New Roman"/>
                <a:ea typeface="Times New Roman"/>
                <a:cs typeface="Times New Roman"/>
                <a:sym typeface="Times New Roman"/>
              </a:defRPr>
            </a:lvl2pPr>
            <a:lvl3pPr indent="-317500" lvl="2" marL="1371600" marR="0" rtl="0" algn="l">
              <a:lnSpc>
                <a:spcPct val="90000"/>
              </a:lnSpc>
              <a:spcBef>
                <a:spcPts val="500"/>
              </a:spcBef>
              <a:spcAft>
                <a:spcPts val="0"/>
              </a:spcAft>
              <a:buClr>
                <a:srgbClr val="8D4427"/>
              </a:buClr>
              <a:buSzPts val="1400"/>
              <a:buFont typeface="Times New Roman"/>
              <a:buChar char="−"/>
              <a:defRPr b="0" i="0" sz="2000" u="none" cap="none" strike="noStrike">
                <a:solidFill>
                  <a:schemeClr val="dk1"/>
                </a:solidFill>
                <a:latin typeface="Times New Roman"/>
                <a:ea typeface="Times New Roman"/>
                <a:cs typeface="Times New Roman"/>
                <a:sym typeface="Times New Roman"/>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5" name="Shape 35"/>
        <p:cNvGrpSpPr/>
        <p:nvPr/>
      </p:nvGrpSpPr>
      <p:grpSpPr>
        <a:xfrm>
          <a:off x="0" y="0"/>
          <a:ext cx="0" cy="0"/>
          <a:chOff x="0" y="0"/>
          <a:chExt cx="0" cy="0"/>
        </a:xfrm>
      </p:grpSpPr>
      <p:sp>
        <p:nvSpPr>
          <p:cNvPr id="36" name="Google Shape;36;p50"/>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7" name="Google Shape;37;p50"/>
          <p:cNvSpPr txBox="1"/>
          <p:nvPr>
            <p:ph idx="1" type="body"/>
          </p:nvPr>
        </p:nvSpPr>
        <p:spPr>
          <a:xfrm>
            <a:off x="676949" y="1606006"/>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38" name="Google Shape;38;p5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9" name="Google Shape;39;p5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0" name="Google Shape;40;p5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1" name="Google Shape;41;p5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2" name="Google Shape;42;p5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3" name="Google Shape;43;p5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4" name="Shape 44"/>
        <p:cNvGrpSpPr/>
        <p:nvPr/>
      </p:nvGrpSpPr>
      <p:grpSpPr>
        <a:xfrm>
          <a:off x="0" y="0"/>
          <a:ext cx="0" cy="0"/>
          <a:chOff x="0" y="0"/>
          <a:chExt cx="0" cy="0"/>
        </a:xfrm>
      </p:grpSpPr>
      <p:sp>
        <p:nvSpPr>
          <p:cNvPr id="45" name="Google Shape;45;p5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6" name="Shape 46"/>
        <p:cNvGrpSpPr/>
        <p:nvPr/>
      </p:nvGrpSpPr>
      <p:grpSpPr>
        <a:xfrm>
          <a:off x="0" y="0"/>
          <a:ext cx="0" cy="0"/>
          <a:chOff x="0" y="0"/>
          <a:chExt cx="0" cy="0"/>
        </a:xfrm>
      </p:grpSpPr>
      <p:sp>
        <p:nvSpPr>
          <p:cNvPr id="47" name="Google Shape;47;p5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8" name="Google Shape;48;p5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49" name="Google Shape;49;p5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0" name="Shape 50"/>
        <p:cNvGrpSpPr/>
        <p:nvPr/>
      </p:nvGrpSpPr>
      <p:grpSpPr>
        <a:xfrm>
          <a:off x="0" y="0"/>
          <a:ext cx="0" cy="0"/>
          <a:chOff x="0" y="0"/>
          <a:chExt cx="0" cy="0"/>
        </a:xfrm>
      </p:grpSpPr>
      <p:sp>
        <p:nvSpPr>
          <p:cNvPr id="51" name="Google Shape;51;p5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2" name="Google Shape;52;p53"/>
          <p:cNvSpPr/>
          <p:nvPr>
            <p:ph idx="2" type="pic"/>
          </p:nvPr>
        </p:nvSpPr>
        <p:spPr>
          <a:xfrm>
            <a:off x="5183188" y="987425"/>
            <a:ext cx="6172200" cy="4873625"/>
          </a:xfrm>
          <a:prstGeom prst="rect">
            <a:avLst/>
          </a:prstGeom>
          <a:noFill/>
          <a:ln>
            <a:noFill/>
          </a:ln>
        </p:spPr>
      </p:sp>
      <p:sp>
        <p:nvSpPr>
          <p:cNvPr id="53" name="Google Shape;53;p5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4" name="Shape 54"/>
        <p:cNvGrpSpPr/>
        <p:nvPr/>
      </p:nvGrpSpPr>
      <p:grpSpPr>
        <a:xfrm>
          <a:off x="0" y="0"/>
          <a:ext cx="0" cy="0"/>
          <a:chOff x="0" y="0"/>
          <a:chExt cx="0" cy="0"/>
        </a:xfrm>
      </p:grpSpPr>
      <p:sp>
        <p:nvSpPr>
          <p:cNvPr id="55" name="Google Shape;55;p5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6" name="Google Shape;56;p5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57" name="Shape 57"/>
        <p:cNvGrpSpPr/>
        <p:nvPr/>
      </p:nvGrpSpPr>
      <p:grpSpPr>
        <a:xfrm>
          <a:off x="0" y="0"/>
          <a:ext cx="0" cy="0"/>
          <a:chOff x="0" y="0"/>
          <a:chExt cx="0" cy="0"/>
        </a:xfrm>
      </p:grpSpPr>
      <p:sp>
        <p:nvSpPr>
          <p:cNvPr id="58" name="Google Shape;58;p5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9" name="Google Shape;59;p5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60" name="Shape 60"/>
        <p:cNvGrpSpPr/>
        <p:nvPr/>
      </p:nvGrpSpPr>
      <p:grpSpPr>
        <a:xfrm>
          <a:off x="0" y="0"/>
          <a:ext cx="0" cy="0"/>
          <a:chOff x="0" y="0"/>
          <a:chExt cx="0" cy="0"/>
        </a:xfrm>
      </p:grpSpPr>
      <p:sp>
        <p:nvSpPr>
          <p:cNvPr id="61" name="Google Shape;61;p56"/>
          <p:cNvSpPr txBox="1"/>
          <p:nvPr>
            <p:ph type="title"/>
          </p:nvPr>
        </p:nvSpPr>
        <p:spPr>
          <a:xfrm>
            <a:off x="609600" y="274638"/>
            <a:ext cx="10972800" cy="1143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62" name="Shape 62"/>
        <p:cNvGrpSpPr/>
        <p:nvPr/>
      </p:nvGrpSpPr>
      <p:grpSpPr>
        <a:xfrm>
          <a:off x="0" y="0"/>
          <a:ext cx="0" cy="0"/>
          <a:chOff x="0" y="0"/>
          <a:chExt cx="0" cy="0"/>
        </a:xfrm>
      </p:grpSpPr>
      <p:sp>
        <p:nvSpPr>
          <p:cNvPr id="63" name="Google Shape;63;p57"/>
          <p:cNvSpPr txBox="1"/>
          <p:nvPr>
            <p:ph type="title"/>
          </p:nvPr>
        </p:nvSpPr>
        <p:spPr>
          <a:xfrm>
            <a:off x="609600" y="274638"/>
            <a:ext cx="10972800" cy="1143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7.xml"/><Relationship Id="rId10" Type="http://schemas.openxmlformats.org/officeDocument/2006/relationships/slideLayout" Target="../slideLayouts/slideLayout6.xml"/><Relationship Id="rId13" Type="http://schemas.openxmlformats.org/officeDocument/2006/relationships/slideLayout" Target="../slideLayouts/slideLayout9.xml"/><Relationship Id="rId12" Type="http://schemas.openxmlformats.org/officeDocument/2006/relationships/slideLayout" Target="../slideLayouts/slideLayout8.xml"/><Relationship Id="rId1" Type="http://schemas.openxmlformats.org/officeDocument/2006/relationships/image" Target="../media/image5.png"/><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1.jpg"/><Relationship Id="rId9" Type="http://schemas.openxmlformats.org/officeDocument/2006/relationships/slideLayout" Target="../slideLayouts/slideLayout5.xml"/><Relationship Id="rId15" Type="http://schemas.openxmlformats.org/officeDocument/2006/relationships/slideLayout" Target="../slideLayouts/slideLayout11.xml"/><Relationship Id="rId14" Type="http://schemas.openxmlformats.org/officeDocument/2006/relationships/slideLayout" Target="../slideLayouts/slideLayout10.xml"/><Relationship Id="rId17" Type="http://schemas.openxmlformats.org/officeDocument/2006/relationships/slideLayout" Target="../slideLayouts/slideLayout13.xml"/><Relationship Id="rId16" Type="http://schemas.openxmlformats.org/officeDocument/2006/relationships/slideLayout" Target="../slideLayouts/slideLayout12.xml"/><Relationship Id="rId5" Type="http://schemas.openxmlformats.org/officeDocument/2006/relationships/slideLayout" Target="../slideLayouts/slideLayout1.xml"/><Relationship Id="rId19" Type="http://schemas.openxmlformats.org/officeDocument/2006/relationships/theme" Target="../theme/theme1.xml"/><Relationship Id="rId6" Type="http://schemas.openxmlformats.org/officeDocument/2006/relationships/slideLayout" Target="../slideLayouts/slideLayout2.xml"/><Relationship Id="rId18" Type="http://schemas.openxmlformats.org/officeDocument/2006/relationships/slideLayout" Target="../slideLayouts/slideLayout14.xml"/><Relationship Id="rId7" Type="http://schemas.openxmlformats.org/officeDocument/2006/relationships/slideLayout" Target="../slideLayouts/slideLayout3.xml"/><Relationship Id="rId8"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3"/>
          <p:cNvSpPr txBox="1"/>
          <p:nvPr/>
        </p:nvSpPr>
        <p:spPr>
          <a:xfrm>
            <a:off x="1531257" y="294320"/>
            <a:ext cx="9129486" cy="73796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4400"/>
              <a:buFont typeface="Calibri"/>
              <a:buNone/>
            </a:pPr>
            <a:r>
              <a:t/>
            </a:r>
            <a:endParaRPr b="0" i="0" sz="4400" u="none" cap="none" strike="noStrike">
              <a:solidFill>
                <a:schemeClr val="dk1"/>
              </a:solidFill>
              <a:latin typeface="Calibri"/>
              <a:ea typeface="Calibri"/>
              <a:cs typeface="Calibri"/>
              <a:sym typeface="Calibri"/>
            </a:endParaRPr>
          </a:p>
        </p:txBody>
      </p:sp>
      <p:sp>
        <p:nvSpPr>
          <p:cNvPr id="11" name="Google Shape;11;p43"/>
          <p:cNvSpPr txBox="1"/>
          <p:nvPr/>
        </p:nvSpPr>
        <p:spPr>
          <a:xfrm>
            <a:off x="432520" y="6373653"/>
            <a:ext cx="1941286" cy="3651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7/18/2025</a:t>
            </a:r>
            <a:endParaRPr b="1" i="0" sz="1400" u="none" cap="none" strike="noStrike">
              <a:solidFill>
                <a:schemeClr val="lt1"/>
              </a:solidFill>
              <a:latin typeface="Times New Roman"/>
              <a:ea typeface="Times New Roman"/>
              <a:cs typeface="Times New Roman"/>
              <a:sym typeface="Times New Roman"/>
            </a:endParaRPr>
          </a:p>
        </p:txBody>
      </p:sp>
      <p:sp>
        <p:nvSpPr>
          <p:cNvPr id="12" name="Google Shape;12;p43"/>
          <p:cNvSpPr txBox="1"/>
          <p:nvPr/>
        </p:nvSpPr>
        <p:spPr>
          <a:xfrm>
            <a:off x="10986931" y="6347050"/>
            <a:ext cx="801914" cy="3651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1" i="0" lang="en-US" sz="1400" u="none" cap="none" strike="noStrike">
                <a:solidFill>
                  <a:schemeClr val="lt1"/>
                </a:solidFill>
                <a:latin typeface="Times New Roman"/>
                <a:ea typeface="Times New Roman"/>
                <a:cs typeface="Times New Roman"/>
                <a:sym typeface="Times New Roman"/>
              </a:rPr>
              <a:t>‹#›</a:t>
            </a:fld>
            <a:endParaRPr b="1" i="0" sz="1400" u="none" cap="none" strike="noStrike">
              <a:solidFill>
                <a:schemeClr val="lt1"/>
              </a:solidFill>
              <a:latin typeface="Times New Roman"/>
              <a:ea typeface="Times New Roman"/>
              <a:cs typeface="Times New Roman"/>
              <a:sym typeface="Times New Roman"/>
            </a:endParaRPr>
          </a:p>
        </p:txBody>
      </p:sp>
      <p:cxnSp>
        <p:nvCxnSpPr>
          <p:cNvPr id="13" name="Google Shape;13;p43"/>
          <p:cNvCxnSpPr/>
          <p:nvPr/>
        </p:nvCxnSpPr>
        <p:spPr>
          <a:xfrm>
            <a:off x="231906" y="524442"/>
            <a:ext cx="20026" cy="5873873"/>
          </a:xfrm>
          <a:prstGeom prst="straightConnector1">
            <a:avLst/>
          </a:prstGeom>
          <a:noFill/>
          <a:ln cap="flat" cmpd="sng" w="9525">
            <a:solidFill>
              <a:schemeClr val="accent2"/>
            </a:solidFill>
            <a:prstDash val="solid"/>
            <a:miter lim="800000"/>
            <a:headEnd len="sm" w="sm" type="none"/>
            <a:tailEnd len="sm" w="sm" type="none"/>
          </a:ln>
        </p:spPr>
      </p:cxnSp>
      <p:cxnSp>
        <p:nvCxnSpPr>
          <p:cNvPr id="14" name="Google Shape;14;p43"/>
          <p:cNvCxnSpPr/>
          <p:nvPr/>
        </p:nvCxnSpPr>
        <p:spPr>
          <a:xfrm>
            <a:off x="11945042" y="135448"/>
            <a:ext cx="19165" cy="6100958"/>
          </a:xfrm>
          <a:prstGeom prst="straightConnector1">
            <a:avLst/>
          </a:prstGeom>
          <a:noFill/>
          <a:ln cap="flat" cmpd="sng" w="9525">
            <a:solidFill>
              <a:schemeClr val="accent2"/>
            </a:solidFill>
            <a:prstDash val="solid"/>
            <a:miter lim="800000"/>
            <a:headEnd len="sm" w="sm" type="none"/>
            <a:tailEnd len="sm" w="sm" type="none"/>
          </a:ln>
        </p:spPr>
      </p:cxnSp>
      <p:cxnSp>
        <p:nvCxnSpPr>
          <p:cNvPr id="15" name="Google Shape;15;p43"/>
          <p:cNvCxnSpPr/>
          <p:nvPr/>
        </p:nvCxnSpPr>
        <p:spPr>
          <a:xfrm>
            <a:off x="572366" y="135448"/>
            <a:ext cx="11382258" cy="0"/>
          </a:xfrm>
          <a:prstGeom prst="straightConnector1">
            <a:avLst/>
          </a:prstGeom>
          <a:noFill/>
          <a:ln cap="flat" cmpd="sng" w="9525">
            <a:solidFill>
              <a:schemeClr val="accent2"/>
            </a:solidFill>
            <a:prstDash val="solid"/>
            <a:miter lim="800000"/>
            <a:headEnd len="sm" w="sm" type="none"/>
            <a:tailEnd len="sm" w="sm" type="none"/>
          </a:ln>
        </p:spPr>
      </p:cxnSp>
      <p:cxnSp>
        <p:nvCxnSpPr>
          <p:cNvPr id="16" name="Google Shape;16;p43"/>
          <p:cNvCxnSpPr/>
          <p:nvPr/>
        </p:nvCxnSpPr>
        <p:spPr>
          <a:xfrm>
            <a:off x="251932" y="6398315"/>
            <a:ext cx="320400" cy="293100"/>
          </a:xfrm>
          <a:prstGeom prst="curvedConnector3">
            <a:avLst>
              <a:gd fmla="val 50000" name="adj1"/>
            </a:avLst>
          </a:prstGeom>
          <a:noFill/>
          <a:ln cap="flat" cmpd="sng" w="9525">
            <a:solidFill>
              <a:schemeClr val="accent2"/>
            </a:solidFill>
            <a:prstDash val="solid"/>
            <a:miter lim="800000"/>
            <a:headEnd len="sm" w="sm" type="none"/>
            <a:tailEnd len="sm" w="sm" type="none"/>
          </a:ln>
        </p:spPr>
      </p:cxnSp>
      <p:cxnSp>
        <p:nvCxnSpPr>
          <p:cNvPr id="17" name="Google Shape;17;p43"/>
          <p:cNvCxnSpPr/>
          <p:nvPr/>
        </p:nvCxnSpPr>
        <p:spPr>
          <a:xfrm rot="5400000">
            <a:off x="11558309" y="6285306"/>
            <a:ext cx="454800" cy="357000"/>
          </a:xfrm>
          <a:prstGeom prst="curvedConnector3">
            <a:avLst>
              <a:gd fmla="val 50000" name="adj1"/>
            </a:avLst>
          </a:prstGeom>
          <a:noFill/>
          <a:ln cap="flat" cmpd="sng" w="9525">
            <a:solidFill>
              <a:schemeClr val="accent2"/>
            </a:solidFill>
            <a:prstDash val="solid"/>
            <a:miter lim="800000"/>
            <a:headEnd len="sm" w="sm" type="none"/>
            <a:tailEnd len="sm" w="sm" type="none"/>
          </a:ln>
        </p:spPr>
      </p:cxnSp>
      <p:pic>
        <p:nvPicPr>
          <p:cNvPr id="18" name="Google Shape;18;p43"/>
          <p:cNvPicPr preferRelativeResize="0"/>
          <p:nvPr/>
        </p:nvPicPr>
        <p:blipFill rotWithShape="1">
          <a:blip r:embed="rId1">
            <a:alphaModFix/>
          </a:blip>
          <a:srcRect b="0" l="0" r="0" t="0"/>
          <a:stretch/>
        </p:blipFill>
        <p:spPr>
          <a:xfrm>
            <a:off x="605" y="135448"/>
            <a:ext cx="566958" cy="6722552"/>
          </a:xfrm>
          <a:prstGeom prst="rect">
            <a:avLst/>
          </a:prstGeom>
          <a:noFill/>
          <a:ln>
            <a:noFill/>
          </a:ln>
        </p:spPr>
      </p:pic>
      <p:pic>
        <p:nvPicPr>
          <p:cNvPr id="19" name="Google Shape;19;p43"/>
          <p:cNvPicPr preferRelativeResize="0"/>
          <p:nvPr/>
        </p:nvPicPr>
        <p:blipFill rotWithShape="1">
          <a:blip r:embed="rId2">
            <a:alphaModFix/>
          </a:blip>
          <a:srcRect b="0" l="0" r="0" t="0"/>
          <a:stretch/>
        </p:blipFill>
        <p:spPr>
          <a:xfrm>
            <a:off x="572783" y="135448"/>
            <a:ext cx="204457" cy="5305232"/>
          </a:xfrm>
          <a:prstGeom prst="rect">
            <a:avLst/>
          </a:prstGeom>
          <a:noFill/>
          <a:ln>
            <a:noFill/>
          </a:ln>
        </p:spPr>
      </p:pic>
      <p:pic>
        <p:nvPicPr>
          <p:cNvPr descr="A close up of a sign&#10;&#10;Description automatically generated" id="20" name="Google Shape;20;p43"/>
          <p:cNvPicPr preferRelativeResize="0"/>
          <p:nvPr/>
        </p:nvPicPr>
        <p:blipFill rotWithShape="1">
          <a:blip r:embed="rId3">
            <a:alphaModFix/>
          </a:blip>
          <a:srcRect b="0" l="0" r="0" t="0"/>
          <a:stretch/>
        </p:blipFill>
        <p:spPr>
          <a:xfrm>
            <a:off x="11095526" y="6203844"/>
            <a:ext cx="969474" cy="647487"/>
          </a:xfrm>
          <a:prstGeom prst="rect">
            <a:avLst/>
          </a:prstGeom>
          <a:noFill/>
          <a:ln>
            <a:noFill/>
          </a:ln>
        </p:spPr>
      </p:pic>
      <p:pic>
        <p:nvPicPr>
          <p:cNvPr descr="A picture containing drawing&#10;&#10;Description automatically generated" id="21" name="Google Shape;21;p43"/>
          <p:cNvPicPr preferRelativeResize="0"/>
          <p:nvPr/>
        </p:nvPicPr>
        <p:blipFill rotWithShape="1">
          <a:blip r:embed="rId4">
            <a:alphaModFix/>
          </a:blip>
          <a:srcRect b="0" l="0" r="0" t="0"/>
          <a:stretch/>
        </p:blipFill>
        <p:spPr>
          <a:xfrm>
            <a:off x="605" y="6214968"/>
            <a:ext cx="2655568" cy="66389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60" r:id="rId16"/>
    <p:sldLayoutId id="2147483661" r:id="rId17"/>
    <p:sldLayoutId id="2147483662"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
          <p:cNvSpPr txBox="1"/>
          <p:nvPr>
            <p:ph type="title"/>
          </p:nvPr>
        </p:nvSpPr>
        <p:spPr>
          <a:xfrm>
            <a:off x="838200" y="1225765"/>
            <a:ext cx="10515600" cy="132556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4400"/>
              <a:buFont typeface="Times New Roman"/>
              <a:buNone/>
            </a:pPr>
            <a:r>
              <a:rPr b="1" lang="en-US" sz="4400"/>
              <a:t>Module 1: Basics of NLP</a:t>
            </a:r>
            <a:endParaRPr/>
          </a:p>
        </p:txBody>
      </p:sp>
      <p:sp>
        <p:nvSpPr>
          <p:cNvPr id="69" name="Google Shape;69;p1"/>
          <p:cNvSpPr txBox="1"/>
          <p:nvPr/>
        </p:nvSpPr>
        <p:spPr>
          <a:xfrm>
            <a:off x="4137095" y="3974741"/>
            <a:ext cx="4322017" cy="193899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3000" u="none" cap="none" strike="noStrike">
                <a:solidFill>
                  <a:schemeClr val="dk1"/>
                </a:solidFill>
                <a:latin typeface="Times New Roman"/>
                <a:ea typeface="Times New Roman"/>
                <a:cs typeface="Times New Roman"/>
                <a:sym typeface="Times New Roman"/>
              </a:rPr>
              <a:t>By</a:t>
            </a:r>
            <a:endParaRPr/>
          </a:p>
          <a:p>
            <a:pPr indent="0" lvl="0" marL="0" marR="0" rtl="0" algn="ctr">
              <a:spcBef>
                <a:spcPts val="0"/>
              </a:spcBef>
              <a:spcAft>
                <a:spcPts val="0"/>
              </a:spcAft>
              <a:buNone/>
            </a:pPr>
            <a:r>
              <a:rPr b="0" i="0" lang="en-US" sz="3000" u="none" cap="none" strike="noStrike">
                <a:solidFill>
                  <a:schemeClr val="dk1"/>
                </a:solidFill>
                <a:latin typeface="Times New Roman"/>
                <a:ea typeface="Times New Roman"/>
                <a:cs typeface="Times New Roman"/>
                <a:sym typeface="Times New Roman"/>
              </a:rPr>
              <a:t>Ms. Sarika Dharangaonkar</a:t>
            </a:r>
            <a:endParaRPr/>
          </a:p>
          <a:p>
            <a:pPr indent="0" lvl="0" marL="0" marR="0" rtl="0" algn="ctr">
              <a:spcBef>
                <a:spcPts val="0"/>
              </a:spcBef>
              <a:spcAft>
                <a:spcPts val="0"/>
              </a:spcAft>
              <a:buNone/>
            </a:pPr>
            <a:r>
              <a:rPr b="0" i="0" lang="en-US" sz="3000" u="none" cap="none" strike="noStrike">
                <a:solidFill>
                  <a:schemeClr val="dk1"/>
                </a:solidFill>
                <a:latin typeface="Times New Roman"/>
                <a:ea typeface="Times New Roman"/>
                <a:cs typeface="Times New Roman"/>
                <a:sym typeface="Times New Roman"/>
              </a:rPr>
              <a:t>Assistant Professor,</a:t>
            </a:r>
            <a:endParaRPr/>
          </a:p>
          <a:p>
            <a:pPr indent="0" lvl="0" marL="0" marR="0" rtl="0" algn="ctr">
              <a:spcBef>
                <a:spcPts val="0"/>
              </a:spcBef>
              <a:spcAft>
                <a:spcPts val="0"/>
              </a:spcAft>
              <a:buNone/>
            </a:pPr>
            <a:r>
              <a:rPr b="0" i="0" lang="en-US" sz="3000" u="none" cap="none" strike="noStrike">
                <a:solidFill>
                  <a:schemeClr val="dk1"/>
                </a:solidFill>
                <a:latin typeface="Times New Roman"/>
                <a:ea typeface="Times New Roman"/>
                <a:cs typeface="Times New Roman"/>
                <a:sym typeface="Times New Roman"/>
              </a:rPr>
              <a:t>KJSCE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2"/>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What is NLP?</a:t>
            </a:r>
            <a:endParaRPr/>
          </a:p>
        </p:txBody>
      </p:sp>
      <p:sp>
        <p:nvSpPr>
          <p:cNvPr id="75" name="Google Shape;75;p2"/>
          <p:cNvSpPr txBox="1"/>
          <p:nvPr>
            <p:ph idx="1" type="body"/>
          </p:nvPr>
        </p:nvSpPr>
        <p:spPr>
          <a:xfrm>
            <a:off x="849086" y="1324628"/>
            <a:ext cx="10670684" cy="4525963"/>
          </a:xfrm>
          <a:prstGeom prst="rect">
            <a:avLst/>
          </a:prstGeom>
          <a:noFill/>
          <a:ln>
            <a:noFill/>
          </a:ln>
        </p:spPr>
        <p:txBody>
          <a:bodyPr anchorCtr="0" anchor="t" bIns="45700" lIns="91425" spcFirstLastPara="1" rIns="91425" wrap="square" tIns="45700">
            <a:normAutofit/>
          </a:bodyPr>
          <a:lstStyle/>
          <a:p>
            <a:pPr indent="-285750" lvl="0" marL="285750" rtl="0" algn="just">
              <a:lnSpc>
                <a:spcPct val="90000"/>
              </a:lnSpc>
              <a:spcBef>
                <a:spcPts val="0"/>
              </a:spcBef>
              <a:spcAft>
                <a:spcPts val="0"/>
              </a:spcAft>
              <a:buClr>
                <a:srgbClr val="333333"/>
              </a:buClr>
              <a:buSzPts val="2800"/>
              <a:buChar char="•"/>
            </a:pPr>
            <a:r>
              <a:rPr b="0" i="0" lang="en-US">
                <a:solidFill>
                  <a:srgbClr val="333333"/>
                </a:solidFill>
                <a:highlight>
                  <a:srgbClr val="FFFFFF"/>
                </a:highlight>
              </a:rPr>
              <a:t>NLP stands for </a:t>
            </a:r>
            <a:r>
              <a:rPr b="1" i="0" lang="en-US">
                <a:solidFill>
                  <a:srgbClr val="333333"/>
                </a:solidFill>
                <a:highlight>
                  <a:srgbClr val="FFFFFF"/>
                </a:highlight>
              </a:rPr>
              <a:t>Natural Language Processing</a:t>
            </a:r>
            <a:r>
              <a:rPr b="0" i="0" lang="en-US">
                <a:solidFill>
                  <a:srgbClr val="333333"/>
                </a:solidFill>
                <a:highlight>
                  <a:srgbClr val="FFFFFF"/>
                </a:highlight>
              </a:rPr>
              <a:t>, which is a part of </a:t>
            </a:r>
            <a:r>
              <a:rPr b="1" i="0" lang="en-US">
                <a:solidFill>
                  <a:srgbClr val="333333"/>
                </a:solidFill>
                <a:highlight>
                  <a:srgbClr val="FFFFFF"/>
                </a:highlight>
              </a:rPr>
              <a:t>Computer Science, Human language,</a:t>
            </a:r>
            <a:r>
              <a:rPr b="0" i="0" lang="en-US">
                <a:solidFill>
                  <a:srgbClr val="333333"/>
                </a:solidFill>
                <a:highlight>
                  <a:srgbClr val="FFFFFF"/>
                </a:highlight>
              </a:rPr>
              <a:t> and </a:t>
            </a:r>
            <a:r>
              <a:rPr b="1" i="0" lang="en-US">
                <a:solidFill>
                  <a:srgbClr val="333333"/>
                </a:solidFill>
                <a:highlight>
                  <a:srgbClr val="FFFFFF"/>
                </a:highlight>
              </a:rPr>
              <a:t>Artificial Intelligence</a:t>
            </a:r>
            <a:r>
              <a:rPr b="0" i="0" lang="en-US">
                <a:solidFill>
                  <a:srgbClr val="333333"/>
                </a:solidFill>
                <a:highlight>
                  <a:srgbClr val="FFFFFF"/>
                </a:highlight>
              </a:rPr>
              <a:t>.</a:t>
            </a:r>
            <a:endParaRPr/>
          </a:p>
          <a:p>
            <a:pPr indent="-285750" lvl="0" marL="285750" rtl="0" algn="just">
              <a:lnSpc>
                <a:spcPct val="90000"/>
              </a:lnSpc>
              <a:spcBef>
                <a:spcPts val="1000"/>
              </a:spcBef>
              <a:spcAft>
                <a:spcPts val="0"/>
              </a:spcAft>
              <a:buClr>
                <a:srgbClr val="333333"/>
              </a:buClr>
              <a:buSzPts val="2800"/>
              <a:buChar char="•"/>
            </a:pPr>
            <a:r>
              <a:rPr b="0" i="0" lang="en-US">
                <a:solidFill>
                  <a:srgbClr val="333333"/>
                </a:solidFill>
                <a:highlight>
                  <a:srgbClr val="FFFFFF"/>
                </a:highlight>
              </a:rPr>
              <a:t>It is the technology that is used by machines to understand, analyse, manipulate, and interpret human's languages. </a:t>
            </a:r>
            <a:endParaRPr/>
          </a:p>
          <a:p>
            <a:pPr indent="-285750" lvl="0" marL="285750" rtl="0" algn="just">
              <a:lnSpc>
                <a:spcPct val="90000"/>
              </a:lnSpc>
              <a:spcBef>
                <a:spcPts val="1000"/>
              </a:spcBef>
              <a:spcAft>
                <a:spcPts val="0"/>
              </a:spcAft>
              <a:buClr>
                <a:srgbClr val="333333"/>
              </a:buClr>
              <a:buSzPts val="2800"/>
              <a:buChar char="•"/>
            </a:pPr>
            <a:r>
              <a:rPr b="0" i="0" lang="en-US">
                <a:solidFill>
                  <a:srgbClr val="333333"/>
                </a:solidFill>
                <a:highlight>
                  <a:srgbClr val="FFFFFF"/>
                </a:highlight>
              </a:rPr>
              <a:t>It helps developers to organize knowledge for performing tasks such as </a:t>
            </a:r>
            <a:r>
              <a:rPr b="1" i="0" lang="en-US">
                <a:solidFill>
                  <a:srgbClr val="333333"/>
                </a:solidFill>
                <a:highlight>
                  <a:srgbClr val="FFFFFF"/>
                </a:highlight>
              </a:rPr>
              <a:t>translation, automatic summarization, Named Entity Recognition (NER), speech recognition, relationship extraction,</a:t>
            </a:r>
            <a:r>
              <a:rPr b="0" i="0" lang="en-US">
                <a:solidFill>
                  <a:srgbClr val="333333"/>
                </a:solidFill>
                <a:highlight>
                  <a:srgbClr val="FFFFFF"/>
                </a:highlight>
              </a:rPr>
              <a:t> and </a:t>
            </a:r>
            <a:r>
              <a:rPr b="1" i="0" lang="en-US">
                <a:solidFill>
                  <a:srgbClr val="333333"/>
                </a:solidFill>
                <a:highlight>
                  <a:srgbClr val="FFFFFF"/>
                </a:highlight>
              </a:rPr>
              <a:t>topic segmentation</a:t>
            </a:r>
            <a:r>
              <a:rPr b="0" i="0" lang="en-US">
                <a:solidFill>
                  <a:srgbClr val="333333"/>
                </a:solidFill>
                <a:highlight>
                  <a:srgbClr val="FFFFFF"/>
                </a:highlight>
              </a:rPr>
              <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3"/>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610B38"/>
              </a:buClr>
              <a:buSzPts val="3600"/>
              <a:buFont typeface="Arial"/>
              <a:buNone/>
            </a:pPr>
            <a:r>
              <a:rPr b="0" i="0" lang="en-US">
                <a:solidFill>
                  <a:srgbClr val="610B38"/>
                </a:solidFill>
                <a:highlight>
                  <a:srgbClr val="FFFFFF"/>
                </a:highlight>
                <a:latin typeface="Arial"/>
                <a:ea typeface="Arial"/>
                <a:cs typeface="Arial"/>
                <a:sym typeface="Arial"/>
              </a:rPr>
              <a:t>Advantages of NLP</a:t>
            </a:r>
            <a:br>
              <a:rPr b="0" i="0" lang="en-US">
                <a:solidFill>
                  <a:srgbClr val="610B38"/>
                </a:solidFill>
                <a:highlight>
                  <a:srgbClr val="FFFFFF"/>
                </a:highlight>
                <a:latin typeface="Arial"/>
                <a:ea typeface="Arial"/>
                <a:cs typeface="Arial"/>
                <a:sym typeface="Arial"/>
              </a:rPr>
            </a:br>
            <a:endParaRPr/>
          </a:p>
        </p:txBody>
      </p:sp>
      <p:sp>
        <p:nvSpPr>
          <p:cNvPr id="81" name="Google Shape;81;p3"/>
          <p:cNvSpPr txBox="1"/>
          <p:nvPr>
            <p:ph idx="1" type="body"/>
          </p:nvPr>
        </p:nvSpPr>
        <p:spPr>
          <a:xfrm>
            <a:off x="884427" y="1166018"/>
            <a:ext cx="10972800" cy="4525963"/>
          </a:xfrm>
          <a:prstGeom prst="rect">
            <a:avLst/>
          </a:prstGeom>
          <a:noFill/>
          <a:ln>
            <a:noFill/>
          </a:ln>
        </p:spPr>
        <p:txBody>
          <a:bodyPr anchorCtr="0" anchor="t" bIns="45700" lIns="91425" spcFirstLastPara="1" rIns="91425" wrap="square" tIns="45700">
            <a:normAutofit/>
          </a:bodyPr>
          <a:lstStyle/>
          <a:p>
            <a:pPr indent="-285750" lvl="0" marL="285750" rtl="0" algn="just">
              <a:lnSpc>
                <a:spcPct val="90000"/>
              </a:lnSpc>
              <a:spcBef>
                <a:spcPts val="0"/>
              </a:spcBef>
              <a:spcAft>
                <a:spcPts val="0"/>
              </a:spcAft>
              <a:buClr>
                <a:srgbClr val="000000"/>
              </a:buClr>
              <a:buSzPts val="2800"/>
              <a:buFont typeface="Arial"/>
              <a:buChar char="•"/>
            </a:pPr>
            <a:r>
              <a:rPr b="0" i="0" lang="en-US">
                <a:solidFill>
                  <a:srgbClr val="000000"/>
                </a:solidFill>
                <a:highlight>
                  <a:srgbClr val="FFFFFF"/>
                </a:highlight>
              </a:rPr>
              <a:t>NLP helps users to ask questions about any subject and get a direct response within seconds.</a:t>
            </a:r>
            <a:endParaRPr/>
          </a:p>
          <a:p>
            <a:pPr indent="-285750" lvl="0" marL="285750" rtl="0" algn="just">
              <a:lnSpc>
                <a:spcPct val="90000"/>
              </a:lnSpc>
              <a:spcBef>
                <a:spcPts val="1000"/>
              </a:spcBef>
              <a:spcAft>
                <a:spcPts val="0"/>
              </a:spcAft>
              <a:buClr>
                <a:srgbClr val="000000"/>
              </a:buClr>
              <a:buSzPts val="2800"/>
              <a:buFont typeface="Arial"/>
              <a:buChar char="•"/>
            </a:pPr>
            <a:r>
              <a:rPr b="0" i="0" lang="en-US">
                <a:solidFill>
                  <a:srgbClr val="000000"/>
                </a:solidFill>
                <a:highlight>
                  <a:srgbClr val="FFFFFF"/>
                </a:highlight>
              </a:rPr>
              <a:t>NLP offers exact answers to the question means it does not offer unnecessary and unwanted information.</a:t>
            </a:r>
            <a:endParaRPr/>
          </a:p>
          <a:p>
            <a:pPr indent="-285750" lvl="0" marL="285750" rtl="0" algn="just">
              <a:lnSpc>
                <a:spcPct val="90000"/>
              </a:lnSpc>
              <a:spcBef>
                <a:spcPts val="1000"/>
              </a:spcBef>
              <a:spcAft>
                <a:spcPts val="0"/>
              </a:spcAft>
              <a:buClr>
                <a:srgbClr val="000000"/>
              </a:buClr>
              <a:buSzPts val="2800"/>
              <a:buFont typeface="Arial"/>
              <a:buChar char="•"/>
            </a:pPr>
            <a:r>
              <a:rPr b="0" i="0" lang="en-US">
                <a:solidFill>
                  <a:srgbClr val="000000"/>
                </a:solidFill>
                <a:highlight>
                  <a:srgbClr val="FFFFFF"/>
                </a:highlight>
              </a:rPr>
              <a:t>NLP helps computers to communicate with humans in their languages.</a:t>
            </a:r>
            <a:endParaRPr/>
          </a:p>
          <a:p>
            <a:pPr indent="-285750" lvl="0" marL="285750" rtl="0" algn="just">
              <a:lnSpc>
                <a:spcPct val="90000"/>
              </a:lnSpc>
              <a:spcBef>
                <a:spcPts val="1000"/>
              </a:spcBef>
              <a:spcAft>
                <a:spcPts val="0"/>
              </a:spcAft>
              <a:buClr>
                <a:srgbClr val="000000"/>
              </a:buClr>
              <a:buSzPts val="2800"/>
              <a:buFont typeface="Arial"/>
              <a:buChar char="•"/>
            </a:pPr>
            <a:r>
              <a:rPr b="0" i="0" lang="en-US">
                <a:solidFill>
                  <a:srgbClr val="000000"/>
                </a:solidFill>
                <a:highlight>
                  <a:srgbClr val="FFFFFF"/>
                </a:highlight>
              </a:rPr>
              <a:t>It is very time efficient.</a:t>
            </a:r>
            <a:endParaRPr/>
          </a:p>
          <a:p>
            <a:pPr indent="-285750" lvl="0" marL="285750" rtl="0" algn="just">
              <a:lnSpc>
                <a:spcPct val="90000"/>
              </a:lnSpc>
              <a:spcBef>
                <a:spcPts val="1000"/>
              </a:spcBef>
              <a:spcAft>
                <a:spcPts val="0"/>
              </a:spcAft>
              <a:buClr>
                <a:srgbClr val="000000"/>
              </a:buClr>
              <a:buSzPts val="2800"/>
              <a:buFont typeface="Arial"/>
              <a:buChar char="•"/>
            </a:pPr>
            <a:r>
              <a:rPr b="0" i="0" lang="en-US">
                <a:solidFill>
                  <a:srgbClr val="000000"/>
                </a:solidFill>
                <a:highlight>
                  <a:srgbClr val="FFFFFF"/>
                </a:highlight>
              </a:rPr>
              <a:t>Most of the companies use NLP to improve the efficiency of documentation processes, accuracy of documentation, and identify the information from large databases.</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4"/>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610B38"/>
              </a:buClr>
              <a:buSzPts val="3600"/>
              <a:buFont typeface="Arial"/>
              <a:buNone/>
            </a:pPr>
            <a:r>
              <a:rPr b="0" i="0" lang="en-US">
                <a:solidFill>
                  <a:srgbClr val="610B38"/>
                </a:solidFill>
                <a:highlight>
                  <a:srgbClr val="FFFFFF"/>
                </a:highlight>
                <a:latin typeface="Arial"/>
                <a:ea typeface="Arial"/>
                <a:cs typeface="Arial"/>
                <a:sym typeface="Arial"/>
              </a:rPr>
              <a:t>Disadvantages of NLP</a:t>
            </a:r>
            <a:br>
              <a:rPr b="0" i="0" lang="en-US">
                <a:solidFill>
                  <a:srgbClr val="610B38"/>
                </a:solidFill>
                <a:highlight>
                  <a:srgbClr val="FFFFFF"/>
                </a:highlight>
                <a:latin typeface="Arial"/>
                <a:ea typeface="Arial"/>
                <a:cs typeface="Arial"/>
                <a:sym typeface="Arial"/>
              </a:rPr>
            </a:br>
            <a:endParaRPr/>
          </a:p>
        </p:txBody>
      </p:sp>
      <p:sp>
        <p:nvSpPr>
          <p:cNvPr id="88" name="Google Shape;88;p4"/>
          <p:cNvSpPr txBox="1"/>
          <p:nvPr>
            <p:ph idx="1" type="body"/>
          </p:nvPr>
        </p:nvSpPr>
        <p:spPr>
          <a:xfrm>
            <a:off x="1089764" y="1324628"/>
            <a:ext cx="10430006" cy="4525963"/>
          </a:xfrm>
          <a:prstGeom prst="rect">
            <a:avLst/>
          </a:prstGeom>
          <a:noFill/>
          <a:ln>
            <a:noFill/>
          </a:ln>
        </p:spPr>
        <p:txBody>
          <a:bodyPr anchorCtr="0" anchor="t" bIns="45700" lIns="91425" spcFirstLastPara="1" rIns="91425" wrap="square" tIns="45700">
            <a:normAutofit/>
          </a:bodyPr>
          <a:lstStyle/>
          <a:p>
            <a:pPr indent="-285750" lvl="0" marL="285750" rtl="0" algn="just">
              <a:lnSpc>
                <a:spcPct val="90000"/>
              </a:lnSpc>
              <a:spcBef>
                <a:spcPts val="0"/>
              </a:spcBef>
              <a:spcAft>
                <a:spcPts val="0"/>
              </a:spcAft>
              <a:buClr>
                <a:srgbClr val="000000"/>
              </a:buClr>
              <a:buSzPts val="2800"/>
              <a:buFont typeface="Arial"/>
              <a:buChar char="•"/>
            </a:pPr>
            <a:r>
              <a:rPr b="0" i="0" lang="en-US">
                <a:solidFill>
                  <a:srgbClr val="000000"/>
                </a:solidFill>
                <a:highlight>
                  <a:srgbClr val="FFFFFF"/>
                </a:highlight>
              </a:rPr>
              <a:t>NLP may not show context.</a:t>
            </a:r>
            <a:endParaRPr/>
          </a:p>
          <a:p>
            <a:pPr indent="-285750" lvl="0" marL="285750" rtl="0" algn="just">
              <a:lnSpc>
                <a:spcPct val="90000"/>
              </a:lnSpc>
              <a:spcBef>
                <a:spcPts val="1000"/>
              </a:spcBef>
              <a:spcAft>
                <a:spcPts val="0"/>
              </a:spcAft>
              <a:buClr>
                <a:srgbClr val="000000"/>
              </a:buClr>
              <a:buSzPts val="2800"/>
              <a:buFont typeface="Arial"/>
              <a:buChar char="•"/>
            </a:pPr>
            <a:r>
              <a:rPr b="0" i="0" lang="en-US">
                <a:solidFill>
                  <a:srgbClr val="000000"/>
                </a:solidFill>
                <a:highlight>
                  <a:srgbClr val="FFFFFF"/>
                </a:highlight>
              </a:rPr>
              <a:t>NLP is unpredictable</a:t>
            </a:r>
            <a:endParaRPr/>
          </a:p>
          <a:p>
            <a:pPr indent="-285750" lvl="0" marL="285750" rtl="0" algn="just">
              <a:lnSpc>
                <a:spcPct val="90000"/>
              </a:lnSpc>
              <a:spcBef>
                <a:spcPts val="1000"/>
              </a:spcBef>
              <a:spcAft>
                <a:spcPts val="0"/>
              </a:spcAft>
              <a:buClr>
                <a:srgbClr val="000000"/>
              </a:buClr>
              <a:buSzPts val="2800"/>
              <a:buFont typeface="Arial"/>
              <a:buChar char="•"/>
            </a:pPr>
            <a:r>
              <a:rPr b="0" i="0" lang="en-US">
                <a:solidFill>
                  <a:srgbClr val="000000"/>
                </a:solidFill>
                <a:highlight>
                  <a:srgbClr val="FFFFFF"/>
                </a:highlight>
              </a:rPr>
              <a:t>NLP may require more keystrokes.</a:t>
            </a:r>
            <a:endParaRPr/>
          </a:p>
          <a:p>
            <a:pPr indent="-285750" lvl="0" marL="285750" rtl="0" algn="just">
              <a:lnSpc>
                <a:spcPct val="90000"/>
              </a:lnSpc>
              <a:spcBef>
                <a:spcPts val="1000"/>
              </a:spcBef>
              <a:spcAft>
                <a:spcPts val="0"/>
              </a:spcAft>
              <a:buClr>
                <a:srgbClr val="000000"/>
              </a:buClr>
              <a:buSzPts val="2800"/>
              <a:buFont typeface="Arial"/>
              <a:buChar char="•"/>
            </a:pPr>
            <a:r>
              <a:rPr b="0" i="0" lang="en-US">
                <a:solidFill>
                  <a:srgbClr val="000000"/>
                </a:solidFill>
                <a:highlight>
                  <a:srgbClr val="FFFFFF"/>
                </a:highlight>
              </a:rPr>
              <a:t>NLP is unable to adapt to the new domain, and it has a limited function that's why NLP is built for a single and specific task only.</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5"/>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610B38"/>
              </a:buClr>
              <a:buSzPts val="3600"/>
              <a:buFont typeface="Arial"/>
              <a:buNone/>
            </a:pPr>
            <a:r>
              <a:rPr b="0" i="0" lang="en-US">
                <a:solidFill>
                  <a:srgbClr val="610B38"/>
                </a:solidFill>
                <a:highlight>
                  <a:srgbClr val="FFFFFF"/>
                </a:highlight>
                <a:latin typeface="Arial"/>
                <a:ea typeface="Arial"/>
                <a:cs typeface="Arial"/>
                <a:sym typeface="Arial"/>
              </a:rPr>
              <a:t>Components of NLP</a:t>
            </a:r>
            <a:br>
              <a:rPr b="0" i="0" lang="en-US">
                <a:solidFill>
                  <a:srgbClr val="610B38"/>
                </a:solidFill>
                <a:highlight>
                  <a:srgbClr val="FFFFFF"/>
                </a:highlight>
                <a:latin typeface="Arial"/>
                <a:ea typeface="Arial"/>
                <a:cs typeface="Arial"/>
                <a:sym typeface="Arial"/>
              </a:rPr>
            </a:br>
            <a:endParaRPr/>
          </a:p>
        </p:txBody>
      </p:sp>
      <p:sp>
        <p:nvSpPr>
          <p:cNvPr id="94" name="Google Shape;94;p5"/>
          <p:cNvSpPr txBox="1"/>
          <p:nvPr>
            <p:ph idx="1" type="body"/>
          </p:nvPr>
        </p:nvSpPr>
        <p:spPr>
          <a:xfrm>
            <a:off x="895313" y="1166018"/>
            <a:ext cx="10972800" cy="4734039"/>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333333"/>
              </a:buClr>
              <a:buSzPts val="2800"/>
              <a:buNone/>
            </a:pPr>
            <a:r>
              <a:rPr b="1" i="0" lang="en-US">
                <a:solidFill>
                  <a:srgbClr val="333333"/>
                </a:solidFill>
                <a:highlight>
                  <a:srgbClr val="FFFFFF"/>
                </a:highlight>
              </a:rPr>
              <a:t>1. Natural Language Understanding (NLU)</a:t>
            </a:r>
            <a:endParaRPr b="0" i="0">
              <a:solidFill>
                <a:srgbClr val="333333"/>
              </a:solidFill>
              <a:highlight>
                <a:srgbClr val="FFFFFF"/>
              </a:highlight>
            </a:endParaRPr>
          </a:p>
          <a:p>
            <a:pPr indent="-285750" lvl="0" marL="285750" rtl="0" algn="just">
              <a:lnSpc>
                <a:spcPct val="90000"/>
              </a:lnSpc>
              <a:spcBef>
                <a:spcPts val="1000"/>
              </a:spcBef>
              <a:spcAft>
                <a:spcPts val="0"/>
              </a:spcAft>
              <a:buClr>
                <a:srgbClr val="333333"/>
              </a:buClr>
              <a:buSzPts val="2800"/>
              <a:buChar char="•"/>
            </a:pPr>
            <a:r>
              <a:rPr b="0" i="0" lang="en-US">
                <a:solidFill>
                  <a:srgbClr val="333333"/>
                </a:solidFill>
                <a:highlight>
                  <a:srgbClr val="FFFFFF"/>
                </a:highlight>
              </a:rPr>
              <a:t>Natural Language Understanding (NLU) helps the machine to understand and analyse human language by extracting the metadata from content such as concepts, entities, keywords, emotion, relations, and semantic roles.</a:t>
            </a:r>
            <a:endParaRPr/>
          </a:p>
          <a:p>
            <a:pPr indent="-285750" lvl="0" marL="285750" rtl="0" algn="just">
              <a:lnSpc>
                <a:spcPct val="90000"/>
              </a:lnSpc>
              <a:spcBef>
                <a:spcPts val="1000"/>
              </a:spcBef>
              <a:spcAft>
                <a:spcPts val="0"/>
              </a:spcAft>
              <a:buClr>
                <a:srgbClr val="333333"/>
              </a:buClr>
              <a:buSzPts val="2800"/>
              <a:buChar char="•"/>
            </a:pPr>
            <a:r>
              <a:rPr b="0" i="0" lang="en-US">
                <a:solidFill>
                  <a:srgbClr val="333333"/>
                </a:solidFill>
                <a:highlight>
                  <a:srgbClr val="FFFFFF"/>
                </a:highlight>
              </a:rPr>
              <a:t>NLU mainly used in Business applications to understand the customer's problem in both spoken and written language.</a:t>
            </a:r>
            <a:endParaRPr/>
          </a:p>
          <a:p>
            <a:pPr indent="-285750" lvl="0" marL="285750" rtl="0" algn="just">
              <a:lnSpc>
                <a:spcPct val="90000"/>
              </a:lnSpc>
              <a:spcBef>
                <a:spcPts val="1000"/>
              </a:spcBef>
              <a:spcAft>
                <a:spcPts val="0"/>
              </a:spcAft>
              <a:buClr>
                <a:srgbClr val="333333"/>
              </a:buClr>
              <a:buSzPts val="2800"/>
              <a:buChar char="•"/>
            </a:pPr>
            <a:r>
              <a:rPr b="0" i="0" lang="en-US">
                <a:solidFill>
                  <a:srgbClr val="333333"/>
                </a:solidFill>
                <a:highlight>
                  <a:srgbClr val="FFFFFF"/>
                </a:highlight>
              </a:rPr>
              <a:t>NLU involves the following tasks -</a:t>
            </a:r>
            <a:endParaRPr/>
          </a:p>
          <a:p>
            <a:pPr indent="-285750" lvl="1" marL="742950" rtl="0" algn="just">
              <a:lnSpc>
                <a:spcPct val="90000"/>
              </a:lnSpc>
              <a:spcBef>
                <a:spcPts val="500"/>
              </a:spcBef>
              <a:spcAft>
                <a:spcPts val="0"/>
              </a:spcAft>
              <a:buClr>
                <a:srgbClr val="000000"/>
              </a:buClr>
              <a:buSzPts val="2400"/>
              <a:buFont typeface="Arial"/>
              <a:buChar char="•"/>
            </a:pPr>
            <a:r>
              <a:rPr b="0" i="0" lang="en-US">
                <a:solidFill>
                  <a:srgbClr val="000000"/>
                </a:solidFill>
                <a:highlight>
                  <a:srgbClr val="FFFFFF"/>
                </a:highlight>
              </a:rPr>
              <a:t>It is used to map the given input into useful representation.</a:t>
            </a:r>
            <a:endParaRPr/>
          </a:p>
          <a:p>
            <a:pPr indent="-285750" lvl="1" marL="742950" rtl="0" algn="just">
              <a:lnSpc>
                <a:spcPct val="90000"/>
              </a:lnSpc>
              <a:spcBef>
                <a:spcPts val="500"/>
              </a:spcBef>
              <a:spcAft>
                <a:spcPts val="0"/>
              </a:spcAft>
              <a:buClr>
                <a:srgbClr val="000000"/>
              </a:buClr>
              <a:buSzPts val="2400"/>
              <a:buFont typeface="Arial"/>
              <a:buChar char="•"/>
            </a:pPr>
            <a:r>
              <a:rPr b="0" i="0" lang="en-US">
                <a:solidFill>
                  <a:srgbClr val="000000"/>
                </a:solidFill>
                <a:highlight>
                  <a:srgbClr val="FFFFFF"/>
                </a:highlight>
              </a:rPr>
              <a:t>It is used to analyze different aspects of the language.</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6"/>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610B38"/>
              </a:buClr>
              <a:buSzPts val="3600"/>
              <a:buFont typeface="Arial"/>
              <a:buNone/>
            </a:pPr>
            <a:r>
              <a:rPr b="0" i="0" lang="en-US">
                <a:solidFill>
                  <a:srgbClr val="610B38"/>
                </a:solidFill>
                <a:highlight>
                  <a:srgbClr val="FFFFFF"/>
                </a:highlight>
                <a:latin typeface="Arial"/>
                <a:ea typeface="Arial"/>
                <a:cs typeface="Arial"/>
                <a:sym typeface="Arial"/>
              </a:rPr>
              <a:t>Components of NLP…</a:t>
            </a:r>
            <a:endParaRPr/>
          </a:p>
        </p:txBody>
      </p:sp>
      <p:sp>
        <p:nvSpPr>
          <p:cNvPr id="100" name="Google Shape;100;p6"/>
          <p:cNvSpPr txBox="1"/>
          <p:nvPr>
            <p:ph idx="1" type="body"/>
          </p:nvPr>
        </p:nvSpPr>
        <p:spPr>
          <a:xfrm>
            <a:off x="808228" y="1291970"/>
            <a:ext cx="10972800" cy="452596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333333"/>
              </a:buClr>
              <a:buSzPts val="2800"/>
              <a:buNone/>
            </a:pPr>
            <a:r>
              <a:rPr b="1" i="0" lang="en-US">
                <a:solidFill>
                  <a:srgbClr val="333333"/>
                </a:solidFill>
                <a:highlight>
                  <a:srgbClr val="FFFFFF"/>
                </a:highlight>
              </a:rPr>
              <a:t>2. Natural Language Generation (NLG)</a:t>
            </a:r>
            <a:endParaRPr b="0" i="0">
              <a:solidFill>
                <a:srgbClr val="333333"/>
              </a:solidFill>
              <a:highlight>
                <a:srgbClr val="FFFFFF"/>
              </a:highlight>
            </a:endParaRPr>
          </a:p>
          <a:p>
            <a:pPr indent="-285750" lvl="0" marL="285750" rtl="0" algn="just">
              <a:lnSpc>
                <a:spcPct val="90000"/>
              </a:lnSpc>
              <a:spcBef>
                <a:spcPts val="1000"/>
              </a:spcBef>
              <a:spcAft>
                <a:spcPts val="0"/>
              </a:spcAft>
              <a:buClr>
                <a:srgbClr val="333333"/>
              </a:buClr>
              <a:buSzPts val="2800"/>
              <a:buChar char="•"/>
            </a:pPr>
            <a:r>
              <a:rPr b="0" i="0" lang="en-US">
                <a:solidFill>
                  <a:srgbClr val="333333"/>
                </a:solidFill>
                <a:highlight>
                  <a:srgbClr val="FFFFFF"/>
                </a:highlight>
              </a:rPr>
              <a:t>Natural Language Generation (NLG) acts as a translator that converts the computerized data into natural language representation. It mainly involves Text planning, Sentence planning, and Text Realization.</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7"/>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333333"/>
              </a:buClr>
              <a:buSzPts val="3600"/>
              <a:buFont typeface="Inter"/>
              <a:buNone/>
            </a:pPr>
            <a:r>
              <a:rPr b="1" i="0" lang="en-US">
                <a:solidFill>
                  <a:srgbClr val="333333"/>
                </a:solidFill>
                <a:highlight>
                  <a:srgbClr val="FFFFFF"/>
                </a:highlight>
                <a:latin typeface="Inter"/>
                <a:ea typeface="Inter"/>
                <a:cs typeface="Inter"/>
                <a:sym typeface="Inter"/>
              </a:rPr>
              <a:t>Difference between NLU and NLG</a:t>
            </a:r>
            <a:endParaRPr/>
          </a:p>
        </p:txBody>
      </p:sp>
      <p:pic>
        <p:nvPicPr>
          <p:cNvPr id="106" name="Google Shape;106;p7"/>
          <p:cNvPicPr preferRelativeResize="0"/>
          <p:nvPr>
            <p:ph idx="1" type="body"/>
          </p:nvPr>
        </p:nvPicPr>
        <p:blipFill rotWithShape="1">
          <a:blip r:embed="rId3">
            <a:alphaModFix/>
          </a:blip>
          <a:srcRect b="0" l="0" r="0" t="0"/>
          <a:stretch/>
        </p:blipFill>
        <p:spPr>
          <a:xfrm>
            <a:off x="1089764" y="1578428"/>
            <a:ext cx="10536179" cy="343988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8"/>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610B38"/>
              </a:buClr>
              <a:buSzPts val="3600"/>
              <a:buFont typeface="Arial"/>
              <a:buNone/>
            </a:pPr>
            <a:r>
              <a:rPr b="0" i="0" lang="en-US">
                <a:solidFill>
                  <a:srgbClr val="610B38"/>
                </a:solidFill>
                <a:highlight>
                  <a:srgbClr val="FFFFFF"/>
                </a:highlight>
                <a:latin typeface="Arial"/>
                <a:ea typeface="Arial"/>
                <a:cs typeface="Arial"/>
                <a:sym typeface="Arial"/>
              </a:rPr>
              <a:t>Applications of NLP</a:t>
            </a:r>
            <a:br>
              <a:rPr b="0" i="0" lang="en-US">
                <a:solidFill>
                  <a:srgbClr val="610B38"/>
                </a:solidFill>
                <a:highlight>
                  <a:srgbClr val="FFFFFF"/>
                </a:highlight>
                <a:latin typeface="Arial"/>
                <a:ea typeface="Arial"/>
                <a:cs typeface="Arial"/>
                <a:sym typeface="Arial"/>
              </a:rPr>
            </a:br>
            <a:endParaRPr/>
          </a:p>
        </p:txBody>
      </p:sp>
      <p:sp>
        <p:nvSpPr>
          <p:cNvPr id="112" name="Google Shape;112;p8"/>
          <p:cNvSpPr txBox="1"/>
          <p:nvPr>
            <p:ph idx="1" type="body"/>
          </p:nvPr>
        </p:nvSpPr>
        <p:spPr>
          <a:xfrm>
            <a:off x="816428" y="1324628"/>
            <a:ext cx="10703341" cy="452596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333333"/>
              </a:buClr>
              <a:buSzPts val="2800"/>
              <a:buNone/>
            </a:pPr>
            <a:r>
              <a:rPr b="1" i="0" lang="en-US">
                <a:solidFill>
                  <a:srgbClr val="333333"/>
                </a:solidFill>
                <a:highlight>
                  <a:srgbClr val="FFFFFF"/>
                </a:highlight>
              </a:rPr>
              <a:t>1. Question Answering</a:t>
            </a:r>
            <a:endParaRPr b="0" i="0">
              <a:solidFill>
                <a:srgbClr val="333333"/>
              </a:solidFill>
              <a:highlight>
                <a:srgbClr val="FFFFFF"/>
              </a:highlight>
            </a:endParaRPr>
          </a:p>
          <a:p>
            <a:pPr indent="-285750" lvl="0" marL="285750" rtl="0" algn="just">
              <a:lnSpc>
                <a:spcPct val="90000"/>
              </a:lnSpc>
              <a:spcBef>
                <a:spcPts val="1000"/>
              </a:spcBef>
              <a:spcAft>
                <a:spcPts val="0"/>
              </a:spcAft>
              <a:buClr>
                <a:srgbClr val="333333"/>
              </a:buClr>
              <a:buSzPts val="2800"/>
              <a:buChar char="•"/>
            </a:pPr>
            <a:r>
              <a:rPr b="0" i="0" lang="en-US">
                <a:solidFill>
                  <a:srgbClr val="333333"/>
                </a:solidFill>
                <a:highlight>
                  <a:srgbClr val="FFFFFF"/>
                </a:highlight>
              </a:rPr>
              <a:t>Question Answering focuses on building systems that automatically answer the questions asked by humans in a natural language.</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pic>
        <p:nvPicPr>
          <p:cNvPr id="113" name="Google Shape;113;p8"/>
          <p:cNvPicPr preferRelativeResize="0"/>
          <p:nvPr/>
        </p:nvPicPr>
        <p:blipFill rotWithShape="1">
          <a:blip r:embed="rId3">
            <a:alphaModFix/>
          </a:blip>
          <a:srcRect b="0" l="0" r="0" t="0"/>
          <a:stretch/>
        </p:blipFill>
        <p:spPr>
          <a:xfrm>
            <a:off x="4186377" y="2969902"/>
            <a:ext cx="3923479" cy="378921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9"/>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610B38"/>
              </a:buClr>
              <a:buSzPts val="3600"/>
              <a:buFont typeface="Arial"/>
              <a:buNone/>
            </a:pPr>
            <a:r>
              <a:rPr b="0" i="0" lang="en-US">
                <a:solidFill>
                  <a:srgbClr val="610B38"/>
                </a:solidFill>
                <a:highlight>
                  <a:srgbClr val="FFFFFF"/>
                </a:highlight>
                <a:latin typeface="Arial"/>
                <a:ea typeface="Arial"/>
                <a:cs typeface="Arial"/>
                <a:sym typeface="Arial"/>
              </a:rPr>
              <a:t>Applications of NLP…</a:t>
            </a:r>
            <a:endParaRPr/>
          </a:p>
        </p:txBody>
      </p:sp>
      <p:sp>
        <p:nvSpPr>
          <p:cNvPr id="119" name="Google Shape;119;p9"/>
          <p:cNvSpPr txBox="1"/>
          <p:nvPr>
            <p:ph idx="1" type="body"/>
          </p:nvPr>
        </p:nvSpPr>
        <p:spPr>
          <a:xfrm>
            <a:off x="925286" y="1089768"/>
            <a:ext cx="10594484" cy="4760824"/>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333333"/>
              </a:buClr>
              <a:buSzPts val="2800"/>
              <a:buNone/>
            </a:pPr>
            <a:r>
              <a:rPr b="1" i="0" lang="en-US">
                <a:solidFill>
                  <a:srgbClr val="333333"/>
                </a:solidFill>
                <a:highlight>
                  <a:srgbClr val="FFFFFF"/>
                </a:highlight>
              </a:rPr>
              <a:t>2. Spam Detection</a:t>
            </a:r>
            <a:endParaRPr b="0" i="0">
              <a:solidFill>
                <a:srgbClr val="333333"/>
              </a:solidFill>
              <a:highlight>
                <a:srgbClr val="FFFFFF"/>
              </a:highlight>
            </a:endParaRPr>
          </a:p>
          <a:p>
            <a:pPr indent="-285750" lvl="0" marL="285750" rtl="0" algn="just">
              <a:lnSpc>
                <a:spcPct val="90000"/>
              </a:lnSpc>
              <a:spcBef>
                <a:spcPts val="1000"/>
              </a:spcBef>
              <a:spcAft>
                <a:spcPts val="0"/>
              </a:spcAft>
              <a:buClr>
                <a:srgbClr val="333333"/>
              </a:buClr>
              <a:buSzPts val="2800"/>
              <a:buChar char="•"/>
            </a:pPr>
            <a:r>
              <a:rPr b="0" i="0" lang="en-US">
                <a:solidFill>
                  <a:srgbClr val="333333"/>
                </a:solidFill>
                <a:highlight>
                  <a:srgbClr val="FFFFFF"/>
                </a:highlight>
              </a:rPr>
              <a:t>Spam detection is used to detect unwanted e-mails getting to a user's inbox.</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pic>
        <p:nvPicPr>
          <p:cNvPr id="120" name="Google Shape;120;p9"/>
          <p:cNvPicPr preferRelativeResize="0"/>
          <p:nvPr/>
        </p:nvPicPr>
        <p:blipFill rotWithShape="1">
          <a:blip r:embed="rId3">
            <a:alphaModFix/>
          </a:blip>
          <a:srcRect b="0" l="0" r="0" t="0"/>
          <a:stretch/>
        </p:blipFill>
        <p:spPr>
          <a:xfrm>
            <a:off x="3233840" y="2465068"/>
            <a:ext cx="6256581" cy="33855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0"/>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610B38"/>
              </a:buClr>
              <a:buSzPts val="3600"/>
              <a:buFont typeface="Arial"/>
              <a:buNone/>
            </a:pPr>
            <a:r>
              <a:rPr b="0" i="0" lang="en-US">
                <a:solidFill>
                  <a:srgbClr val="610B38"/>
                </a:solidFill>
                <a:highlight>
                  <a:srgbClr val="FFFFFF"/>
                </a:highlight>
                <a:latin typeface="Arial"/>
                <a:ea typeface="Arial"/>
                <a:cs typeface="Arial"/>
                <a:sym typeface="Arial"/>
              </a:rPr>
              <a:t>Applications of NLP…</a:t>
            </a:r>
            <a:endParaRPr/>
          </a:p>
        </p:txBody>
      </p:sp>
      <p:sp>
        <p:nvSpPr>
          <p:cNvPr id="126" name="Google Shape;126;p10"/>
          <p:cNvSpPr txBox="1"/>
          <p:nvPr>
            <p:ph idx="1" type="body"/>
          </p:nvPr>
        </p:nvSpPr>
        <p:spPr>
          <a:xfrm>
            <a:off x="786456" y="794657"/>
            <a:ext cx="10972800" cy="5023277"/>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333333"/>
              </a:buClr>
              <a:buSzPts val="2800"/>
              <a:buNone/>
            </a:pPr>
            <a:r>
              <a:rPr b="1" i="0" lang="en-US">
                <a:solidFill>
                  <a:srgbClr val="333333"/>
                </a:solidFill>
                <a:highlight>
                  <a:srgbClr val="FFFFFF"/>
                </a:highlight>
              </a:rPr>
              <a:t>3. Sentiment Analysis</a:t>
            </a:r>
            <a:endParaRPr b="0" i="0">
              <a:solidFill>
                <a:srgbClr val="333333"/>
              </a:solidFill>
              <a:highlight>
                <a:srgbClr val="FFFFFF"/>
              </a:highlight>
            </a:endParaRPr>
          </a:p>
          <a:p>
            <a:pPr indent="-285750" lvl="0" marL="285750" rtl="0" algn="just">
              <a:lnSpc>
                <a:spcPct val="90000"/>
              </a:lnSpc>
              <a:spcBef>
                <a:spcPts val="1000"/>
              </a:spcBef>
              <a:spcAft>
                <a:spcPts val="0"/>
              </a:spcAft>
              <a:buClr>
                <a:srgbClr val="333333"/>
              </a:buClr>
              <a:buSzPts val="2600"/>
              <a:buChar char="•"/>
            </a:pPr>
            <a:r>
              <a:rPr b="0" i="0" lang="en-US" sz="2600">
                <a:solidFill>
                  <a:srgbClr val="333333"/>
                </a:solidFill>
                <a:highlight>
                  <a:srgbClr val="FFFFFF"/>
                </a:highlight>
              </a:rPr>
              <a:t>Sentiment Analysis is also known as </a:t>
            </a:r>
            <a:r>
              <a:rPr b="1" i="0" lang="en-US" sz="2600">
                <a:solidFill>
                  <a:srgbClr val="333333"/>
                </a:solidFill>
                <a:highlight>
                  <a:srgbClr val="FFFFFF"/>
                </a:highlight>
              </a:rPr>
              <a:t>opinion mining</a:t>
            </a:r>
            <a:r>
              <a:rPr b="0" i="0" lang="en-US" sz="2600">
                <a:solidFill>
                  <a:srgbClr val="333333"/>
                </a:solidFill>
                <a:highlight>
                  <a:srgbClr val="FFFFFF"/>
                </a:highlight>
              </a:rPr>
              <a:t>. It is used on the web to analyze the attitude, behaviour, and emotional state of the sender. This application is implemented through a combination of NLP (Natural Language Processing) and statistics by assigning the values to the text (positive, negative, or natural), identify the mood of the context (happy, sad, angry, etc.)</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pic>
        <p:nvPicPr>
          <p:cNvPr id="127" name="Google Shape;127;p10"/>
          <p:cNvPicPr preferRelativeResize="0"/>
          <p:nvPr/>
        </p:nvPicPr>
        <p:blipFill rotWithShape="1">
          <a:blip r:embed="rId3">
            <a:alphaModFix/>
          </a:blip>
          <a:srcRect b="0" l="0" r="0" t="0"/>
          <a:stretch/>
        </p:blipFill>
        <p:spPr>
          <a:xfrm>
            <a:off x="3019278" y="3428999"/>
            <a:ext cx="6488862" cy="226422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1"/>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610B38"/>
              </a:buClr>
              <a:buSzPts val="3600"/>
              <a:buFont typeface="Arial"/>
              <a:buNone/>
            </a:pPr>
            <a:r>
              <a:rPr b="0" i="0" lang="en-US">
                <a:solidFill>
                  <a:srgbClr val="610B38"/>
                </a:solidFill>
                <a:highlight>
                  <a:srgbClr val="FFFFFF"/>
                </a:highlight>
                <a:latin typeface="Arial"/>
                <a:ea typeface="Arial"/>
                <a:cs typeface="Arial"/>
                <a:sym typeface="Arial"/>
              </a:rPr>
              <a:t>Applications of NLP…</a:t>
            </a:r>
            <a:endParaRPr/>
          </a:p>
        </p:txBody>
      </p:sp>
      <p:sp>
        <p:nvSpPr>
          <p:cNvPr id="133" name="Google Shape;133;p11"/>
          <p:cNvSpPr txBox="1"/>
          <p:nvPr>
            <p:ph idx="1" type="body"/>
          </p:nvPr>
        </p:nvSpPr>
        <p:spPr>
          <a:xfrm>
            <a:off x="827314" y="903514"/>
            <a:ext cx="10692456" cy="4947077"/>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333333"/>
              </a:buClr>
              <a:buSzPts val="2800"/>
              <a:buNone/>
            </a:pPr>
            <a:r>
              <a:rPr b="1" i="0" lang="en-US">
                <a:solidFill>
                  <a:srgbClr val="333333"/>
                </a:solidFill>
                <a:highlight>
                  <a:srgbClr val="FFFFFF"/>
                </a:highlight>
              </a:rPr>
              <a:t>4. Machine Translation</a:t>
            </a:r>
            <a:endParaRPr b="0" i="0">
              <a:solidFill>
                <a:srgbClr val="333333"/>
              </a:solidFill>
              <a:highlight>
                <a:srgbClr val="FFFFFF"/>
              </a:highlight>
            </a:endParaRPr>
          </a:p>
          <a:p>
            <a:pPr indent="-285750" lvl="0" marL="285750" rtl="0" algn="just">
              <a:lnSpc>
                <a:spcPct val="90000"/>
              </a:lnSpc>
              <a:spcBef>
                <a:spcPts val="1000"/>
              </a:spcBef>
              <a:spcAft>
                <a:spcPts val="0"/>
              </a:spcAft>
              <a:buClr>
                <a:srgbClr val="333333"/>
              </a:buClr>
              <a:buSzPts val="2600"/>
              <a:buChar char="•"/>
            </a:pPr>
            <a:r>
              <a:rPr b="0" i="0" lang="en-US" sz="2600">
                <a:solidFill>
                  <a:srgbClr val="333333"/>
                </a:solidFill>
                <a:highlight>
                  <a:srgbClr val="FFFFFF"/>
                </a:highlight>
              </a:rPr>
              <a:t>Machine translation is used to translate text or speech from one natural language to another natural language.</a:t>
            </a:r>
            <a:endParaRPr/>
          </a:p>
          <a:p>
            <a:pPr indent="-285750" lvl="0" marL="285750" rtl="0" algn="l">
              <a:lnSpc>
                <a:spcPct val="90000"/>
              </a:lnSpc>
              <a:spcBef>
                <a:spcPts val="1000"/>
              </a:spcBef>
              <a:spcAft>
                <a:spcPts val="0"/>
              </a:spcAft>
              <a:buClr>
                <a:srgbClr val="333333"/>
              </a:buClr>
              <a:buSzPts val="2600"/>
              <a:buFont typeface="Arial"/>
              <a:buChar char="•"/>
            </a:pPr>
            <a:r>
              <a:rPr b="1" i="0" lang="en-US" sz="2600">
                <a:solidFill>
                  <a:srgbClr val="333333"/>
                </a:solidFill>
                <a:highlight>
                  <a:srgbClr val="FFFFFF"/>
                </a:highlight>
              </a:rPr>
              <a:t>Example:</a:t>
            </a:r>
            <a:r>
              <a:rPr b="0" i="0" lang="en-US" sz="2600">
                <a:solidFill>
                  <a:srgbClr val="333333"/>
                </a:solidFill>
                <a:highlight>
                  <a:srgbClr val="FFFFFF"/>
                </a:highlight>
              </a:rPr>
              <a:t> Google Translator</a:t>
            </a:r>
            <a:endParaRPr/>
          </a:p>
          <a:p>
            <a:pPr indent="0" lvl="0" marL="0" rtl="0" algn="just">
              <a:lnSpc>
                <a:spcPct val="90000"/>
              </a:lnSpc>
              <a:spcBef>
                <a:spcPts val="1000"/>
              </a:spcBef>
              <a:spcAft>
                <a:spcPts val="0"/>
              </a:spcAft>
              <a:buClr>
                <a:srgbClr val="333333"/>
              </a:buClr>
              <a:buSzPts val="2800"/>
              <a:buNone/>
            </a:pPr>
            <a:r>
              <a:rPr b="1" i="0" lang="en-US">
                <a:solidFill>
                  <a:srgbClr val="333333"/>
                </a:solidFill>
                <a:highlight>
                  <a:srgbClr val="FFFFFF"/>
                </a:highlight>
              </a:rPr>
              <a:t>5. Spelling correction</a:t>
            </a:r>
            <a:endParaRPr b="0" i="0">
              <a:solidFill>
                <a:srgbClr val="333333"/>
              </a:solidFill>
              <a:highlight>
                <a:srgbClr val="FFFFFF"/>
              </a:highlight>
            </a:endParaRPr>
          </a:p>
          <a:p>
            <a:pPr indent="-285750" lvl="0" marL="285750" rtl="0" algn="just">
              <a:lnSpc>
                <a:spcPct val="90000"/>
              </a:lnSpc>
              <a:spcBef>
                <a:spcPts val="1000"/>
              </a:spcBef>
              <a:spcAft>
                <a:spcPts val="0"/>
              </a:spcAft>
              <a:buClr>
                <a:srgbClr val="333333"/>
              </a:buClr>
              <a:buSzPts val="2600"/>
              <a:buChar char="•"/>
            </a:pPr>
            <a:r>
              <a:rPr b="0" i="0" lang="en-US" sz="2600">
                <a:solidFill>
                  <a:srgbClr val="333333"/>
                </a:solidFill>
                <a:highlight>
                  <a:srgbClr val="FFFFFF"/>
                </a:highlight>
              </a:rPr>
              <a:t>Microsoft Corporation provides word processor software like MS-word, PowerPoint for the spelling correction.</a:t>
            </a:r>
            <a:endParaRPr/>
          </a:p>
          <a:p>
            <a:pPr indent="0" lvl="0" marL="0" rtl="0" algn="l">
              <a:lnSpc>
                <a:spcPct val="90000"/>
              </a:lnSpc>
              <a:spcBef>
                <a:spcPts val="1000"/>
              </a:spcBef>
              <a:spcAft>
                <a:spcPts val="0"/>
              </a:spcAft>
              <a:buClr>
                <a:schemeClr val="dk1"/>
              </a:buClr>
              <a:buSzPts val="2800"/>
              <a:buNone/>
            </a:pPr>
            <a:br>
              <a:rPr lang="en-US"/>
            </a:br>
            <a:endParaRPr/>
          </a:p>
        </p:txBody>
      </p:sp>
      <p:pic>
        <p:nvPicPr>
          <p:cNvPr id="134" name="Google Shape;134;p11"/>
          <p:cNvPicPr preferRelativeResize="0"/>
          <p:nvPr/>
        </p:nvPicPr>
        <p:blipFill rotWithShape="1">
          <a:blip r:embed="rId3">
            <a:alphaModFix/>
          </a:blip>
          <a:srcRect b="0" l="0" r="0" t="0"/>
          <a:stretch/>
        </p:blipFill>
        <p:spPr>
          <a:xfrm>
            <a:off x="2612571" y="4119566"/>
            <a:ext cx="7794172" cy="259521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2"/>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610B38"/>
              </a:buClr>
              <a:buSzPts val="3600"/>
              <a:buFont typeface="Arial"/>
              <a:buNone/>
            </a:pPr>
            <a:r>
              <a:rPr b="0" i="0" lang="en-US">
                <a:solidFill>
                  <a:srgbClr val="610B38"/>
                </a:solidFill>
                <a:highlight>
                  <a:srgbClr val="FFFFFF"/>
                </a:highlight>
                <a:latin typeface="Arial"/>
                <a:ea typeface="Arial"/>
                <a:cs typeface="Arial"/>
                <a:sym typeface="Arial"/>
              </a:rPr>
              <a:t>Applications of NLP…</a:t>
            </a:r>
            <a:endParaRPr/>
          </a:p>
        </p:txBody>
      </p:sp>
      <p:sp>
        <p:nvSpPr>
          <p:cNvPr id="140" name="Google Shape;140;p12"/>
          <p:cNvSpPr txBox="1"/>
          <p:nvPr>
            <p:ph idx="1" type="body"/>
          </p:nvPr>
        </p:nvSpPr>
        <p:spPr>
          <a:xfrm>
            <a:off x="936172" y="856538"/>
            <a:ext cx="10670684" cy="452596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333333"/>
              </a:buClr>
              <a:buSzPts val="2800"/>
              <a:buNone/>
            </a:pPr>
            <a:r>
              <a:rPr b="1" i="0" lang="en-US">
                <a:solidFill>
                  <a:srgbClr val="333333"/>
                </a:solidFill>
                <a:highlight>
                  <a:srgbClr val="FFFFFF"/>
                </a:highlight>
              </a:rPr>
              <a:t>6. Speech Recognition</a:t>
            </a:r>
            <a:endParaRPr b="0" i="0">
              <a:solidFill>
                <a:srgbClr val="333333"/>
              </a:solidFill>
              <a:highlight>
                <a:srgbClr val="FFFFFF"/>
              </a:highlight>
            </a:endParaRPr>
          </a:p>
          <a:p>
            <a:pPr indent="-285750" lvl="0" marL="285750" rtl="0" algn="just">
              <a:lnSpc>
                <a:spcPct val="90000"/>
              </a:lnSpc>
              <a:spcBef>
                <a:spcPts val="1000"/>
              </a:spcBef>
              <a:spcAft>
                <a:spcPts val="0"/>
              </a:spcAft>
              <a:buClr>
                <a:srgbClr val="333333"/>
              </a:buClr>
              <a:buSzPts val="2600"/>
              <a:buChar char="•"/>
            </a:pPr>
            <a:r>
              <a:rPr b="0" i="0" lang="en-US" sz="2600">
                <a:solidFill>
                  <a:srgbClr val="333333"/>
                </a:solidFill>
                <a:highlight>
                  <a:srgbClr val="FFFFFF"/>
                </a:highlight>
              </a:rPr>
              <a:t>Speech recognition is used for converting spoken words into text. It is used in applications, such as mobile, home automation, video recovery, dictating to Microsoft Word, voice biometrics, voice user interface, and so on.</a:t>
            </a:r>
            <a:endParaRPr/>
          </a:p>
          <a:p>
            <a:pPr indent="0" lvl="0" marL="0" rtl="0" algn="just">
              <a:lnSpc>
                <a:spcPct val="90000"/>
              </a:lnSpc>
              <a:spcBef>
                <a:spcPts val="1000"/>
              </a:spcBef>
              <a:spcAft>
                <a:spcPts val="0"/>
              </a:spcAft>
              <a:buClr>
                <a:srgbClr val="333333"/>
              </a:buClr>
              <a:buSzPts val="2800"/>
              <a:buNone/>
            </a:pPr>
            <a:r>
              <a:rPr b="1" lang="en-US">
                <a:solidFill>
                  <a:srgbClr val="333333"/>
                </a:solidFill>
                <a:highlight>
                  <a:srgbClr val="FFFFFF"/>
                </a:highlight>
              </a:rPr>
              <a:t>7. Chatbot</a:t>
            </a:r>
            <a:endParaRPr/>
          </a:p>
          <a:p>
            <a:pPr indent="-285750" lvl="0" marL="285750" rtl="0" algn="just">
              <a:lnSpc>
                <a:spcPct val="90000"/>
              </a:lnSpc>
              <a:spcBef>
                <a:spcPts val="1000"/>
              </a:spcBef>
              <a:spcAft>
                <a:spcPts val="0"/>
              </a:spcAft>
              <a:buClr>
                <a:srgbClr val="333333"/>
              </a:buClr>
              <a:buSzPts val="2600"/>
              <a:buChar char="•"/>
            </a:pPr>
            <a:r>
              <a:rPr lang="en-US" sz="2600">
                <a:solidFill>
                  <a:srgbClr val="333333"/>
                </a:solidFill>
                <a:highlight>
                  <a:srgbClr val="FFFFFF"/>
                </a:highlight>
              </a:rPr>
              <a:t>Implementing the Chatbot is one of the important applications of NLP. It is used by many companies to provide the customer's chat services.</a:t>
            </a:r>
            <a:endParaRPr/>
          </a:p>
          <a:p>
            <a:pPr indent="0" lvl="0" marL="0" rtl="0" algn="just">
              <a:lnSpc>
                <a:spcPct val="90000"/>
              </a:lnSpc>
              <a:spcBef>
                <a:spcPts val="1000"/>
              </a:spcBef>
              <a:spcAft>
                <a:spcPts val="0"/>
              </a:spcAft>
              <a:buClr>
                <a:schemeClr val="dk1"/>
              </a:buClr>
              <a:buSzPts val="2600"/>
              <a:buNone/>
            </a:pPr>
            <a:r>
              <a:t/>
            </a:r>
            <a:endParaRPr b="0" i="0" sz="2600">
              <a:solidFill>
                <a:srgbClr val="333333"/>
              </a:solidFill>
              <a:highlight>
                <a:srgbClr val="FFFFFF"/>
              </a:highlight>
            </a:endParaRPr>
          </a:p>
          <a:p>
            <a:pPr indent="-120650" lvl="0" marL="285750" rtl="0" algn="just">
              <a:lnSpc>
                <a:spcPct val="90000"/>
              </a:lnSpc>
              <a:spcBef>
                <a:spcPts val="1000"/>
              </a:spcBef>
              <a:spcAft>
                <a:spcPts val="0"/>
              </a:spcAft>
              <a:buClr>
                <a:schemeClr val="dk1"/>
              </a:buClr>
              <a:buSzPts val="2600"/>
              <a:buNone/>
            </a:pPr>
            <a:r>
              <a:t/>
            </a:r>
            <a:endParaRPr b="0" i="0" sz="2600">
              <a:solidFill>
                <a:srgbClr val="333333"/>
              </a:solidFill>
              <a:highlight>
                <a:srgbClr val="FFFFFF"/>
              </a:highlight>
            </a:endParaRPr>
          </a:p>
          <a:p>
            <a:pPr indent="-107950" lvl="0" marL="285750" rtl="0" algn="l">
              <a:lnSpc>
                <a:spcPct val="90000"/>
              </a:lnSpc>
              <a:spcBef>
                <a:spcPts val="1000"/>
              </a:spcBef>
              <a:spcAft>
                <a:spcPts val="0"/>
              </a:spcAft>
              <a:buClr>
                <a:schemeClr val="dk1"/>
              </a:buClr>
              <a:buSzPts val="2800"/>
              <a:buFont typeface="Arial"/>
              <a:buNone/>
            </a:pPr>
            <a:r>
              <a:t/>
            </a:r>
            <a:endParaRPr/>
          </a:p>
        </p:txBody>
      </p:sp>
      <p:pic>
        <p:nvPicPr>
          <p:cNvPr id="141" name="Google Shape;141;p12"/>
          <p:cNvPicPr preferRelativeResize="0"/>
          <p:nvPr/>
        </p:nvPicPr>
        <p:blipFill rotWithShape="1">
          <a:blip r:embed="rId3">
            <a:alphaModFix/>
          </a:blip>
          <a:srcRect b="0" l="0" r="0" t="0"/>
          <a:stretch/>
        </p:blipFill>
        <p:spPr>
          <a:xfrm>
            <a:off x="3668390" y="3828530"/>
            <a:ext cx="4180209" cy="296823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3"/>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610B38"/>
              </a:buClr>
              <a:buSzPts val="3600"/>
              <a:buFont typeface="Arial"/>
              <a:buNone/>
            </a:pPr>
            <a:r>
              <a:rPr b="0" i="0" lang="en-US">
                <a:solidFill>
                  <a:srgbClr val="610B38"/>
                </a:solidFill>
                <a:highlight>
                  <a:srgbClr val="FFFFFF"/>
                </a:highlight>
                <a:latin typeface="Arial"/>
                <a:ea typeface="Arial"/>
                <a:cs typeface="Arial"/>
                <a:sym typeface="Arial"/>
              </a:rPr>
              <a:t>Applications of NLP…</a:t>
            </a:r>
            <a:endParaRPr/>
          </a:p>
        </p:txBody>
      </p:sp>
      <p:sp>
        <p:nvSpPr>
          <p:cNvPr id="147" name="Google Shape;147;p13"/>
          <p:cNvSpPr txBox="1"/>
          <p:nvPr>
            <p:ph idx="1" type="body"/>
          </p:nvPr>
        </p:nvSpPr>
        <p:spPr>
          <a:xfrm>
            <a:off x="849086" y="1324628"/>
            <a:ext cx="10670684" cy="452596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333333"/>
              </a:buClr>
              <a:buSzPts val="2800"/>
              <a:buNone/>
            </a:pPr>
            <a:r>
              <a:rPr b="1" i="0" lang="en-US">
                <a:solidFill>
                  <a:srgbClr val="333333"/>
                </a:solidFill>
                <a:highlight>
                  <a:srgbClr val="FFFFFF"/>
                </a:highlight>
              </a:rPr>
              <a:t>8. Information extraction</a:t>
            </a:r>
            <a:endParaRPr b="0" i="0">
              <a:solidFill>
                <a:srgbClr val="333333"/>
              </a:solidFill>
              <a:highlight>
                <a:srgbClr val="FFFFFF"/>
              </a:highlight>
            </a:endParaRPr>
          </a:p>
          <a:p>
            <a:pPr indent="-285750" lvl="0" marL="285750" rtl="0" algn="just">
              <a:lnSpc>
                <a:spcPct val="90000"/>
              </a:lnSpc>
              <a:spcBef>
                <a:spcPts val="1000"/>
              </a:spcBef>
              <a:spcAft>
                <a:spcPts val="0"/>
              </a:spcAft>
              <a:buClr>
                <a:srgbClr val="333333"/>
              </a:buClr>
              <a:buSzPts val="2800"/>
              <a:buChar char="•"/>
            </a:pPr>
            <a:r>
              <a:rPr b="0" i="0" lang="en-US">
                <a:solidFill>
                  <a:srgbClr val="333333"/>
                </a:solidFill>
                <a:highlight>
                  <a:srgbClr val="FFFFFF"/>
                </a:highlight>
              </a:rPr>
              <a:t>Information extraction is one of the most important applications of NLP. It is used for extracting structured information from unstructured or semi-structured machine-readable documents.</a:t>
            </a:r>
            <a:endParaRPr/>
          </a:p>
          <a:p>
            <a:pPr indent="0" lvl="0" marL="0" rtl="0" algn="just">
              <a:lnSpc>
                <a:spcPct val="90000"/>
              </a:lnSpc>
              <a:spcBef>
                <a:spcPts val="1000"/>
              </a:spcBef>
              <a:spcAft>
                <a:spcPts val="0"/>
              </a:spcAft>
              <a:buClr>
                <a:srgbClr val="333333"/>
              </a:buClr>
              <a:buSzPts val="2800"/>
              <a:buNone/>
            </a:pPr>
            <a:r>
              <a:rPr b="1" i="0" lang="en-US">
                <a:solidFill>
                  <a:srgbClr val="333333"/>
                </a:solidFill>
                <a:highlight>
                  <a:srgbClr val="FFFFFF"/>
                </a:highlight>
              </a:rPr>
              <a:t>9. Natural Language Understanding (NLU)</a:t>
            </a:r>
            <a:endParaRPr b="0" i="0">
              <a:solidFill>
                <a:srgbClr val="333333"/>
              </a:solidFill>
              <a:highlight>
                <a:srgbClr val="FFFFFF"/>
              </a:highlight>
            </a:endParaRPr>
          </a:p>
          <a:p>
            <a:pPr indent="-285750" lvl="0" marL="285750" rtl="0" algn="just">
              <a:lnSpc>
                <a:spcPct val="90000"/>
              </a:lnSpc>
              <a:spcBef>
                <a:spcPts val="1000"/>
              </a:spcBef>
              <a:spcAft>
                <a:spcPts val="0"/>
              </a:spcAft>
              <a:buClr>
                <a:srgbClr val="333333"/>
              </a:buClr>
              <a:buSzPts val="2800"/>
              <a:buChar char="•"/>
            </a:pPr>
            <a:r>
              <a:rPr b="0" i="0" lang="en-US">
                <a:solidFill>
                  <a:srgbClr val="333333"/>
                </a:solidFill>
                <a:highlight>
                  <a:srgbClr val="FFFFFF"/>
                </a:highlight>
              </a:rPr>
              <a:t>It converts a large set of text into more formal representations such as first-order logic structures that are easier for the computer programs to manipulate notations of the natural language processing.</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4"/>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610B38"/>
              </a:buClr>
              <a:buSzPts val="3600"/>
              <a:buFont typeface="Arial"/>
              <a:buNone/>
            </a:pPr>
            <a:r>
              <a:rPr b="0" i="0" lang="en-US">
                <a:solidFill>
                  <a:srgbClr val="610B38"/>
                </a:solidFill>
                <a:highlight>
                  <a:srgbClr val="FFFFFF"/>
                </a:highlight>
                <a:latin typeface="Arial"/>
                <a:ea typeface="Arial"/>
                <a:cs typeface="Arial"/>
                <a:sym typeface="Arial"/>
              </a:rPr>
              <a:t>How to build an NLP pipeline?</a:t>
            </a:r>
            <a:br>
              <a:rPr b="0" i="0" lang="en-US">
                <a:solidFill>
                  <a:srgbClr val="610B38"/>
                </a:solidFill>
                <a:highlight>
                  <a:srgbClr val="FFFFFF"/>
                </a:highlight>
                <a:latin typeface="Arial"/>
                <a:ea typeface="Arial"/>
                <a:cs typeface="Arial"/>
                <a:sym typeface="Arial"/>
              </a:rPr>
            </a:br>
            <a:endParaRPr/>
          </a:p>
        </p:txBody>
      </p:sp>
      <p:sp>
        <p:nvSpPr>
          <p:cNvPr id="153" name="Google Shape;153;p14"/>
          <p:cNvSpPr txBox="1"/>
          <p:nvPr>
            <p:ph idx="1" type="body"/>
          </p:nvPr>
        </p:nvSpPr>
        <p:spPr>
          <a:xfrm>
            <a:off x="794657" y="816430"/>
            <a:ext cx="11125199" cy="5508170"/>
          </a:xfrm>
          <a:prstGeom prst="rect">
            <a:avLst/>
          </a:prstGeom>
          <a:noFill/>
          <a:ln>
            <a:noFill/>
          </a:ln>
        </p:spPr>
        <p:txBody>
          <a:bodyPr anchorCtr="0" anchor="t" bIns="45700" lIns="91425" spcFirstLastPara="1" rIns="91425" wrap="square" tIns="45700">
            <a:normAutofit fontScale="92500"/>
          </a:bodyPr>
          <a:lstStyle/>
          <a:p>
            <a:pPr indent="0" lvl="0" marL="0" rtl="0" algn="just">
              <a:lnSpc>
                <a:spcPct val="90000"/>
              </a:lnSpc>
              <a:spcBef>
                <a:spcPts val="0"/>
              </a:spcBef>
              <a:spcAft>
                <a:spcPts val="0"/>
              </a:spcAft>
              <a:buClr>
                <a:srgbClr val="333333"/>
              </a:buClr>
              <a:buSzPct val="100000"/>
              <a:buNone/>
            </a:pPr>
            <a:r>
              <a:rPr b="1" i="0" lang="en-US">
                <a:solidFill>
                  <a:srgbClr val="333333"/>
                </a:solidFill>
                <a:highlight>
                  <a:srgbClr val="FFFFFF"/>
                </a:highlight>
              </a:rPr>
              <a:t>Step1: Sentence Segmentation</a:t>
            </a:r>
            <a:endParaRPr b="0" i="0">
              <a:solidFill>
                <a:srgbClr val="333333"/>
              </a:solidFill>
              <a:highlight>
                <a:srgbClr val="FFFFFF"/>
              </a:highlight>
            </a:endParaRPr>
          </a:p>
          <a:p>
            <a:pPr indent="-285750" lvl="0" marL="285750" rtl="0" algn="just">
              <a:lnSpc>
                <a:spcPct val="90000"/>
              </a:lnSpc>
              <a:spcBef>
                <a:spcPts val="1000"/>
              </a:spcBef>
              <a:spcAft>
                <a:spcPts val="0"/>
              </a:spcAft>
              <a:buClr>
                <a:srgbClr val="333333"/>
              </a:buClr>
              <a:buSzPct val="100000"/>
              <a:buChar char="•"/>
            </a:pPr>
            <a:r>
              <a:rPr b="0" i="0" lang="en-US">
                <a:solidFill>
                  <a:srgbClr val="333333"/>
                </a:solidFill>
                <a:highlight>
                  <a:srgbClr val="FFFFFF"/>
                </a:highlight>
              </a:rPr>
              <a:t>Sentence Segment is the first step for building the NLP pipeline. It breaks the paragraph into separate sentences.</a:t>
            </a:r>
            <a:endParaRPr/>
          </a:p>
          <a:p>
            <a:pPr indent="0" lvl="0" marL="0" rtl="0" algn="just">
              <a:lnSpc>
                <a:spcPct val="90000"/>
              </a:lnSpc>
              <a:spcBef>
                <a:spcPts val="1000"/>
              </a:spcBef>
              <a:spcAft>
                <a:spcPts val="0"/>
              </a:spcAft>
              <a:buClr>
                <a:srgbClr val="333333"/>
              </a:buClr>
              <a:buSzPct val="100000"/>
              <a:buNone/>
            </a:pPr>
            <a:r>
              <a:rPr b="1" i="0" lang="en-US">
                <a:solidFill>
                  <a:srgbClr val="333333"/>
                </a:solidFill>
                <a:highlight>
                  <a:srgbClr val="FFFFFF"/>
                </a:highlight>
              </a:rPr>
              <a:t>Example:</a:t>
            </a:r>
            <a:r>
              <a:rPr b="0" i="0" lang="en-US">
                <a:solidFill>
                  <a:srgbClr val="333333"/>
                </a:solidFill>
                <a:highlight>
                  <a:srgbClr val="FFFFFF"/>
                </a:highlight>
              </a:rPr>
              <a:t> Consider the following paragraph -</a:t>
            </a:r>
            <a:endParaRPr/>
          </a:p>
          <a:p>
            <a:pPr indent="0" lvl="0" marL="0" rtl="0" algn="just">
              <a:lnSpc>
                <a:spcPct val="90000"/>
              </a:lnSpc>
              <a:spcBef>
                <a:spcPts val="1000"/>
              </a:spcBef>
              <a:spcAft>
                <a:spcPts val="0"/>
              </a:spcAft>
              <a:buClr>
                <a:srgbClr val="333333"/>
              </a:buClr>
              <a:buSzPct val="100000"/>
              <a:buNone/>
            </a:pPr>
            <a:r>
              <a:rPr i="1" lang="en-US">
                <a:solidFill>
                  <a:srgbClr val="333333"/>
                </a:solidFill>
                <a:highlight>
                  <a:srgbClr val="FFFFFF"/>
                </a:highlight>
              </a:rPr>
              <a:t>“Independence Day is one of the important festivals for every Indian citizen. It is celebrated on the 15th of August each year ever since India got independence from the British rule. The day celebrates independence in the true sense.”</a:t>
            </a:r>
            <a:endParaRPr/>
          </a:p>
          <a:p>
            <a:pPr indent="-285750" lvl="0" marL="285750" rtl="0" algn="just">
              <a:lnSpc>
                <a:spcPct val="90000"/>
              </a:lnSpc>
              <a:spcBef>
                <a:spcPts val="1000"/>
              </a:spcBef>
              <a:spcAft>
                <a:spcPts val="0"/>
              </a:spcAft>
              <a:buClr>
                <a:srgbClr val="333333"/>
              </a:buClr>
              <a:buSzPct val="100000"/>
              <a:buChar char="•"/>
            </a:pPr>
            <a:r>
              <a:rPr b="1" i="0" lang="en-US">
                <a:solidFill>
                  <a:srgbClr val="333333"/>
                </a:solidFill>
                <a:highlight>
                  <a:srgbClr val="FFFFFF"/>
                </a:highlight>
              </a:rPr>
              <a:t>Sentence Segment produces the following result:</a:t>
            </a:r>
            <a:endParaRPr b="0" i="0">
              <a:solidFill>
                <a:srgbClr val="333333"/>
              </a:solidFill>
              <a:highlight>
                <a:srgbClr val="FFFFFF"/>
              </a:highlight>
            </a:endParaRPr>
          </a:p>
          <a:p>
            <a:pPr indent="-285750" lvl="0" marL="285750" rtl="0" algn="just">
              <a:lnSpc>
                <a:spcPct val="90000"/>
              </a:lnSpc>
              <a:spcBef>
                <a:spcPts val="1000"/>
              </a:spcBef>
              <a:spcAft>
                <a:spcPts val="0"/>
              </a:spcAft>
              <a:buClr>
                <a:srgbClr val="000000"/>
              </a:buClr>
              <a:buSzPct val="100000"/>
              <a:buFont typeface="Calibri"/>
              <a:buAutoNum type="arabicPeriod"/>
            </a:pPr>
            <a:r>
              <a:rPr b="0" i="0" lang="en-US">
                <a:solidFill>
                  <a:srgbClr val="000000"/>
                </a:solidFill>
                <a:highlight>
                  <a:srgbClr val="FFFFFF"/>
                </a:highlight>
              </a:rPr>
              <a:t>"Independence Day is one of the important festivals for every Indian citizen."</a:t>
            </a:r>
            <a:endParaRPr/>
          </a:p>
          <a:p>
            <a:pPr indent="-285750" lvl="0" marL="285750" rtl="0" algn="just">
              <a:lnSpc>
                <a:spcPct val="90000"/>
              </a:lnSpc>
              <a:spcBef>
                <a:spcPts val="1000"/>
              </a:spcBef>
              <a:spcAft>
                <a:spcPts val="0"/>
              </a:spcAft>
              <a:buClr>
                <a:srgbClr val="000000"/>
              </a:buClr>
              <a:buSzPct val="100000"/>
              <a:buFont typeface="Calibri"/>
              <a:buAutoNum type="arabicPeriod"/>
            </a:pPr>
            <a:r>
              <a:rPr b="0" i="0" lang="en-US">
                <a:solidFill>
                  <a:srgbClr val="000000"/>
                </a:solidFill>
                <a:highlight>
                  <a:srgbClr val="FFFFFF"/>
                </a:highlight>
              </a:rPr>
              <a:t>"It is celebrated on the 15th of August each year ever since India got independence from the British rule."</a:t>
            </a:r>
            <a:endParaRPr/>
          </a:p>
          <a:p>
            <a:pPr indent="-285750" lvl="0" marL="285750" rtl="0" algn="just">
              <a:lnSpc>
                <a:spcPct val="90000"/>
              </a:lnSpc>
              <a:spcBef>
                <a:spcPts val="1000"/>
              </a:spcBef>
              <a:spcAft>
                <a:spcPts val="0"/>
              </a:spcAft>
              <a:buClr>
                <a:srgbClr val="000000"/>
              </a:buClr>
              <a:buSzPct val="100000"/>
              <a:buFont typeface="Calibri"/>
              <a:buAutoNum type="arabicPeriod"/>
            </a:pPr>
            <a:r>
              <a:rPr b="0" i="0" lang="en-US">
                <a:solidFill>
                  <a:srgbClr val="000000"/>
                </a:solidFill>
                <a:highlight>
                  <a:srgbClr val="FFFFFF"/>
                </a:highlight>
              </a:rPr>
              <a:t>"This day celebrates independence in the true sense."</a:t>
            </a:r>
            <a:endParaRPr/>
          </a:p>
          <a:p>
            <a:pPr indent="-121285" lvl="0" marL="285750" rtl="0" algn="l">
              <a:lnSpc>
                <a:spcPct val="90000"/>
              </a:lnSpc>
              <a:spcBef>
                <a:spcPts val="1000"/>
              </a:spcBef>
              <a:spcAft>
                <a:spcPts val="0"/>
              </a:spcAft>
              <a:buClr>
                <a:schemeClr val="dk1"/>
              </a:buClr>
              <a:buSzPct val="100000"/>
              <a:buFont typeface="Arial"/>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610B38"/>
              </a:buClr>
              <a:buSzPts val="3600"/>
              <a:buFont typeface="Arial"/>
              <a:buNone/>
            </a:pPr>
            <a:r>
              <a:rPr b="0" i="0" lang="en-US">
                <a:solidFill>
                  <a:srgbClr val="610B38"/>
                </a:solidFill>
                <a:highlight>
                  <a:srgbClr val="FFFFFF"/>
                </a:highlight>
                <a:latin typeface="Arial"/>
                <a:ea typeface="Arial"/>
                <a:cs typeface="Arial"/>
                <a:sym typeface="Arial"/>
              </a:rPr>
              <a:t>How to build an NLP pipeline?...</a:t>
            </a:r>
            <a:endParaRPr/>
          </a:p>
        </p:txBody>
      </p:sp>
      <p:sp>
        <p:nvSpPr>
          <p:cNvPr id="159" name="Google Shape;159;p15"/>
          <p:cNvSpPr txBox="1"/>
          <p:nvPr>
            <p:ph idx="1" type="body"/>
          </p:nvPr>
        </p:nvSpPr>
        <p:spPr>
          <a:xfrm>
            <a:off x="979714" y="1324628"/>
            <a:ext cx="10907486" cy="452596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333333"/>
              </a:buClr>
              <a:buSzPts val="2800"/>
              <a:buNone/>
            </a:pPr>
            <a:r>
              <a:rPr b="1" i="0" lang="en-US">
                <a:solidFill>
                  <a:srgbClr val="333333"/>
                </a:solidFill>
                <a:highlight>
                  <a:srgbClr val="FFFFFF"/>
                </a:highlight>
              </a:rPr>
              <a:t>Step2: Word Tokenization</a:t>
            </a:r>
            <a:endParaRPr b="0" i="0">
              <a:solidFill>
                <a:srgbClr val="333333"/>
              </a:solidFill>
              <a:highlight>
                <a:srgbClr val="FFFFFF"/>
              </a:highlight>
            </a:endParaRPr>
          </a:p>
          <a:p>
            <a:pPr indent="-285750" lvl="0" marL="285750" rtl="0" algn="just">
              <a:lnSpc>
                <a:spcPct val="90000"/>
              </a:lnSpc>
              <a:spcBef>
                <a:spcPts val="1000"/>
              </a:spcBef>
              <a:spcAft>
                <a:spcPts val="0"/>
              </a:spcAft>
              <a:buClr>
                <a:srgbClr val="333333"/>
              </a:buClr>
              <a:buSzPts val="2800"/>
              <a:buChar char="•"/>
            </a:pPr>
            <a:r>
              <a:rPr b="0" i="0" lang="en-US">
                <a:solidFill>
                  <a:srgbClr val="333333"/>
                </a:solidFill>
                <a:highlight>
                  <a:srgbClr val="FFFFFF"/>
                </a:highlight>
              </a:rPr>
              <a:t>Word Tokenizer is used to break the sentence into separate words or tokens.</a:t>
            </a:r>
            <a:endParaRPr/>
          </a:p>
          <a:p>
            <a:pPr indent="0" lvl="0" marL="0" rtl="0" algn="just">
              <a:lnSpc>
                <a:spcPct val="90000"/>
              </a:lnSpc>
              <a:spcBef>
                <a:spcPts val="1000"/>
              </a:spcBef>
              <a:spcAft>
                <a:spcPts val="0"/>
              </a:spcAft>
              <a:buClr>
                <a:srgbClr val="333333"/>
              </a:buClr>
              <a:buSzPts val="2800"/>
              <a:buNone/>
            </a:pPr>
            <a:r>
              <a:rPr b="1" i="0" lang="en-US">
                <a:solidFill>
                  <a:srgbClr val="333333"/>
                </a:solidFill>
                <a:highlight>
                  <a:srgbClr val="FFFFFF"/>
                </a:highlight>
              </a:rPr>
              <a:t>Example:</a:t>
            </a:r>
            <a:endParaRPr b="0" i="0">
              <a:solidFill>
                <a:srgbClr val="333333"/>
              </a:solidFill>
              <a:highlight>
                <a:srgbClr val="FFFFFF"/>
              </a:highlight>
            </a:endParaRPr>
          </a:p>
          <a:p>
            <a:pPr indent="-285750" lvl="0" marL="285750" rtl="0" algn="just">
              <a:lnSpc>
                <a:spcPct val="90000"/>
              </a:lnSpc>
              <a:spcBef>
                <a:spcPts val="1000"/>
              </a:spcBef>
              <a:spcAft>
                <a:spcPts val="0"/>
              </a:spcAft>
              <a:buClr>
                <a:srgbClr val="333333"/>
              </a:buClr>
              <a:buSzPts val="2800"/>
              <a:buChar char="•"/>
            </a:pPr>
            <a:r>
              <a:rPr lang="en-US">
                <a:solidFill>
                  <a:srgbClr val="333333"/>
                </a:solidFill>
                <a:highlight>
                  <a:srgbClr val="FFFFFF"/>
                </a:highlight>
              </a:rPr>
              <a:t>XYZ</a:t>
            </a:r>
            <a:r>
              <a:rPr b="0" i="0" lang="en-US">
                <a:solidFill>
                  <a:srgbClr val="333333"/>
                </a:solidFill>
                <a:highlight>
                  <a:srgbClr val="FFFFFF"/>
                </a:highlight>
              </a:rPr>
              <a:t> offers Corporate Training, Summer Training, Online Training, and Winter Training.</a:t>
            </a:r>
            <a:endParaRPr/>
          </a:p>
          <a:p>
            <a:pPr indent="-285750" lvl="0" marL="285750" rtl="0" algn="just">
              <a:lnSpc>
                <a:spcPct val="90000"/>
              </a:lnSpc>
              <a:spcBef>
                <a:spcPts val="1000"/>
              </a:spcBef>
              <a:spcAft>
                <a:spcPts val="0"/>
              </a:spcAft>
              <a:buClr>
                <a:srgbClr val="333333"/>
              </a:buClr>
              <a:buSzPts val="2800"/>
              <a:buChar char="•"/>
            </a:pPr>
            <a:r>
              <a:rPr b="0" i="0" lang="en-US">
                <a:solidFill>
                  <a:srgbClr val="333333"/>
                </a:solidFill>
                <a:highlight>
                  <a:srgbClr val="FFFFFF"/>
                </a:highlight>
              </a:rPr>
              <a:t>Word Tokenizer generates the following result:</a:t>
            </a:r>
            <a:endParaRPr/>
          </a:p>
          <a:p>
            <a:pPr indent="-285750" lvl="0" marL="285750" rtl="0" algn="just">
              <a:lnSpc>
                <a:spcPct val="90000"/>
              </a:lnSpc>
              <a:spcBef>
                <a:spcPts val="1000"/>
              </a:spcBef>
              <a:spcAft>
                <a:spcPts val="0"/>
              </a:spcAft>
              <a:buClr>
                <a:srgbClr val="333333"/>
              </a:buClr>
              <a:buSzPts val="2800"/>
              <a:buChar char="•"/>
            </a:pPr>
            <a:r>
              <a:rPr b="0" i="0" lang="en-US">
                <a:solidFill>
                  <a:srgbClr val="333333"/>
                </a:solidFill>
                <a:highlight>
                  <a:srgbClr val="FFFFFF"/>
                </a:highlight>
              </a:rPr>
              <a:t>“XYZ", "offers", "Corporate", "Training", "Summer", "Training", "Online", "Training", "and", "Winter", "Training", "."</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6"/>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610B38"/>
              </a:buClr>
              <a:buSzPts val="3600"/>
              <a:buFont typeface="Arial"/>
              <a:buNone/>
            </a:pPr>
            <a:r>
              <a:rPr b="0" i="0" lang="en-US">
                <a:solidFill>
                  <a:srgbClr val="610B38"/>
                </a:solidFill>
                <a:highlight>
                  <a:srgbClr val="FFFFFF"/>
                </a:highlight>
                <a:latin typeface="Arial"/>
                <a:ea typeface="Arial"/>
                <a:cs typeface="Arial"/>
                <a:sym typeface="Arial"/>
              </a:rPr>
              <a:t>How to build an NLP pipeline?...</a:t>
            </a:r>
            <a:endParaRPr/>
          </a:p>
        </p:txBody>
      </p:sp>
      <p:sp>
        <p:nvSpPr>
          <p:cNvPr id="165" name="Google Shape;165;p16"/>
          <p:cNvSpPr txBox="1"/>
          <p:nvPr>
            <p:ph idx="1" type="body"/>
          </p:nvPr>
        </p:nvSpPr>
        <p:spPr>
          <a:xfrm>
            <a:off x="859970" y="1324628"/>
            <a:ext cx="10659799" cy="452596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333333"/>
              </a:buClr>
              <a:buSzPts val="2800"/>
              <a:buNone/>
            </a:pPr>
            <a:r>
              <a:rPr b="1" i="0" lang="en-US">
                <a:solidFill>
                  <a:srgbClr val="333333"/>
                </a:solidFill>
                <a:highlight>
                  <a:srgbClr val="FFFFFF"/>
                </a:highlight>
              </a:rPr>
              <a:t>Step3: Stemming</a:t>
            </a:r>
            <a:endParaRPr b="0" i="0">
              <a:solidFill>
                <a:srgbClr val="333333"/>
              </a:solidFill>
              <a:highlight>
                <a:srgbClr val="FFFFFF"/>
              </a:highlight>
            </a:endParaRPr>
          </a:p>
          <a:p>
            <a:pPr indent="-285750" lvl="0" marL="285750" rtl="0" algn="just">
              <a:lnSpc>
                <a:spcPct val="90000"/>
              </a:lnSpc>
              <a:spcBef>
                <a:spcPts val="1000"/>
              </a:spcBef>
              <a:spcAft>
                <a:spcPts val="0"/>
              </a:spcAft>
              <a:buClr>
                <a:srgbClr val="333333"/>
              </a:buClr>
              <a:buSzPts val="2800"/>
              <a:buChar char="•"/>
            </a:pPr>
            <a:r>
              <a:rPr b="0" i="0" lang="en-US">
                <a:solidFill>
                  <a:srgbClr val="333333"/>
                </a:solidFill>
                <a:highlight>
                  <a:srgbClr val="FFFFFF"/>
                </a:highlight>
              </a:rPr>
              <a:t>Stemming is used to normalize words into its base form or root form. For example, celebrates, celebrated and celebrating, all these words are originated with a single root word "celebrate." The big problem with stemming is that sometimes it produces the root word which may not have any meaning.</a:t>
            </a:r>
            <a:endParaRPr/>
          </a:p>
          <a:p>
            <a:pPr indent="-285750" lvl="0" marL="285750" rtl="0" algn="just">
              <a:lnSpc>
                <a:spcPct val="90000"/>
              </a:lnSpc>
              <a:spcBef>
                <a:spcPts val="1000"/>
              </a:spcBef>
              <a:spcAft>
                <a:spcPts val="0"/>
              </a:spcAft>
              <a:buClr>
                <a:srgbClr val="333333"/>
              </a:buClr>
              <a:buSzPts val="2800"/>
              <a:buChar char="•"/>
            </a:pPr>
            <a:r>
              <a:rPr b="1" i="0" lang="en-US">
                <a:solidFill>
                  <a:srgbClr val="333333"/>
                </a:solidFill>
                <a:highlight>
                  <a:srgbClr val="FFFFFF"/>
                </a:highlight>
              </a:rPr>
              <a:t>For Example,</a:t>
            </a:r>
            <a:r>
              <a:rPr b="0" i="0" lang="en-US">
                <a:solidFill>
                  <a:srgbClr val="333333"/>
                </a:solidFill>
                <a:highlight>
                  <a:srgbClr val="FFFFFF"/>
                </a:highlight>
              </a:rPr>
              <a:t> intelligence, intelligent, and intelligently, all these words are originated with a single root word "intelligen." In English, the word "intelligen" do not have any meaning.</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7"/>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610B38"/>
              </a:buClr>
              <a:buSzPts val="3600"/>
              <a:buFont typeface="Arial"/>
              <a:buNone/>
            </a:pPr>
            <a:r>
              <a:rPr b="0" i="0" lang="en-US">
                <a:solidFill>
                  <a:srgbClr val="610B38"/>
                </a:solidFill>
                <a:highlight>
                  <a:srgbClr val="FFFFFF"/>
                </a:highlight>
                <a:latin typeface="Arial"/>
                <a:ea typeface="Arial"/>
                <a:cs typeface="Arial"/>
                <a:sym typeface="Arial"/>
              </a:rPr>
              <a:t>How to build an NLP pipeline?...</a:t>
            </a:r>
            <a:endParaRPr/>
          </a:p>
        </p:txBody>
      </p:sp>
      <p:sp>
        <p:nvSpPr>
          <p:cNvPr id="171" name="Google Shape;171;p17"/>
          <p:cNvSpPr txBox="1"/>
          <p:nvPr>
            <p:ph idx="1" type="body"/>
          </p:nvPr>
        </p:nvSpPr>
        <p:spPr>
          <a:xfrm>
            <a:off x="838200" y="1324628"/>
            <a:ext cx="10681570" cy="452596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333333"/>
              </a:buClr>
              <a:buSzPts val="2800"/>
              <a:buNone/>
            </a:pPr>
            <a:r>
              <a:rPr b="1" i="0" lang="en-US">
                <a:solidFill>
                  <a:srgbClr val="333333"/>
                </a:solidFill>
                <a:highlight>
                  <a:srgbClr val="FFFFFF"/>
                </a:highlight>
              </a:rPr>
              <a:t>Step 4: Lemmatization</a:t>
            </a:r>
            <a:endParaRPr b="0" i="0">
              <a:solidFill>
                <a:srgbClr val="333333"/>
              </a:solidFill>
              <a:highlight>
                <a:srgbClr val="FFFFFF"/>
              </a:highlight>
            </a:endParaRPr>
          </a:p>
          <a:p>
            <a:pPr indent="-285750" lvl="0" marL="285750" rtl="0" algn="just">
              <a:lnSpc>
                <a:spcPct val="90000"/>
              </a:lnSpc>
              <a:spcBef>
                <a:spcPts val="1000"/>
              </a:spcBef>
              <a:spcAft>
                <a:spcPts val="0"/>
              </a:spcAft>
              <a:buClr>
                <a:srgbClr val="333333"/>
              </a:buClr>
              <a:buSzPts val="2800"/>
              <a:buChar char="•"/>
            </a:pPr>
            <a:r>
              <a:rPr b="0" i="0" lang="en-US">
                <a:solidFill>
                  <a:srgbClr val="333333"/>
                </a:solidFill>
                <a:highlight>
                  <a:srgbClr val="FFFFFF"/>
                </a:highlight>
              </a:rPr>
              <a:t>Lemmatization is quite similar to the Stamming. It is used to group different inflected forms of the word, called Lemma. The main difference between Stemming and lemmatization is that it produces the root word, which has a meaning.</a:t>
            </a:r>
            <a:endParaRPr/>
          </a:p>
          <a:p>
            <a:pPr indent="-285750" lvl="0" marL="285750" rtl="0" algn="just">
              <a:lnSpc>
                <a:spcPct val="90000"/>
              </a:lnSpc>
              <a:spcBef>
                <a:spcPts val="1000"/>
              </a:spcBef>
              <a:spcAft>
                <a:spcPts val="0"/>
              </a:spcAft>
              <a:buClr>
                <a:srgbClr val="333333"/>
              </a:buClr>
              <a:buSzPts val="2800"/>
              <a:buChar char="•"/>
            </a:pPr>
            <a:r>
              <a:rPr b="1" i="0" lang="en-US">
                <a:solidFill>
                  <a:srgbClr val="333333"/>
                </a:solidFill>
                <a:highlight>
                  <a:srgbClr val="FFFFFF"/>
                </a:highlight>
              </a:rPr>
              <a:t>For example:</a:t>
            </a:r>
            <a:r>
              <a:rPr b="0" i="0" lang="en-US">
                <a:solidFill>
                  <a:srgbClr val="333333"/>
                </a:solidFill>
                <a:highlight>
                  <a:srgbClr val="FFFFFF"/>
                </a:highlight>
              </a:rPr>
              <a:t> In lemmatization, the words intelligence, intelligent, and intelligently has a root word intelligent, which has a meaning.</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8"/>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610B38"/>
              </a:buClr>
              <a:buSzPts val="3600"/>
              <a:buFont typeface="Arial"/>
              <a:buNone/>
            </a:pPr>
            <a:r>
              <a:rPr b="0" i="0" lang="en-US">
                <a:solidFill>
                  <a:srgbClr val="610B38"/>
                </a:solidFill>
                <a:highlight>
                  <a:srgbClr val="FFFFFF"/>
                </a:highlight>
                <a:latin typeface="Arial"/>
                <a:ea typeface="Arial"/>
                <a:cs typeface="Arial"/>
                <a:sym typeface="Arial"/>
              </a:rPr>
              <a:t>How to build an NLP pipeline?...</a:t>
            </a:r>
            <a:endParaRPr/>
          </a:p>
        </p:txBody>
      </p:sp>
      <p:sp>
        <p:nvSpPr>
          <p:cNvPr id="177" name="Google Shape;177;p18"/>
          <p:cNvSpPr txBox="1"/>
          <p:nvPr>
            <p:ph idx="1" type="body"/>
          </p:nvPr>
        </p:nvSpPr>
        <p:spPr>
          <a:xfrm>
            <a:off x="827314" y="1324628"/>
            <a:ext cx="10692456" cy="452596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333333"/>
              </a:buClr>
              <a:buSzPts val="2800"/>
              <a:buNone/>
            </a:pPr>
            <a:r>
              <a:rPr b="1" i="0" lang="en-US">
                <a:solidFill>
                  <a:srgbClr val="333333"/>
                </a:solidFill>
                <a:highlight>
                  <a:srgbClr val="FFFFFF"/>
                </a:highlight>
              </a:rPr>
              <a:t>Step 5: Identifying Stop Words</a:t>
            </a:r>
            <a:endParaRPr b="0" i="0">
              <a:solidFill>
                <a:srgbClr val="333333"/>
              </a:solidFill>
              <a:highlight>
                <a:srgbClr val="FFFFFF"/>
              </a:highlight>
            </a:endParaRPr>
          </a:p>
          <a:p>
            <a:pPr indent="-285750" lvl="0" marL="285750" rtl="0" algn="just">
              <a:lnSpc>
                <a:spcPct val="90000"/>
              </a:lnSpc>
              <a:spcBef>
                <a:spcPts val="1000"/>
              </a:spcBef>
              <a:spcAft>
                <a:spcPts val="0"/>
              </a:spcAft>
              <a:buClr>
                <a:srgbClr val="333333"/>
              </a:buClr>
              <a:buSzPts val="2800"/>
              <a:buChar char="•"/>
            </a:pPr>
            <a:r>
              <a:rPr b="0" i="0" lang="en-US">
                <a:solidFill>
                  <a:srgbClr val="333333"/>
                </a:solidFill>
                <a:highlight>
                  <a:srgbClr val="FFFFFF"/>
                </a:highlight>
              </a:rPr>
              <a:t>In English, there are a lot of words that appear very frequently like "is", "and", "the", and "a". NLP pipelines will flag these words as stop words. </a:t>
            </a:r>
            <a:r>
              <a:rPr b="1" i="0" lang="en-US">
                <a:solidFill>
                  <a:srgbClr val="333333"/>
                </a:solidFill>
                <a:highlight>
                  <a:srgbClr val="FFFFFF"/>
                </a:highlight>
              </a:rPr>
              <a:t>Stop words</a:t>
            </a:r>
            <a:r>
              <a:rPr b="0" i="0" lang="en-US">
                <a:solidFill>
                  <a:srgbClr val="333333"/>
                </a:solidFill>
                <a:highlight>
                  <a:srgbClr val="FFFFFF"/>
                </a:highlight>
              </a:rPr>
              <a:t> might be filtered out before doing any statistical analysis.</a:t>
            </a:r>
            <a:endParaRPr/>
          </a:p>
          <a:p>
            <a:pPr indent="-285750" lvl="0" marL="285750" rtl="0" algn="just">
              <a:lnSpc>
                <a:spcPct val="90000"/>
              </a:lnSpc>
              <a:spcBef>
                <a:spcPts val="1000"/>
              </a:spcBef>
              <a:spcAft>
                <a:spcPts val="0"/>
              </a:spcAft>
              <a:buClr>
                <a:srgbClr val="333333"/>
              </a:buClr>
              <a:buSzPts val="2800"/>
              <a:buChar char="•"/>
            </a:pPr>
            <a:r>
              <a:rPr b="1" i="0" lang="en-US">
                <a:solidFill>
                  <a:srgbClr val="333333"/>
                </a:solidFill>
                <a:highlight>
                  <a:srgbClr val="FFFFFF"/>
                </a:highlight>
              </a:rPr>
              <a:t>Example:</a:t>
            </a:r>
            <a:r>
              <a:rPr b="0" i="0" lang="en-US">
                <a:solidFill>
                  <a:srgbClr val="333333"/>
                </a:solidFill>
                <a:highlight>
                  <a:srgbClr val="FFFFFF"/>
                </a:highlight>
              </a:rPr>
              <a:t> He </a:t>
            </a:r>
            <a:r>
              <a:rPr b="1" i="0" lang="en-US">
                <a:solidFill>
                  <a:srgbClr val="333333"/>
                </a:solidFill>
                <a:highlight>
                  <a:srgbClr val="FFFFFF"/>
                </a:highlight>
              </a:rPr>
              <a:t>is a</a:t>
            </a:r>
            <a:r>
              <a:rPr b="0" i="0" lang="en-US">
                <a:solidFill>
                  <a:srgbClr val="333333"/>
                </a:solidFill>
                <a:highlight>
                  <a:srgbClr val="FFFFFF"/>
                </a:highlight>
              </a:rPr>
              <a:t> good boy.</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9"/>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610B38"/>
              </a:buClr>
              <a:buSzPts val="3600"/>
              <a:buFont typeface="Arial"/>
              <a:buNone/>
            </a:pPr>
            <a:r>
              <a:rPr b="0" i="0" lang="en-US">
                <a:solidFill>
                  <a:srgbClr val="610B38"/>
                </a:solidFill>
                <a:highlight>
                  <a:srgbClr val="FFFFFF"/>
                </a:highlight>
                <a:latin typeface="Arial"/>
                <a:ea typeface="Arial"/>
                <a:cs typeface="Arial"/>
                <a:sym typeface="Arial"/>
              </a:rPr>
              <a:t>How to build an NLP pipeline?...</a:t>
            </a:r>
            <a:endParaRPr/>
          </a:p>
        </p:txBody>
      </p:sp>
      <p:sp>
        <p:nvSpPr>
          <p:cNvPr id="183" name="Google Shape;183;p19"/>
          <p:cNvSpPr txBox="1"/>
          <p:nvPr>
            <p:ph idx="1" type="body"/>
          </p:nvPr>
        </p:nvSpPr>
        <p:spPr>
          <a:xfrm>
            <a:off x="794656" y="1324628"/>
            <a:ext cx="11092544" cy="4525963"/>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0"/>
              </a:spcBef>
              <a:spcAft>
                <a:spcPts val="0"/>
              </a:spcAft>
              <a:buClr>
                <a:srgbClr val="333333"/>
              </a:buClr>
              <a:buSzPts val="2800"/>
              <a:buNone/>
            </a:pPr>
            <a:r>
              <a:rPr b="1" i="0" lang="en-US">
                <a:solidFill>
                  <a:srgbClr val="333333"/>
                </a:solidFill>
                <a:highlight>
                  <a:srgbClr val="FFFFFF"/>
                </a:highlight>
              </a:rPr>
              <a:t>Step 6: Dependency Parsing</a:t>
            </a:r>
            <a:endParaRPr b="0" i="0">
              <a:solidFill>
                <a:srgbClr val="333333"/>
              </a:solidFill>
              <a:highlight>
                <a:srgbClr val="FFFFFF"/>
              </a:highlight>
            </a:endParaRPr>
          </a:p>
          <a:p>
            <a:pPr indent="-285750" lvl="0" marL="285750" rtl="0" algn="just">
              <a:lnSpc>
                <a:spcPct val="90000"/>
              </a:lnSpc>
              <a:spcBef>
                <a:spcPts val="1000"/>
              </a:spcBef>
              <a:spcAft>
                <a:spcPts val="0"/>
              </a:spcAft>
              <a:buClr>
                <a:srgbClr val="333333"/>
              </a:buClr>
              <a:buSzPts val="2800"/>
              <a:buChar char="•"/>
            </a:pPr>
            <a:r>
              <a:rPr b="0" i="0" lang="en-US">
                <a:solidFill>
                  <a:srgbClr val="333333"/>
                </a:solidFill>
                <a:highlight>
                  <a:srgbClr val="FFFFFF"/>
                </a:highlight>
              </a:rPr>
              <a:t>Dependency Parsing is used to find that how all the words in the sentence are related to each other.</a:t>
            </a:r>
            <a:endParaRPr/>
          </a:p>
          <a:p>
            <a:pPr indent="0" lvl="0" marL="0" rtl="0" algn="just">
              <a:lnSpc>
                <a:spcPct val="90000"/>
              </a:lnSpc>
              <a:spcBef>
                <a:spcPts val="1000"/>
              </a:spcBef>
              <a:spcAft>
                <a:spcPts val="0"/>
              </a:spcAft>
              <a:buClr>
                <a:srgbClr val="333333"/>
              </a:buClr>
              <a:buSzPts val="2800"/>
              <a:buNone/>
            </a:pPr>
            <a:r>
              <a:rPr b="1" i="0" lang="en-US">
                <a:solidFill>
                  <a:srgbClr val="333333"/>
                </a:solidFill>
                <a:highlight>
                  <a:srgbClr val="FFFFFF"/>
                </a:highlight>
              </a:rPr>
              <a:t>Step 7: POS tags</a:t>
            </a:r>
            <a:endParaRPr b="0" i="0">
              <a:solidFill>
                <a:srgbClr val="333333"/>
              </a:solidFill>
              <a:highlight>
                <a:srgbClr val="FFFFFF"/>
              </a:highlight>
            </a:endParaRPr>
          </a:p>
          <a:p>
            <a:pPr indent="-285750" lvl="0" marL="285750" rtl="0" algn="just">
              <a:lnSpc>
                <a:spcPct val="90000"/>
              </a:lnSpc>
              <a:spcBef>
                <a:spcPts val="1000"/>
              </a:spcBef>
              <a:spcAft>
                <a:spcPts val="0"/>
              </a:spcAft>
              <a:buClr>
                <a:srgbClr val="333333"/>
              </a:buClr>
              <a:buSzPts val="2800"/>
              <a:buChar char="•"/>
            </a:pPr>
            <a:r>
              <a:rPr b="0" i="0" lang="en-US">
                <a:solidFill>
                  <a:srgbClr val="333333"/>
                </a:solidFill>
                <a:highlight>
                  <a:srgbClr val="FFFFFF"/>
                </a:highlight>
              </a:rPr>
              <a:t>POS stands for parts of speech, which includes Noun, verb, adverb, and Adjective. It indicates that how a word functions with its meaning as well as grammatically within the sentences. A word has one or more parts of speech based on the context in which it is used.</a:t>
            </a:r>
            <a:endParaRPr/>
          </a:p>
          <a:p>
            <a:pPr indent="-285750" lvl="0" marL="285750" rtl="0" algn="just">
              <a:lnSpc>
                <a:spcPct val="90000"/>
              </a:lnSpc>
              <a:spcBef>
                <a:spcPts val="1000"/>
              </a:spcBef>
              <a:spcAft>
                <a:spcPts val="0"/>
              </a:spcAft>
              <a:buClr>
                <a:srgbClr val="333333"/>
              </a:buClr>
              <a:buSzPts val="2800"/>
              <a:buChar char="•"/>
            </a:pPr>
            <a:r>
              <a:rPr b="1" i="0" lang="en-US">
                <a:solidFill>
                  <a:srgbClr val="333333"/>
                </a:solidFill>
                <a:highlight>
                  <a:srgbClr val="FFFFFF"/>
                </a:highlight>
              </a:rPr>
              <a:t>Example: "Google"</a:t>
            </a:r>
            <a:r>
              <a:rPr b="0" i="0" lang="en-US">
                <a:solidFill>
                  <a:srgbClr val="333333"/>
                </a:solidFill>
                <a:highlight>
                  <a:srgbClr val="FFFFFF"/>
                </a:highlight>
              </a:rPr>
              <a:t> something on the Internet.</a:t>
            </a:r>
            <a:endParaRPr/>
          </a:p>
          <a:p>
            <a:pPr indent="-285750" lvl="0" marL="285750" rtl="0" algn="just">
              <a:lnSpc>
                <a:spcPct val="90000"/>
              </a:lnSpc>
              <a:spcBef>
                <a:spcPts val="1000"/>
              </a:spcBef>
              <a:spcAft>
                <a:spcPts val="0"/>
              </a:spcAft>
              <a:buClr>
                <a:srgbClr val="333333"/>
              </a:buClr>
              <a:buSzPts val="2800"/>
              <a:buChar char="•"/>
            </a:pPr>
            <a:r>
              <a:rPr b="0" i="0" lang="en-US">
                <a:solidFill>
                  <a:srgbClr val="333333"/>
                </a:solidFill>
                <a:highlight>
                  <a:srgbClr val="FFFFFF"/>
                </a:highlight>
              </a:rPr>
              <a:t>In the above example, Google is used as a verb, although it is a proper noun.</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0"/>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610B38"/>
              </a:buClr>
              <a:buSzPts val="3600"/>
              <a:buFont typeface="Arial"/>
              <a:buNone/>
            </a:pPr>
            <a:r>
              <a:rPr b="0" i="0" lang="en-US">
                <a:solidFill>
                  <a:srgbClr val="610B38"/>
                </a:solidFill>
                <a:highlight>
                  <a:srgbClr val="FFFFFF"/>
                </a:highlight>
                <a:latin typeface="Arial"/>
                <a:ea typeface="Arial"/>
                <a:cs typeface="Arial"/>
                <a:sym typeface="Arial"/>
              </a:rPr>
              <a:t>How to build an NLP pipeline?...</a:t>
            </a:r>
            <a:endParaRPr/>
          </a:p>
        </p:txBody>
      </p:sp>
      <p:sp>
        <p:nvSpPr>
          <p:cNvPr id="189" name="Google Shape;189;p20"/>
          <p:cNvSpPr txBox="1"/>
          <p:nvPr>
            <p:ph idx="1" type="body"/>
          </p:nvPr>
        </p:nvSpPr>
        <p:spPr>
          <a:xfrm>
            <a:off x="881742" y="1324628"/>
            <a:ext cx="11027229" cy="452596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333333"/>
              </a:buClr>
              <a:buSzPts val="2800"/>
              <a:buNone/>
            </a:pPr>
            <a:r>
              <a:rPr b="1" i="0" lang="en-US">
                <a:solidFill>
                  <a:srgbClr val="333333"/>
                </a:solidFill>
                <a:highlight>
                  <a:srgbClr val="FFFFFF"/>
                </a:highlight>
              </a:rPr>
              <a:t>Step 8: Named Entity Recognition (NER)</a:t>
            </a:r>
            <a:endParaRPr b="0" i="0">
              <a:solidFill>
                <a:srgbClr val="333333"/>
              </a:solidFill>
              <a:highlight>
                <a:srgbClr val="FFFFFF"/>
              </a:highlight>
            </a:endParaRPr>
          </a:p>
          <a:p>
            <a:pPr indent="-285750" lvl="0" marL="285750" rtl="0" algn="just">
              <a:lnSpc>
                <a:spcPct val="90000"/>
              </a:lnSpc>
              <a:spcBef>
                <a:spcPts val="1000"/>
              </a:spcBef>
              <a:spcAft>
                <a:spcPts val="0"/>
              </a:spcAft>
              <a:buClr>
                <a:srgbClr val="333333"/>
              </a:buClr>
              <a:buSzPts val="2800"/>
              <a:buChar char="•"/>
            </a:pPr>
            <a:r>
              <a:rPr b="0" i="0" lang="en-US">
                <a:solidFill>
                  <a:srgbClr val="333333"/>
                </a:solidFill>
                <a:highlight>
                  <a:srgbClr val="FFFFFF"/>
                </a:highlight>
              </a:rPr>
              <a:t>Named Entity Recognition (NER) is the process of detecting the named entity such as person name, movie name, organization name, or location.</a:t>
            </a:r>
            <a:endParaRPr/>
          </a:p>
          <a:p>
            <a:pPr indent="-285750" lvl="0" marL="285750" rtl="0" algn="just">
              <a:lnSpc>
                <a:spcPct val="90000"/>
              </a:lnSpc>
              <a:spcBef>
                <a:spcPts val="1000"/>
              </a:spcBef>
              <a:spcAft>
                <a:spcPts val="0"/>
              </a:spcAft>
              <a:buClr>
                <a:srgbClr val="333333"/>
              </a:buClr>
              <a:buSzPts val="2800"/>
              <a:buChar char="•"/>
            </a:pPr>
            <a:r>
              <a:rPr b="1" i="0" lang="en-US">
                <a:solidFill>
                  <a:srgbClr val="333333"/>
                </a:solidFill>
                <a:highlight>
                  <a:srgbClr val="FFFFFF"/>
                </a:highlight>
              </a:rPr>
              <a:t>Example: Steve Jobs</a:t>
            </a:r>
            <a:r>
              <a:rPr b="0" i="0" lang="en-US">
                <a:solidFill>
                  <a:srgbClr val="333333"/>
                </a:solidFill>
                <a:highlight>
                  <a:srgbClr val="FFFFFF"/>
                </a:highlight>
              </a:rPr>
              <a:t> introduced iPhone at the Macworld Conference in San Francisco, California.</a:t>
            </a:r>
            <a:endParaRPr/>
          </a:p>
          <a:p>
            <a:pPr indent="0" lvl="0" marL="0" rtl="0" algn="just">
              <a:lnSpc>
                <a:spcPct val="90000"/>
              </a:lnSpc>
              <a:spcBef>
                <a:spcPts val="1000"/>
              </a:spcBef>
              <a:spcAft>
                <a:spcPts val="0"/>
              </a:spcAft>
              <a:buClr>
                <a:srgbClr val="333333"/>
              </a:buClr>
              <a:buSzPts val="2800"/>
              <a:buNone/>
            </a:pPr>
            <a:r>
              <a:rPr b="1" i="0" lang="en-US">
                <a:solidFill>
                  <a:srgbClr val="333333"/>
                </a:solidFill>
                <a:highlight>
                  <a:srgbClr val="FFFFFF"/>
                </a:highlight>
              </a:rPr>
              <a:t>Step 9: Chunking</a:t>
            </a:r>
            <a:endParaRPr b="0" i="0">
              <a:solidFill>
                <a:srgbClr val="333333"/>
              </a:solidFill>
              <a:highlight>
                <a:srgbClr val="FFFFFF"/>
              </a:highlight>
            </a:endParaRPr>
          </a:p>
          <a:p>
            <a:pPr indent="-285750" lvl="0" marL="285750" rtl="0" algn="just">
              <a:lnSpc>
                <a:spcPct val="90000"/>
              </a:lnSpc>
              <a:spcBef>
                <a:spcPts val="1000"/>
              </a:spcBef>
              <a:spcAft>
                <a:spcPts val="0"/>
              </a:spcAft>
              <a:buClr>
                <a:srgbClr val="333333"/>
              </a:buClr>
              <a:buSzPts val="2800"/>
              <a:buChar char="•"/>
            </a:pPr>
            <a:r>
              <a:rPr b="0" i="0" lang="en-US">
                <a:solidFill>
                  <a:srgbClr val="333333"/>
                </a:solidFill>
                <a:highlight>
                  <a:srgbClr val="FFFFFF"/>
                </a:highlight>
              </a:rPr>
              <a:t>Chunking is used to collect the individual piece of information and grouping them into bigger pieces of sentences.</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1"/>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610B38"/>
              </a:buClr>
              <a:buSzPts val="3200"/>
              <a:buFont typeface="Times New Roman"/>
              <a:buNone/>
            </a:pPr>
            <a:r>
              <a:rPr b="0" i="0" lang="en-US" sz="3200">
                <a:solidFill>
                  <a:srgbClr val="610B38"/>
                </a:solidFill>
                <a:highlight>
                  <a:srgbClr val="FFFFFF"/>
                </a:highlight>
              </a:rPr>
              <a:t>Phases of NLP</a:t>
            </a:r>
            <a:br>
              <a:rPr b="0" i="0" lang="en-US" sz="3200">
                <a:solidFill>
                  <a:srgbClr val="610B38"/>
                </a:solidFill>
                <a:highlight>
                  <a:srgbClr val="FFFFFF"/>
                </a:highlight>
              </a:rPr>
            </a:br>
            <a:endParaRPr sz="3200"/>
          </a:p>
        </p:txBody>
      </p:sp>
      <p:sp>
        <p:nvSpPr>
          <p:cNvPr id="195" name="Google Shape;195;p21"/>
          <p:cNvSpPr txBox="1"/>
          <p:nvPr/>
        </p:nvSpPr>
        <p:spPr>
          <a:xfrm>
            <a:off x="4925291" y="5754008"/>
            <a:ext cx="3102428" cy="96949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900" u="none" cap="none" strike="noStrike">
                <a:solidFill>
                  <a:srgbClr val="333333"/>
                </a:solidFill>
                <a:highlight>
                  <a:srgbClr val="FFFFFF"/>
                </a:highlight>
                <a:latin typeface="Times New Roman"/>
                <a:ea typeface="Times New Roman"/>
                <a:cs typeface="Times New Roman"/>
                <a:sym typeface="Times New Roman"/>
              </a:rPr>
              <a:t>Figure: Phases of NLP</a:t>
            </a:r>
            <a:endParaRPr/>
          </a:p>
          <a:p>
            <a:pPr indent="0" lvl="0" marL="0" marR="0" rtl="0" algn="l">
              <a:spcBef>
                <a:spcPts val="0"/>
              </a:spcBef>
              <a:spcAft>
                <a:spcPts val="0"/>
              </a:spcAft>
              <a:buNone/>
            </a:pPr>
            <a:br>
              <a:rPr lang="en-US" sz="1900">
                <a:solidFill>
                  <a:schemeClr val="dk1"/>
                </a:solidFill>
                <a:latin typeface="Times New Roman"/>
                <a:ea typeface="Times New Roman"/>
                <a:cs typeface="Times New Roman"/>
                <a:sym typeface="Times New Roman"/>
              </a:rPr>
            </a:br>
            <a:endParaRPr sz="1900">
              <a:solidFill>
                <a:schemeClr val="dk1"/>
              </a:solidFill>
              <a:latin typeface="Times New Roman"/>
              <a:ea typeface="Times New Roman"/>
              <a:cs typeface="Times New Roman"/>
              <a:sym typeface="Times New Roman"/>
            </a:endParaRPr>
          </a:p>
        </p:txBody>
      </p:sp>
      <p:sp>
        <p:nvSpPr>
          <p:cNvPr id="196" name="Google Shape;196;p21"/>
          <p:cNvSpPr/>
          <p:nvPr/>
        </p:nvSpPr>
        <p:spPr>
          <a:xfrm>
            <a:off x="977735" y="1089767"/>
            <a:ext cx="2827315" cy="1570306"/>
          </a:xfrm>
          <a:prstGeom prst="rect">
            <a:avLst/>
          </a:prstGeom>
          <a:gradFill>
            <a:gsLst>
              <a:gs pos="0">
                <a:srgbClr val="F7BCA2"/>
              </a:gs>
              <a:gs pos="50000">
                <a:srgbClr val="F4B093"/>
              </a:gs>
              <a:gs pos="100000">
                <a:srgbClr val="F7A47F"/>
              </a:gs>
            </a:gsLst>
            <a:lin ang="5400000" scaled="0"/>
          </a:grad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00">
                <a:solidFill>
                  <a:schemeClr val="dk1"/>
                </a:solidFill>
                <a:latin typeface="Times New Roman"/>
                <a:ea typeface="Times New Roman"/>
                <a:cs typeface="Times New Roman"/>
                <a:sym typeface="Times New Roman"/>
              </a:rPr>
              <a:t>Phonetics and Phonology</a:t>
            </a:r>
            <a:endParaRPr/>
          </a:p>
          <a:p>
            <a:pPr indent="-285750" lvl="0" marL="285750" marR="0" rtl="0" algn="l">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Speech Sounds</a:t>
            </a:r>
            <a:endParaRPr/>
          </a:p>
          <a:p>
            <a:pPr indent="-285750" lvl="0" marL="285750" marR="0" rtl="0" algn="l">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Phonemes</a:t>
            </a:r>
            <a:endParaRPr/>
          </a:p>
        </p:txBody>
      </p:sp>
      <p:sp>
        <p:nvSpPr>
          <p:cNvPr id="197" name="Google Shape;197;p21"/>
          <p:cNvSpPr/>
          <p:nvPr/>
        </p:nvSpPr>
        <p:spPr>
          <a:xfrm>
            <a:off x="838201" y="3851179"/>
            <a:ext cx="2546267" cy="1570306"/>
          </a:xfrm>
          <a:prstGeom prst="rect">
            <a:avLst/>
          </a:prstGeom>
          <a:gradFill>
            <a:gsLst>
              <a:gs pos="0">
                <a:srgbClr val="A6B6DE"/>
              </a:gs>
              <a:gs pos="50000">
                <a:srgbClr val="98AAD9"/>
              </a:gs>
              <a:gs pos="100000">
                <a:srgbClr val="859CD7"/>
              </a:gs>
            </a:gsLst>
            <a:lin ang="5400000" scaled="0"/>
          </a:gradFill>
          <a:ln cap="flat" cmpd="sng" w="381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00">
                <a:solidFill>
                  <a:schemeClr val="dk1"/>
                </a:solidFill>
                <a:latin typeface="Times New Roman"/>
                <a:ea typeface="Times New Roman"/>
                <a:cs typeface="Times New Roman"/>
                <a:sym typeface="Times New Roman"/>
              </a:rPr>
              <a:t>Discourse</a:t>
            </a:r>
            <a:endParaRPr/>
          </a:p>
          <a:p>
            <a:pPr indent="-285750" lvl="0" marL="285750" marR="0" rtl="0" algn="l">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Anaphora Resolution</a:t>
            </a:r>
            <a:endParaRPr/>
          </a:p>
          <a:p>
            <a:pPr indent="-285750" lvl="0" marL="285750" marR="0" rtl="0" algn="l">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Coherence</a:t>
            </a:r>
            <a:endParaRPr/>
          </a:p>
          <a:p>
            <a:pPr indent="-285750" lvl="0" marL="285750" marR="0" rtl="0" algn="l">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Discourse Parsing</a:t>
            </a:r>
            <a:endParaRPr/>
          </a:p>
        </p:txBody>
      </p:sp>
      <p:sp>
        <p:nvSpPr>
          <p:cNvPr id="198" name="Google Shape;198;p21"/>
          <p:cNvSpPr/>
          <p:nvPr/>
        </p:nvSpPr>
        <p:spPr>
          <a:xfrm>
            <a:off x="6375069" y="3851179"/>
            <a:ext cx="2546265" cy="1570306"/>
          </a:xfrm>
          <a:prstGeom prst="rect">
            <a:avLst/>
          </a:prstGeom>
          <a:gradFill>
            <a:gsLst>
              <a:gs pos="0">
                <a:srgbClr val="B4D4A5"/>
              </a:gs>
              <a:gs pos="50000">
                <a:srgbClr val="A8CD97"/>
              </a:gs>
              <a:gs pos="100000">
                <a:srgbClr val="9BC985"/>
              </a:gs>
            </a:gsLst>
            <a:lin ang="5400000" scaled="0"/>
          </a:gradFill>
          <a:ln cap="flat" cmpd="sng" w="3810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00">
                <a:solidFill>
                  <a:schemeClr val="dk1"/>
                </a:solidFill>
                <a:latin typeface="Times New Roman"/>
                <a:ea typeface="Times New Roman"/>
                <a:cs typeface="Times New Roman"/>
                <a:sym typeface="Times New Roman"/>
              </a:rPr>
              <a:t>Semantic Analysis</a:t>
            </a:r>
            <a:endParaRPr/>
          </a:p>
          <a:p>
            <a:pPr indent="-285750" lvl="0" marL="285750" marR="0" rtl="0" algn="l">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Word Sense</a:t>
            </a:r>
            <a:endParaRPr/>
          </a:p>
          <a:p>
            <a:pPr indent="-285750" lvl="0" marL="285750" marR="0" rtl="0" algn="l">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Thematic Roles</a:t>
            </a:r>
            <a:endParaRPr/>
          </a:p>
          <a:p>
            <a:pPr indent="-285750" lvl="0" marL="285750" marR="0" rtl="0" algn="l">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Semantic Parsing</a:t>
            </a:r>
            <a:endParaRPr/>
          </a:p>
        </p:txBody>
      </p:sp>
      <p:sp>
        <p:nvSpPr>
          <p:cNvPr id="199" name="Google Shape;199;p21"/>
          <p:cNvSpPr/>
          <p:nvPr/>
        </p:nvSpPr>
        <p:spPr>
          <a:xfrm>
            <a:off x="5033158" y="1089767"/>
            <a:ext cx="2546266" cy="1570306"/>
          </a:xfrm>
          <a:prstGeom prst="rect">
            <a:avLst/>
          </a:prstGeom>
          <a:gradFill>
            <a:gsLst>
              <a:gs pos="0">
                <a:srgbClr val="B0CAE9"/>
              </a:gs>
              <a:gs pos="50000">
                <a:srgbClr val="A1C1E4"/>
              </a:gs>
              <a:gs pos="100000">
                <a:srgbClr val="90B8E4"/>
              </a:gs>
            </a:gsLst>
            <a:lin ang="5400000" scaled="0"/>
          </a:grad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00">
                <a:solidFill>
                  <a:schemeClr val="dk1"/>
                </a:solidFill>
                <a:latin typeface="Times New Roman"/>
                <a:ea typeface="Times New Roman"/>
                <a:cs typeface="Times New Roman"/>
                <a:sym typeface="Times New Roman"/>
              </a:rPr>
              <a:t>Morphology</a:t>
            </a:r>
            <a:endParaRPr/>
          </a:p>
          <a:p>
            <a:pPr indent="-285750" lvl="0" marL="285750" marR="0" rtl="0" algn="l">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Word Structure</a:t>
            </a:r>
            <a:endParaRPr/>
          </a:p>
          <a:p>
            <a:pPr indent="-285750" lvl="0" marL="285750" marR="0" rtl="0" algn="l">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Morphemes</a:t>
            </a:r>
            <a:endParaRPr/>
          </a:p>
        </p:txBody>
      </p:sp>
      <p:sp>
        <p:nvSpPr>
          <p:cNvPr id="200" name="Google Shape;200;p21"/>
          <p:cNvSpPr/>
          <p:nvPr/>
        </p:nvSpPr>
        <p:spPr>
          <a:xfrm>
            <a:off x="8807532" y="1089767"/>
            <a:ext cx="2406733" cy="1570306"/>
          </a:xfrm>
          <a:prstGeom prst="rect">
            <a:avLst/>
          </a:prstGeom>
          <a:gradFill>
            <a:gsLst>
              <a:gs pos="0">
                <a:srgbClr val="D1D1D1"/>
              </a:gs>
              <a:gs pos="50000">
                <a:srgbClr val="C7C7C7"/>
              </a:gs>
              <a:gs pos="100000">
                <a:srgbClr val="C0C0C0"/>
              </a:gs>
            </a:gsLst>
            <a:lin ang="5400000" scaled="0"/>
          </a:gradFill>
          <a:ln cap="flat" cmpd="sng" w="381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00">
                <a:solidFill>
                  <a:schemeClr val="dk1"/>
                </a:solidFill>
                <a:latin typeface="Times New Roman"/>
                <a:ea typeface="Times New Roman"/>
                <a:cs typeface="Times New Roman"/>
                <a:sym typeface="Times New Roman"/>
              </a:rPr>
              <a:t>Lexical Analysis</a:t>
            </a:r>
            <a:endParaRPr/>
          </a:p>
          <a:p>
            <a:pPr indent="-285750" lvl="0" marL="285750" marR="0" rtl="0" algn="l">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Tokenization</a:t>
            </a:r>
            <a:endParaRPr/>
          </a:p>
          <a:p>
            <a:pPr indent="-285750" lvl="0" marL="285750" marR="0" rtl="0" algn="l">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POS tagging</a:t>
            </a:r>
            <a:endParaRPr/>
          </a:p>
          <a:p>
            <a:pPr indent="-285750" lvl="0" marL="285750" marR="0" rtl="0" algn="l">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NER</a:t>
            </a:r>
            <a:endParaRPr/>
          </a:p>
        </p:txBody>
      </p:sp>
      <p:sp>
        <p:nvSpPr>
          <p:cNvPr id="201" name="Google Shape;201;p21"/>
          <p:cNvSpPr/>
          <p:nvPr/>
        </p:nvSpPr>
        <p:spPr>
          <a:xfrm>
            <a:off x="9326087" y="3851179"/>
            <a:ext cx="2489861" cy="1570306"/>
          </a:xfrm>
          <a:prstGeom prst="rect">
            <a:avLst/>
          </a:prstGeom>
          <a:gradFill>
            <a:gsLst>
              <a:gs pos="0">
                <a:srgbClr val="FFDC9B"/>
              </a:gs>
              <a:gs pos="50000">
                <a:srgbClr val="FFD68D"/>
              </a:gs>
              <a:gs pos="100000">
                <a:srgbClr val="FFD478"/>
              </a:gs>
            </a:gsLst>
            <a:lin ang="5400000" scaled="0"/>
          </a:gradFill>
          <a:ln cap="flat" cmpd="sng" w="381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00">
                <a:solidFill>
                  <a:schemeClr val="dk1"/>
                </a:solidFill>
                <a:latin typeface="Times New Roman"/>
                <a:ea typeface="Times New Roman"/>
                <a:cs typeface="Times New Roman"/>
                <a:sym typeface="Times New Roman"/>
              </a:rPr>
              <a:t>Syntactic Analysis</a:t>
            </a:r>
            <a:endParaRPr/>
          </a:p>
          <a:p>
            <a:pPr indent="-285750" lvl="0" marL="285750" marR="0" rtl="0" algn="l">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Parsing</a:t>
            </a:r>
            <a:endParaRPr/>
          </a:p>
          <a:p>
            <a:pPr indent="-285750" lvl="0" marL="285750" marR="0" rtl="0" algn="l">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Syntax Trees</a:t>
            </a:r>
            <a:endParaRPr/>
          </a:p>
        </p:txBody>
      </p:sp>
      <p:sp>
        <p:nvSpPr>
          <p:cNvPr id="202" name="Google Shape;202;p21"/>
          <p:cNvSpPr/>
          <p:nvPr/>
        </p:nvSpPr>
        <p:spPr>
          <a:xfrm>
            <a:off x="3681350" y="3851179"/>
            <a:ext cx="2285010" cy="1570306"/>
          </a:xfrm>
          <a:prstGeom prst="rect">
            <a:avLst/>
          </a:prstGeom>
          <a:gradFill>
            <a:gsLst>
              <a:gs pos="0">
                <a:srgbClr val="9A9A9A"/>
              </a:gs>
              <a:gs pos="50000">
                <a:srgbClr val="8D8D8D"/>
              </a:gs>
              <a:gs pos="100000">
                <a:srgbClr val="787878"/>
              </a:gs>
            </a:gsLst>
            <a:lin ang="5400000" scaled="0"/>
          </a:grad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00">
                <a:solidFill>
                  <a:schemeClr val="dk1"/>
                </a:solidFill>
                <a:latin typeface="Times New Roman"/>
                <a:ea typeface="Times New Roman"/>
                <a:cs typeface="Times New Roman"/>
                <a:sym typeface="Times New Roman"/>
              </a:rPr>
              <a:t>Pragmatics</a:t>
            </a:r>
            <a:endParaRPr/>
          </a:p>
          <a:p>
            <a:pPr indent="-285750" lvl="0" marL="285750" marR="0" rtl="0" algn="l">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Context</a:t>
            </a:r>
            <a:endParaRPr/>
          </a:p>
          <a:p>
            <a:pPr indent="-285750" lvl="0" marL="285750" marR="0" rtl="0" algn="l">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Speech Acts</a:t>
            </a:r>
            <a:endParaRPr/>
          </a:p>
          <a:p>
            <a:pPr indent="-285750" lvl="0" marL="285750" marR="0" rtl="0" algn="l">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Implicature</a:t>
            </a:r>
            <a:endParaRPr/>
          </a:p>
        </p:txBody>
      </p:sp>
      <p:sp>
        <p:nvSpPr>
          <p:cNvPr id="203" name="Google Shape;203;p21"/>
          <p:cNvSpPr/>
          <p:nvPr/>
        </p:nvSpPr>
        <p:spPr>
          <a:xfrm>
            <a:off x="3805049" y="1785122"/>
            <a:ext cx="1228109" cy="293060"/>
          </a:xfrm>
          <a:prstGeom prst="rightArrow">
            <a:avLst>
              <a:gd fmla="val 50000" name="adj1"/>
              <a:gd fmla="val 50000" name="adj2"/>
            </a:avLst>
          </a:prstGeom>
          <a:solidFill>
            <a:srgbClr val="FF0000"/>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900">
              <a:solidFill>
                <a:schemeClr val="lt1"/>
              </a:solidFill>
              <a:latin typeface="Times New Roman"/>
              <a:ea typeface="Times New Roman"/>
              <a:cs typeface="Times New Roman"/>
              <a:sym typeface="Times New Roman"/>
            </a:endParaRPr>
          </a:p>
        </p:txBody>
      </p:sp>
      <p:sp>
        <p:nvSpPr>
          <p:cNvPr id="204" name="Google Shape;204;p21"/>
          <p:cNvSpPr/>
          <p:nvPr/>
        </p:nvSpPr>
        <p:spPr>
          <a:xfrm>
            <a:off x="7579424" y="1797396"/>
            <a:ext cx="1228109" cy="293060"/>
          </a:xfrm>
          <a:prstGeom prst="rightArrow">
            <a:avLst>
              <a:gd fmla="val 50000" name="adj1"/>
              <a:gd fmla="val 50000" name="adj2"/>
            </a:avLst>
          </a:prstGeom>
          <a:solidFill>
            <a:srgbClr val="FF0000"/>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900">
              <a:solidFill>
                <a:schemeClr val="lt1"/>
              </a:solidFill>
              <a:latin typeface="Times New Roman"/>
              <a:ea typeface="Times New Roman"/>
              <a:cs typeface="Times New Roman"/>
              <a:sym typeface="Times New Roman"/>
            </a:endParaRPr>
          </a:p>
        </p:txBody>
      </p:sp>
      <p:sp>
        <p:nvSpPr>
          <p:cNvPr id="205" name="Google Shape;205;p21"/>
          <p:cNvSpPr/>
          <p:nvPr/>
        </p:nvSpPr>
        <p:spPr>
          <a:xfrm>
            <a:off x="10571017" y="2660073"/>
            <a:ext cx="271154" cy="1191106"/>
          </a:xfrm>
          <a:prstGeom prst="downArrow">
            <a:avLst>
              <a:gd fmla="val 50000" name="adj1"/>
              <a:gd fmla="val 50000" name="adj2"/>
            </a:avLst>
          </a:prstGeom>
          <a:solidFill>
            <a:srgbClr val="FF0000"/>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900">
              <a:solidFill>
                <a:schemeClr val="lt1"/>
              </a:solidFill>
              <a:latin typeface="Times New Roman"/>
              <a:ea typeface="Times New Roman"/>
              <a:cs typeface="Times New Roman"/>
              <a:sym typeface="Times New Roman"/>
            </a:endParaRPr>
          </a:p>
        </p:txBody>
      </p:sp>
      <p:sp>
        <p:nvSpPr>
          <p:cNvPr id="206" name="Google Shape;206;p21"/>
          <p:cNvSpPr/>
          <p:nvPr/>
        </p:nvSpPr>
        <p:spPr>
          <a:xfrm>
            <a:off x="8933209" y="4420796"/>
            <a:ext cx="392878" cy="234331"/>
          </a:xfrm>
          <a:prstGeom prst="leftArrow">
            <a:avLst>
              <a:gd fmla="val 50000" name="adj1"/>
              <a:gd fmla="val 50000" name="adj2"/>
            </a:avLst>
          </a:prstGeom>
          <a:solidFill>
            <a:srgbClr val="FF0000"/>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900">
              <a:solidFill>
                <a:schemeClr val="lt1"/>
              </a:solidFill>
              <a:latin typeface="Times New Roman"/>
              <a:ea typeface="Times New Roman"/>
              <a:cs typeface="Times New Roman"/>
              <a:sym typeface="Times New Roman"/>
            </a:endParaRPr>
          </a:p>
        </p:txBody>
      </p:sp>
      <p:sp>
        <p:nvSpPr>
          <p:cNvPr id="207" name="Google Shape;207;p21"/>
          <p:cNvSpPr/>
          <p:nvPr/>
        </p:nvSpPr>
        <p:spPr>
          <a:xfrm>
            <a:off x="5974276" y="4430693"/>
            <a:ext cx="392878" cy="234331"/>
          </a:xfrm>
          <a:prstGeom prst="leftArrow">
            <a:avLst>
              <a:gd fmla="val 50000" name="adj1"/>
              <a:gd fmla="val 50000" name="adj2"/>
            </a:avLst>
          </a:prstGeom>
          <a:solidFill>
            <a:srgbClr val="FF0000"/>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900">
              <a:solidFill>
                <a:schemeClr val="lt1"/>
              </a:solidFill>
              <a:latin typeface="Times New Roman"/>
              <a:ea typeface="Times New Roman"/>
              <a:cs typeface="Times New Roman"/>
              <a:sym typeface="Times New Roman"/>
            </a:endParaRPr>
          </a:p>
        </p:txBody>
      </p:sp>
      <p:sp>
        <p:nvSpPr>
          <p:cNvPr id="208" name="Google Shape;208;p21"/>
          <p:cNvSpPr/>
          <p:nvPr/>
        </p:nvSpPr>
        <p:spPr>
          <a:xfrm>
            <a:off x="3407231" y="4428716"/>
            <a:ext cx="250369" cy="226412"/>
          </a:xfrm>
          <a:prstGeom prst="leftArrow">
            <a:avLst>
              <a:gd fmla="val 50000" name="adj1"/>
              <a:gd fmla="val 50000" name="adj2"/>
            </a:avLst>
          </a:prstGeom>
          <a:solidFill>
            <a:srgbClr val="FF0000"/>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9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2"/>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610B38"/>
              </a:buClr>
              <a:buSzPts val="3600"/>
              <a:buFont typeface="Arial"/>
              <a:buNone/>
            </a:pPr>
            <a:r>
              <a:rPr b="0" i="0" lang="en-US">
                <a:solidFill>
                  <a:srgbClr val="610B38"/>
                </a:solidFill>
                <a:highlight>
                  <a:srgbClr val="FFFFFF"/>
                </a:highlight>
                <a:latin typeface="Arial"/>
                <a:ea typeface="Arial"/>
                <a:cs typeface="Arial"/>
                <a:sym typeface="Arial"/>
              </a:rPr>
              <a:t>Phases of NLP…</a:t>
            </a:r>
            <a:endParaRPr/>
          </a:p>
        </p:txBody>
      </p:sp>
      <p:sp>
        <p:nvSpPr>
          <p:cNvPr id="214" name="Google Shape;214;p22"/>
          <p:cNvSpPr txBox="1"/>
          <p:nvPr>
            <p:ph idx="1" type="body"/>
          </p:nvPr>
        </p:nvSpPr>
        <p:spPr>
          <a:xfrm>
            <a:off x="866898" y="1324628"/>
            <a:ext cx="10925299" cy="5088047"/>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b="1" lang="en-US"/>
              <a:t>1. Phonetics and Phonology</a:t>
            </a:r>
            <a:endParaRPr/>
          </a:p>
          <a:p>
            <a:pPr indent="-285750" lvl="0" marL="285750" rtl="0" algn="just">
              <a:lnSpc>
                <a:spcPct val="90000"/>
              </a:lnSpc>
              <a:spcBef>
                <a:spcPts val="1000"/>
              </a:spcBef>
              <a:spcAft>
                <a:spcPts val="0"/>
              </a:spcAft>
              <a:buClr>
                <a:schemeClr val="dk1"/>
              </a:buClr>
              <a:buSzPts val="2800"/>
              <a:buFont typeface="Arial"/>
              <a:buChar char="•"/>
            </a:pPr>
            <a:r>
              <a:rPr b="1" lang="en-US"/>
              <a:t>Phonetics:</a:t>
            </a:r>
            <a:r>
              <a:rPr lang="en-US"/>
              <a:t> Studies the physical production of speech sounds by the human vocal tract. It focuses on how sounds are articulated (e.g., tongue placement, lip movement).</a:t>
            </a:r>
            <a:endParaRPr/>
          </a:p>
          <a:p>
            <a:pPr indent="-285750" lvl="1" marL="742950" rtl="0" algn="just">
              <a:lnSpc>
                <a:spcPct val="90000"/>
              </a:lnSpc>
              <a:spcBef>
                <a:spcPts val="500"/>
              </a:spcBef>
              <a:spcAft>
                <a:spcPts val="0"/>
              </a:spcAft>
              <a:buClr>
                <a:schemeClr val="dk1"/>
              </a:buClr>
              <a:buSzPts val="2400"/>
              <a:buFont typeface="Arial"/>
              <a:buChar char="•"/>
            </a:pPr>
            <a:r>
              <a:rPr lang="en-US"/>
              <a:t>Example: Recognizing the difference between the sounds "p" and "b."</a:t>
            </a:r>
            <a:endParaRPr/>
          </a:p>
          <a:p>
            <a:pPr indent="-285750" lvl="0" marL="285750" rtl="0" algn="just">
              <a:lnSpc>
                <a:spcPct val="90000"/>
              </a:lnSpc>
              <a:spcBef>
                <a:spcPts val="1000"/>
              </a:spcBef>
              <a:spcAft>
                <a:spcPts val="0"/>
              </a:spcAft>
              <a:buClr>
                <a:schemeClr val="dk1"/>
              </a:buClr>
              <a:buSzPts val="2800"/>
              <a:buFont typeface="Arial"/>
              <a:buChar char="•"/>
            </a:pPr>
            <a:r>
              <a:rPr b="1" lang="en-US"/>
              <a:t>Phonology:</a:t>
            </a:r>
            <a:r>
              <a:rPr lang="en-US"/>
              <a:t> Analyzes the sound system of a language. It focuses on how sounds are organized and function within a language (e.g., identifying phonemes, the smallest units of sound that distinguish words).</a:t>
            </a:r>
            <a:endParaRPr/>
          </a:p>
          <a:p>
            <a:pPr indent="-285750" lvl="1" marL="742950" rtl="0" algn="just">
              <a:lnSpc>
                <a:spcPct val="90000"/>
              </a:lnSpc>
              <a:spcBef>
                <a:spcPts val="500"/>
              </a:spcBef>
              <a:spcAft>
                <a:spcPts val="0"/>
              </a:spcAft>
              <a:buClr>
                <a:schemeClr val="dk1"/>
              </a:buClr>
              <a:buSzPts val="2400"/>
              <a:buFont typeface="Arial"/>
              <a:buChar char="•"/>
            </a:pPr>
            <a:r>
              <a:rPr lang="en-US"/>
              <a:t>Example: Recognizing that "p" and "b" are distinct phonemes in English because they can change word meaning (pat vs. bat).</a:t>
            </a:r>
            <a:endParaRPr/>
          </a:p>
          <a:p>
            <a:pPr indent="-107950" lvl="0" marL="285750" rtl="0" algn="just">
              <a:lnSpc>
                <a:spcPct val="90000"/>
              </a:lnSpc>
              <a:spcBef>
                <a:spcPts val="1000"/>
              </a:spcBef>
              <a:spcAft>
                <a:spcPts val="0"/>
              </a:spcAft>
              <a:buClr>
                <a:schemeClr val="dk1"/>
              </a:buClr>
              <a:buSzPts val="2800"/>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3"/>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610B38"/>
              </a:buClr>
              <a:buSzPts val="3600"/>
              <a:buFont typeface="Arial"/>
              <a:buNone/>
            </a:pPr>
            <a:r>
              <a:rPr b="0" i="0" lang="en-US">
                <a:solidFill>
                  <a:srgbClr val="610B38"/>
                </a:solidFill>
                <a:highlight>
                  <a:srgbClr val="FFFFFF"/>
                </a:highlight>
                <a:latin typeface="Arial"/>
                <a:ea typeface="Arial"/>
                <a:cs typeface="Arial"/>
                <a:sym typeface="Arial"/>
              </a:rPr>
              <a:t>Phases of NLP…</a:t>
            </a:r>
            <a:endParaRPr/>
          </a:p>
        </p:txBody>
      </p:sp>
      <p:sp>
        <p:nvSpPr>
          <p:cNvPr id="220" name="Google Shape;220;p23"/>
          <p:cNvSpPr txBox="1"/>
          <p:nvPr>
            <p:ph idx="1" type="body"/>
          </p:nvPr>
        </p:nvSpPr>
        <p:spPr>
          <a:xfrm>
            <a:off x="926274" y="866897"/>
            <a:ext cx="11008427" cy="5545777"/>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b="1" lang="en-US"/>
              <a:t>2. Morphology </a:t>
            </a:r>
            <a:r>
              <a:rPr lang="en-US"/>
              <a:t>: The study of the structure and formation of words.</a:t>
            </a:r>
            <a:endParaRPr/>
          </a:p>
          <a:p>
            <a:pPr indent="-285750" lvl="0" marL="285750" rtl="0" algn="just">
              <a:lnSpc>
                <a:spcPct val="90000"/>
              </a:lnSpc>
              <a:spcBef>
                <a:spcPts val="1000"/>
              </a:spcBef>
              <a:spcAft>
                <a:spcPts val="0"/>
              </a:spcAft>
              <a:buClr>
                <a:schemeClr val="dk1"/>
              </a:buClr>
              <a:buSzPts val="2400"/>
              <a:buFont typeface="Arial"/>
              <a:buChar char="•"/>
            </a:pPr>
            <a:r>
              <a:rPr b="1" lang="en-US" sz="2400"/>
              <a:t>Morphemes</a:t>
            </a:r>
            <a:r>
              <a:rPr lang="en-US" sz="2400"/>
              <a:t>: The smallest units of meaning in a language.</a:t>
            </a:r>
            <a:endParaRPr/>
          </a:p>
          <a:p>
            <a:pPr indent="-285750" lvl="1" marL="742950" rtl="0" algn="just">
              <a:lnSpc>
                <a:spcPct val="90000"/>
              </a:lnSpc>
              <a:spcBef>
                <a:spcPts val="500"/>
              </a:spcBef>
              <a:spcAft>
                <a:spcPts val="0"/>
              </a:spcAft>
              <a:buClr>
                <a:schemeClr val="dk1"/>
              </a:buClr>
              <a:buSzPts val="2200"/>
              <a:buFont typeface="Arial"/>
              <a:buChar char="•"/>
            </a:pPr>
            <a:r>
              <a:rPr lang="en-US" sz="2200"/>
              <a:t>Free Morphemes: Can stand alone as words (e.g., "book", "cycle").</a:t>
            </a:r>
            <a:endParaRPr/>
          </a:p>
          <a:p>
            <a:pPr indent="-285750" lvl="1" marL="742950" rtl="0" algn="just">
              <a:lnSpc>
                <a:spcPct val="90000"/>
              </a:lnSpc>
              <a:spcBef>
                <a:spcPts val="500"/>
              </a:spcBef>
              <a:spcAft>
                <a:spcPts val="0"/>
              </a:spcAft>
              <a:buClr>
                <a:schemeClr val="dk1"/>
              </a:buClr>
              <a:buSzPts val="2200"/>
              <a:buFont typeface="Arial"/>
              <a:buChar char="•"/>
            </a:pPr>
            <a:r>
              <a:rPr lang="en-US" sz="2200"/>
              <a:t>Bound Morphemes: Cannot stand alone and must be attached to other morphemes (e.g., prefixes like "un-", suffixes like "-ed").</a:t>
            </a:r>
            <a:endParaRPr/>
          </a:p>
          <a:p>
            <a:pPr indent="-285750" lvl="0" marL="285750" rtl="0" algn="just">
              <a:lnSpc>
                <a:spcPct val="90000"/>
              </a:lnSpc>
              <a:spcBef>
                <a:spcPts val="1000"/>
              </a:spcBef>
              <a:spcAft>
                <a:spcPts val="0"/>
              </a:spcAft>
              <a:buClr>
                <a:schemeClr val="dk1"/>
              </a:buClr>
              <a:buSzPts val="2400"/>
              <a:buFont typeface="Arial"/>
              <a:buChar char="•"/>
            </a:pPr>
            <a:r>
              <a:rPr b="1" lang="en-US" sz="2400"/>
              <a:t>Types of Morphological Processes</a:t>
            </a:r>
            <a:r>
              <a:rPr lang="en-US" sz="2400"/>
              <a:t>:</a:t>
            </a:r>
            <a:endParaRPr/>
          </a:p>
          <a:p>
            <a:pPr indent="-285750" lvl="1" marL="742950" rtl="0" algn="just">
              <a:lnSpc>
                <a:spcPct val="90000"/>
              </a:lnSpc>
              <a:spcBef>
                <a:spcPts val="500"/>
              </a:spcBef>
              <a:spcAft>
                <a:spcPts val="0"/>
              </a:spcAft>
              <a:buClr>
                <a:schemeClr val="dk1"/>
              </a:buClr>
              <a:buSzPts val="2200"/>
              <a:buFont typeface="Arial"/>
              <a:buChar char="•"/>
            </a:pPr>
            <a:r>
              <a:rPr lang="en-US" sz="2200"/>
              <a:t>Inflection: Changing a word to express different grammatical categories (e.g., tense, number, case).</a:t>
            </a:r>
            <a:endParaRPr/>
          </a:p>
          <a:p>
            <a:pPr indent="-285750" lvl="1" marL="742950" rtl="0" algn="just">
              <a:lnSpc>
                <a:spcPct val="90000"/>
              </a:lnSpc>
              <a:spcBef>
                <a:spcPts val="500"/>
              </a:spcBef>
              <a:spcAft>
                <a:spcPts val="0"/>
              </a:spcAft>
              <a:buClr>
                <a:schemeClr val="dk1"/>
              </a:buClr>
              <a:buSzPts val="2200"/>
              <a:buFont typeface="Arial"/>
              <a:buChar char="•"/>
            </a:pPr>
            <a:r>
              <a:rPr lang="en-US" sz="2200"/>
              <a:t>Derivation: Creating new words by adding prefixes or suffixes (e.g., "happy" -&gt; "unhappy").</a:t>
            </a:r>
            <a:endParaRPr/>
          </a:p>
          <a:p>
            <a:pPr indent="-285750" lvl="1" marL="742950" rtl="0" algn="just">
              <a:lnSpc>
                <a:spcPct val="90000"/>
              </a:lnSpc>
              <a:spcBef>
                <a:spcPts val="500"/>
              </a:spcBef>
              <a:spcAft>
                <a:spcPts val="0"/>
              </a:spcAft>
              <a:buClr>
                <a:schemeClr val="dk1"/>
              </a:buClr>
              <a:buSzPts val="2200"/>
              <a:buFont typeface="Arial"/>
              <a:buChar char="•"/>
            </a:pPr>
            <a:r>
              <a:rPr lang="en-US" sz="2200"/>
              <a:t>Compounding: Combining two or more words to create a new word (e.g., "toothbrush").</a:t>
            </a:r>
            <a:endParaRPr/>
          </a:p>
          <a:p>
            <a:pPr indent="-285750" lvl="0" marL="285750" rtl="0" algn="just">
              <a:lnSpc>
                <a:spcPct val="90000"/>
              </a:lnSpc>
              <a:spcBef>
                <a:spcPts val="1000"/>
              </a:spcBef>
              <a:spcAft>
                <a:spcPts val="0"/>
              </a:spcAft>
              <a:buClr>
                <a:schemeClr val="dk1"/>
              </a:buClr>
              <a:buSzPts val="2400"/>
              <a:buFont typeface="Arial"/>
              <a:buChar char="•"/>
            </a:pPr>
            <a:r>
              <a:rPr b="1" lang="en-US" sz="2400"/>
              <a:t>Importance in NLP</a:t>
            </a:r>
            <a:r>
              <a:rPr lang="en-US" sz="2400"/>
              <a:t>:</a:t>
            </a:r>
            <a:endParaRPr/>
          </a:p>
          <a:p>
            <a:pPr indent="-285750" lvl="1" marL="742950" rtl="0" algn="just">
              <a:lnSpc>
                <a:spcPct val="90000"/>
              </a:lnSpc>
              <a:spcBef>
                <a:spcPts val="500"/>
              </a:spcBef>
              <a:spcAft>
                <a:spcPts val="0"/>
              </a:spcAft>
              <a:buClr>
                <a:schemeClr val="dk1"/>
              </a:buClr>
              <a:buSzPts val="2200"/>
              <a:buFont typeface="Arial"/>
              <a:buChar char="•"/>
            </a:pPr>
            <a:r>
              <a:rPr lang="en-US" sz="2200"/>
              <a:t>Tokenization: Breaking text into words and morphemes.</a:t>
            </a:r>
            <a:endParaRPr/>
          </a:p>
          <a:p>
            <a:pPr indent="-285750" lvl="1" marL="742950" rtl="0" algn="just">
              <a:lnSpc>
                <a:spcPct val="90000"/>
              </a:lnSpc>
              <a:spcBef>
                <a:spcPts val="500"/>
              </a:spcBef>
              <a:spcAft>
                <a:spcPts val="0"/>
              </a:spcAft>
              <a:buClr>
                <a:schemeClr val="dk1"/>
              </a:buClr>
              <a:buSzPts val="2200"/>
              <a:buFont typeface="Arial"/>
              <a:buChar char="•"/>
            </a:pPr>
            <a:r>
              <a:rPr lang="en-US" sz="2200"/>
              <a:t>Stemming and Lemmatization: Reducing words to their base or root form.</a:t>
            </a:r>
            <a:endParaRPr/>
          </a:p>
          <a:p>
            <a:pPr indent="0" lvl="0" marL="0" rtl="0" algn="just">
              <a:lnSpc>
                <a:spcPct val="90000"/>
              </a:lnSpc>
              <a:spcBef>
                <a:spcPts val="1000"/>
              </a:spcBef>
              <a:spcAft>
                <a:spcPts val="0"/>
              </a:spcAft>
              <a:buClr>
                <a:schemeClr val="dk1"/>
              </a:buClr>
              <a:buSzPts val="28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4"/>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610B38"/>
              </a:buClr>
              <a:buSzPts val="3600"/>
              <a:buFont typeface="Arial"/>
              <a:buNone/>
            </a:pPr>
            <a:r>
              <a:rPr b="0" i="0" lang="en-US">
                <a:solidFill>
                  <a:srgbClr val="610B38"/>
                </a:solidFill>
                <a:highlight>
                  <a:srgbClr val="FFFFFF"/>
                </a:highlight>
                <a:latin typeface="Arial"/>
                <a:ea typeface="Arial"/>
                <a:cs typeface="Arial"/>
                <a:sym typeface="Arial"/>
              </a:rPr>
              <a:t>Phases of NLP…</a:t>
            </a:r>
            <a:endParaRPr/>
          </a:p>
        </p:txBody>
      </p:sp>
      <p:sp>
        <p:nvSpPr>
          <p:cNvPr id="226" name="Google Shape;226;p24"/>
          <p:cNvSpPr txBox="1"/>
          <p:nvPr>
            <p:ph idx="1" type="body"/>
          </p:nvPr>
        </p:nvSpPr>
        <p:spPr>
          <a:xfrm>
            <a:off x="950025" y="807522"/>
            <a:ext cx="10842171" cy="5835662"/>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b="1" lang="en-US"/>
              <a:t>3. Lexical Analysis: </a:t>
            </a:r>
            <a:r>
              <a:rPr lang="en-US"/>
              <a:t>The process of analyzing the structure of words and understanding their meaning within a context.</a:t>
            </a:r>
            <a:endParaRPr/>
          </a:p>
          <a:p>
            <a:pPr indent="-285750" lvl="0" marL="285750" rtl="0" algn="just">
              <a:lnSpc>
                <a:spcPct val="90000"/>
              </a:lnSpc>
              <a:spcBef>
                <a:spcPts val="1000"/>
              </a:spcBef>
              <a:spcAft>
                <a:spcPts val="0"/>
              </a:spcAft>
              <a:buClr>
                <a:schemeClr val="dk1"/>
              </a:buClr>
              <a:buSzPts val="2400"/>
              <a:buFont typeface="Arial"/>
              <a:buChar char="•"/>
            </a:pPr>
            <a:r>
              <a:rPr b="1" lang="en-US" sz="2400"/>
              <a:t>Tasks</a:t>
            </a:r>
            <a:r>
              <a:rPr lang="en-US" sz="2400"/>
              <a:t>:</a:t>
            </a:r>
            <a:endParaRPr/>
          </a:p>
          <a:p>
            <a:pPr indent="-285750" lvl="1" marL="742950" rtl="0" algn="just">
              <a:lnSpc>
                <a:spcPct val="90000"/>
              </a:lnSpc>
              <a:spcBef>
                <a:spcPts val="500"/>
              </a:spcBef>
              <a:spcAft>
                <a:spcPts val="0"/>
              </a:spcAft>
              <a:buClr>
                <a:schemeClr val="dk1"/>
              </a:buClr>
              <a:buSzPts val="2400"/>
              <a:buFont typeface="Arial"/>
              <a:buChar char="•"/>
            </a:pPr>
            <a:r>
              <a:rPr lang="en-US"/>
              <a:t>Tokenization: Splitting text into individual tokens (words or phrases).</a:t>
            </a:r>
            <a:endParaRPr/>
          </a:p>
          <a:p>
            <a:pPr indent="-285750" lvl="1" marL="742950" rtl="0" algn="just">
              <a:lnSpc>
                <a:spcPct val="90000"/>
              </a:lnSpc>
              <a:spcBef>
                <a:spcPts val="500"/>
              </a:spcBef>
              <a:spcAft>
                <a:spcPts val="0"/>
              </a:spcAft>
              <a:buClr>
                <a:schemeClr val="dk1"/>
              </a:buClr>
              <a:buSzPts val="2400"/>
              <a:buFont typeface="Arial"/>
              <a:buChar char="•"/>
            </a:pPr>
            <a:r>
              <a:rPr lang="en-US"/>
              <a:t>Part-of-Speech Tagging: Assigning grammatical categories (e.g., noun, verb, adjective) to each token.</a:t>
            </a:r>
            <a:endParaRPr/>
          </a:p>
          <a:p>
            <a:pPr indent="-285750" lvl="1" marL="742950" rtl="0" algn="just">
              <a:lnSpc>
                <a:spcPct val="90000"/>
              </a:lnSpc>
              <a:spcBef>
                <a:spcPts val="500"/>
              </a:spcBef>
              <a:spcAft>
                <a:spcPts val="0"/>
              </a:spcAft>
              <a:buClr>
                <a:schemeClr val="dk1"/>
              </a:buClr>
              <a:buSzPts val="2400"/>
              <a:buFont typeface="Arial"/>
              <a:buChar char="•"/>
            </a:pPr>
            <a:r>
              <a:rPr lang="en-US"/>
              <a:t>Named Entity Recognition (NER): Identifying and classifying named entities (e.g., people, organizations, locations) in text.</a:t>
            </a:r>
            <a:endParaRPr/>
          </a:p>
          <a:p>
            <a:pPr indent="-285750" lvl="0" marL="285750" rtl="0" algn="just">
              <a:lnSpc>
                <a:spcPct val="90000"/>
              </a:lnSpc>
              <a:spcBef>
                <a:spcPts val="1000"/>
              </a:spcBef>
              <a:spcAft>
                <a:spcPts val="0"/>
              </a:spcAft>
              <a:buClr>
                <a:schemeClr val="dk1"/>
              </a:buClr>
              <a:buSzPts val="2400"/>
              <a:buFont typeface="Arial"/>
              <a:buChar char="•"/>
            </a:pPr>
            <a:r>
              <a:rPr b="1" lang="en-US" sz="2400"/>
              <a:t>Lexicon</a:t>
            </a:r>
            <a:r>
              <a:rPr lang="en-US" sz="2400"/>
              <a:t>:</a:t>
            </a:r>
            <a:r>
              <a:rPr lang="en-US"/>
              <a:t> A database of words and their meanings, forms, and usage.</a:t>
            </a:r>
            <a:endParaRPr/>
          </a:p>
          <a:p>
            <a:pPr indent="-285750" lvl="0" marL="285750" rtl="0" algn="just">
              <a:lnSpc>
                <a:spcPct val="90000"/>
              </a:lnSpc>
              <a:spcBef>
                <a:spcPts val="1000"/>
              </a:spcBef>
              <a:spcAft>
                <a:spcPts val="0"/>
              </a:spcAft>
              <a:buClr>
                <a:schemeClr val="dk1"/>
              </a:buClr>
              <a:buSzPts val="2400"/>
              <a:buFont typeface="Arial"/>
              <a:buChar char="•"/>
            </a:pPr>
            <a:r>
              <a:rPr b="1" lang="en-US" sz="2400"/>
              <a:t>Importance in NLP</a:t>
            </a:r>
            <a:r>
              <a:rPr lang="en-US" sz="2400"/>
              <a:t>:</a:t>
            </a:r>
            <a:endParaRPr/>
          </a:p>
          <a:p>
            <a:pPr indent="-285750" lvl="1" marL="742950" rtl="0" algn="just">
              <a:lnSpc>
                <a:spcPct val="90000"/>
              </a:lnSpc>
              <a:spcBef>
                <a:spcPts val="500"/>
              </a:spcBef>
              <a:spcAft>
                <a:spcPts val="0"/>
              </a:spcAft>
              <a:buClr>
                <a:schemeClr val="dk1"/>
              </a:buClr>
              <a:buSzPts val="2400"/>
              <a:buFont typeface="Arial"/>
              <a:buChar char="•"/>
            </a:pPr>
            <a:r>
              <a:rPr lang="en-US"/>
              <a:t>Syntax and Semantics: Providing foundational elements for deeper language processing tasks.</a:t>
            </a:r>
            <a:endParaRPr/>
          </a:p>
          <a:p>
            <a:pPr indent="-107950" lvl="0" marL="285750" rtl="0" algn="just">
              <a:lnSpc>
                <a:spcPct val="90000"/>
              </a:lnSpc>
              <a:spcBef>
                <a:spcPts val="1000"/>
              </a:spcBef>
              <a:spcAft>
                <a:spcPts val="0"/>
              </a:spcAft>
              <a:buClr>
                <a:schemeClr val="dk1"/>
              </a:buClr>
              <a:buSzPts val="28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5"/>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610B38"/>
              </a:buClr>
              <a:buSzPts val="3600"/>
              <a:buFont typeface="Arial"/>
              <a:buNone/>
            </a:pPr>
            <a:r>
              <a:rPr b="0" i="0" lang="en-US">
                <a:solidFill>
                  <a:srgbClr val="610B38"/>
                </a:solidFill>
                <a:highlight>
                  <a:srgbClr val="FFFFFF"/>
                </a:highlight>
                <a:latin typeface="Arial"/>
                <a:ea typeface="Arial"/>
                <a:cs typeface="Arial"/>
                <a:sym typeface="Arial"/>
              </a:rPr>
              <a:t>Phases of NLP…</a:t>
            </a:r>
            <a:endParaRPr/>
          </a:p>
        </p:txBody>
      </p:sp>
      <p:sp>
        <p:nvSpPr>
          <p:cNvPr id="232" name="Google Shape;232;p25"/>
          <p:cNvSpPr txBox="1"/>
          <p:nvPr>
            <p:ph idx="1" type="body"/>
          </p:nvPr>
        </p:nvSpPr>
        <p:spPr>
          <a:xfrm>
            <a:off x="950025" y="807522"/>
            <a:ext cx="10842171" cy="5835662"/>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b="1" lang="en-US"/>
              <a:t>4. Syntactic Analysis: </a:t>
            </a:r>
            <a:r>
              <a:rPr lang="en-US"/>
              <a:t>The process of analyzing the structure of sentences according to the rules of grammar.</a:t>
            </a:r>
            <a:endParaRPr/>
          </a:p>
          <a:p>
            <a:pPr indent="-285750" lvl="0" marL="285750" rtl="0" algn="just">
              <a:lnSpc>
                <a:spcPct val="90000"/>
              </a:lnSpc>
              <a:spcBef>
                <a:spcPts val="1000"/>
              </a:spcBef>
              <a:spcAft>
                <a:spcPts val="0"/>
              </a:spcAft>
              <a:buClr>
                <a:schemeClr val="dk1"/>
              </a:buClr>
              <a:buSzPts val="2400"/>
              <a:buFont typeface="Arial"/>
              <a:buChar char="•"/>
            </a:pPr>
            <a:r>
              <a:rPr b="1" lang="en-US" sz="2400"/>
              <a:t>Tasks</a:t>
            </a:r>
            <a:r>
              <a:rPr lang="en-US" sz="2400"/>
              <a:t>:</a:t>
            </a:r>
            <a:endParaRPr/>
          </a:p>
          <a:p>
            <a:pPr indent="-285750" lvl="1" marL="742950" rtl="0" algn="just">
              <a:lnSpc>
                <a:spcPct val="90000"/>
              </a:lnSpc>
              <a:spcBef>
                <a:spcPts val="500"/>
              </a:spcBef>
              <a:spcAft>
                <a:spcPts val="0"/>
              </a:spcAft>
              <a:buClr>
                <a:schemeClr val="dk1"/>
              </a:buClr>
              <a:buSzPts val="2400"/>
              <a:buFont typeface="Arial"/>
              <a:buChar char="•"/>
            </a:pPr>
            <a:r>
              <a:rPr lang="en-US"/>
              <a:t>Parsing: Analyzing the grammatical structure of a sentence to determine its syntactic structure.</a:t>
            </a:r>
            <a:endParaRPr/>
          </a:p>
          <a:p>
            <a:pPr indent="-285750" lvl="1" marL="742950" rtl="0" algn="just">
              <a:lnSpc>
                <a:spcPct val="90000"/>
              </a:lnSpc>
              <a:spcBef>
                <a:spcPts val="500"/>
              </a:spcBef>
              <a:spcAft>
                <a:spcPts val="0"/>
              </a:spcAft>
              <a:buClr>
                <a:schemeClr val="dk1"/>
              </a:buClr>
              <a:buSzPts val="2400"/>
              <a:buFont typeface="Arial"/>
              <a:buChar char="•"/>
            </a:pPr>
            <a:r>
              <a:rPr lang="en-US"/>
              <a:t>Syntax Trees: Representing the hierarchical structure of sentences (e.g., parse trees).</a:t>
            </a:r>
            <a:endParaRPr/>
          </a:p>
          <a:p>
            <a:pPr indent="-285750" lvl="0" marL="285750" rtl="0" algn="just">
              <a:lnSpc>
                <a:spcPct val="90000"/>
              </a:lnSpc>
              <a:spcBef>
                <a:spcPts val="1000"/>
              </a:spcBef>
              <a:spcAft>
                <a:spcPts val="0"/>
              </a:spcAft>
              <a:buClr>
                <a:schemeClr val="dk1"/>
              </a:buClr>
              <a:buSzPts val="2400"/>
              <a:buFont typeface="Arial"/>
              <a:buChar char="•"/>
            </a:pPr>
            <a:r>
              <a:rPr b="1" lang="en-US" sz="2400"/>
              <a:t>Key Concepts</a:t>
            </a:r>
            <a:r>
              <a:rPr lang="en-US" sz="2400"/>
              <a:t>:</a:t>
            </a:r>
            <a:endParaRPr/>
          </a:p>
          <a:p>
            <a:pPr indent="-285750" lvl="1" marL="742950" rtl="0" algn="just">
              <a:lnSpc>
                <a:spcPct val="90000"/>
              </a:lnSpc>
              <a:spcBef>
                <a:spcPts val="500"/>
              </a:spcBef>
              <a:spcAft>
                <a:spcPts val="0"/>
              </a:spcAft>
              <a:buClr>
                <a:schemeClr val="dk1"/>
              </a:buClr>
              <a:buSzPts val="2400"/>
              <a:buFont typeface="Arial"/>
              <a:buChar char="•"/>
            </a:pPr>
            <a:r>
              <a:rPr lang="en-US"/>
              <a:t>Context-Free Grammar (CFG): A set of recursive rules used to generate patterns of strings.</a:t>
            </a:r>
            <a:endParaRPr/>
          </a:p>
          <a:p>
            <a:pPr indent="-285750" lvl="1" marL="742950" rtl="0" algn="just">
              <a:lnSpc>
                <a:spcPct val="90000"/>
              </a:lnSpc>
              <a:spcBef>
                <a:spcPts val="500"/>
              </a:spcBef>
              <a:spcAft>
                <a:spcPts val="0"/>
              </a:spcAft>
              <a:buClr>
                <a:schemeClr val="dk1"/>
              </a:buClr>
              <a:buSzPts val="2400"/>
              <a:buFont typeface="Arial"/>
              <a:buChar char="•"/>
            </a:pPr>
            <a:r>
              <a:rPr lang="en-US"/>
              <a:t>Dependency Grammar: Focuses on the relationship between words in a sentence.</a:t>
            </a:r>
            <a:endParaRPr/>
          </a:p>
          <a:p>
            <a:pPr indent="-285750" lvl="0" marL="285750" rtl="0" algn="just">
              <a:lnSpc>
                <a:spcPct val="90000"/>
              </a:lnSpc>
              <a:spcBef>
                <a:spcPts val="1000"/>
              </a:spcBef>
              <a:spcAft>
                <a:spcPts val="0"/>
              </a:spcAft>
              <a:buClr>
                <a:schemeClr val="dk1"/>
              </a:buClr>
              <a:buSzPts val="2400"/>
              <a:buFont typeface="Arial"/>
              <a:buChar char="•"/>
            </a:pPr>
            <a:r>
              <a:rPr b="1" lang="en-US" sz="2400"/>
              <a:t>Importance in NLP</a:t>
            </a:r>
            <a:r>
              <a:rPr lang="en-US" sz="2400"/>
              <a:t>:</a:t>
            </a:r>
            <a:endParaRPr/>
          </a:p>
          <a:p>
            <a:pPr indent="-285750" lvl="1" marL="742950" rtl="0" algn="just">
              <a:lnSpc>
                <a:spcPct val="90000"/>
              </a:lnSpc>
              <a:spcBef>
                <a:spcPts val="500"/>
              </a:spcBef>
              <a:spcAft>
                <a:spcPts val="0"/>
              </a:spcAft>
              <a:buClr>
                <a:schemeClr val="dk1"/>
              </a:buClr>
              <a:buSzPts val="2400"/>
              <a:buFont typeface="Arial"/>
              <a:buChar char="•"/>
            </a:pPr>
            <a:r>
              <a:rPr lang="en-US"/>
              <a:t>Grammar Checking: Ensuring syntactic correctness of sentences.</a:t>
            </a:r>
            <a:endParaRPr/>
          </a:p>
          <a:p>
            <a:pPr indent="-285750" lvl="1" marL="742950" rtl="0" algn="just">
              <a:lnSpc>
                <a:spcPct val="90000"/>
              </a:lnSpc>
              <a:spcBef>
                <a:spcPts val="500"/>
              </a:spcBef>
              <a:spcAft>
                <a:spcPts val="0"/>
              </a:spcAft>
              <a:buClr>
                <a:schemeClr val="dk1"/>
              </a:buClr>
              <a:buSzPts val="2400"/>
              <a:buFont typeface="Arial"/>
              <a:buChar char="•"/>
            </a:pPr>
            <a:r>
              <a:rPr lang="en-US"/>
              <a:t>Machine Translation: Structuring sentences correctly in the target language.</a:t>
            </a:r>
            <a:endParaRPr/>
          </a:p>
          <a:p>
            <a:pPr indent="-107950" lvl="0" marL="285750" rtl="0" algn="just">
              <a:lnSpc>
                <a:spcPct val="90000"/>
              </a:lnSpc>
              <a:spcBef>
                <a:spcPts val="1000"/>
              </a:spcBef>
              <a:spcAft>
                <a:spcPts val="0"/>
              </a:spcAft>
              <a:buClr>
                <a:schemeClr val="dk1"/>
              </a:buClr>
              <a:buSzPts val="2800"/>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6"/>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610B38"/>
              </a:buClr>
              <a:buSzPts val="3600"/>
              <a:buFont typeface="Arial"/>
              <a:buNone/>
            </a:pPr>
            <a:r>
              <a:rPr b="0" i="0" lang="en-US">
                <a:solidFill>
                  <a:srgbClr val="610B38"/>
                </a:solidFill>
                <a:highlight>
                  <a:srgbClr val="FFFFFF"/>
                </a:highlight>
                <a:latin typeface="Arial"/>
                <a:ea typeface="Arial"/>
                <a:cs typeface="Arial"/>
                <a:sym typeface="Arial"/>
              </a:rPr>
              <a:t>Phases of NLP…</a:t>
            </a:r>
            <a:endParaRPr/>
          </a:p>
        </p:txBody>
      </p:sp>
      <p:sp>
        <p:nvSpPr>
          <p:cNvPr id="238" name="Google Shape;238;p26"/>
          <p:cNvSpPr txBox="1"/>
          <p:nvPr>
            <p:ph idx="1" type="body"/>
          </p:nvPr>
        </p:nvSpPr>
        <p:spPr>
          <a:xfrm>
            <a:off x="950025" y="807522"/>
            <a:ext cx="10842171" cy="5835662"/>
          </a:xfrm>
          <a:prstGeom prst="rect">
            <a:avLst/>
          </a:prstGeom>
          <a:noFill/>
          <a:ln>
            <a:noFill/>
          </a:ln>
        </p:spPr>
        <p:txBody>
          <a:bodyPr anchorCtr="0" anchor="t" bIns="45700" lIns="91425" spcFirstLastPara="1" rIns="91425" wrap="square" tIns="45700">
            <a:normAutofit fontScale="92500" lnSpcReduction="10000"/>
          </a:bodyPr>
          <a:lstStyle/>
          <a:p>
            <a:pPr indent="0" lvl="0" marL="0" rtl="0" algn="just">
              <a:lnSpc>
                <a:spcPct val="90000"/>
              </a:lnSpc>
              <a:spcBef>
                <a:spcPts val="0"/>
              </a:spcBef>
              <a:spcAft>
                <a:spcPts val="0"/>
              </a:spcAft>
              <a:buClr>
                <a:schemeClr val="dk1"/>
              </a:buClr>
              <a:buSzPct val="100000"/>
              <a:buNone/>
            </a:pPr>
            <a:r>
              <a:rPr b="1" lang="en-US"/>
              <a:t>5. Semantic Analysis: </a:t>
            </a:r>
            <a:r>
              <a:rPr lang="en-US"/>
              <a:t>The process of understanding the meaning of words and sentences.</a:t>
            </a:r>
            <a:endParaRPr/>
          </a:p>
          <a:p>
            <a:pPr indent="-285750" lvl="0" marL="285750" rtl="0" algn="just">
              <a:lnSpc>
                <a:spcPct val="90000"/>
              </a:lnSpc>
              <a:spcBef>
                <a:spcPts val="1000"/>
              </a:spcBef>
              <a:spcAft>
                <a:spcPts val="0"/>
              </a:spcAft>
              <a:buClr>
                <a:schemeClr val="dk1"/>
              </a:buClr>
              <a:buSzPct val="100000"/>
              <a:buFont typeface="Arial"/>
              <a:buChar char="•"/>
            </a:pPr>
            <a:r>
              <a:rPr b="1" lang="en-US" sz="2600"/>
              <a:t>Tasks</a:t>
            </a:r>
            <a:r>
              <a:rPr lang="en-US" sz="2600"/>
              <a:t>:</a:t>
            </a:r>
            <a:endParaRPr/>
          </a:p>
          <a:p>
            <a:pPr indent="-285750" lvl="1" marL="742950" rtl="0" algn="just">
              <a:lnSpc>
                <a:spcPct val="90000"/>
              </a:lnSpc>
              <a:spcBef>
                <a:spcPts val="500"/>
              </a:spcBef>
              <a:spcAft>
                <a:spcPts val="0"/>
              </a:spcAft>
              <a:buClr>
                <a:schemeClr val="dk1"/>
              </a:buClr>
              <a:buSzPct val="100000"/>
              <a:buFont typeface="Arial"/>
              <a:buChar char="•"/>
            </a:pPr>
            <a:r>
              <a:rPr lang="en-US"/>
              <a:t>Word Sense Disambiguation: Determining which sense of a word is used in a given context.</a:t>
            </a:r>
            <a:endParaRPr/>
          </a:p>
          <a:p>
            <a:pPr indent="-285750" lvl="1" marL="742950" rtl="0" algn="just">
              <a:lnSpc>
                <a:spcPct val="90000"/>
              </a:lnSpc>
              <a:spcBef>
                <a:spcPts val="500"/>
              </a:spcBef>
              <a:spcAft>
                <a:spcPts val="0"/>
              </a:spcAft>
              <a:buClr>
                <a:schemeClr val="dk1"/>
              </a:buClr>
              <a:buSzPct val="100000"/>
              <a:buFont typeface="Arial"/>
              <a:buChar char="•"/>
            </a:pPr>
            <a:r>
              <a:rPr lang="en-US"/>
              <a:t>Thematic Roles: Understanding the roles that words play in actions (e.g., agent, object).</a:t>
            </a:r>
            <a:endParaRPr/>
          </a:p>
          <a:p>
            <a:pPr indent="-285750" lvl="1" marL="742950" rtl="0" algn="just">
              <a:lnSpc>
                <a:spcPct val="90000"/>
              </a:lnSpc>
              <a:spcBef>
                <a:spcPts val="500"/>
              </a:spcBef>
              <a:spcAft>
                <a:spcPts val="0"/>
              </a:spcAft>
              <a:buClr>
                <a:schemeClr val="dk1"/>
              </a:buClr>
              <a:buSzPct val="100000"/>
              <a:buFont typeface="Arial"/>
              <a:buChar char="•"/>
            </a:pPr>
            <a:r>
              <a:rPr lang="en-US"/>
              <a:t>Semantic Parsing: Mapping natural language sentences to formal representations of meaning.</a:t>
            </a:r>
            <a:endParaRPr/>
          </a:p>
          <a:p>
            <a:pPr indent="-285750" lvl="0" marL="285750" rtl="0" algn="just">
              <a:lnSpc>
                <a:spcPct val="90000"/>
              </a:lnSpc>
              <a:spcBef>
                <a:spcPts val="1000"/>
              </a:spcBef>
              <a:spcAft>
                <a:spcPts val="0"/>
              </a:spcAft>
              <a:buClr>
                <a:schemeClr val="dk1"/>
              </a:buClr>
              <a:buSzPct val="100000"/>
              <a:buFont typeface="Arial"/>
              <a:buChar char="•"/>
            </a:pPr>
            <a:r>
              <a:rPr b="1" lang="en-US" sz="2600"/>
              <a:t>Key Concepts</a:t>
            </a:r>
            <a:r>
              <a:rPr lang="en-US" sz="2600"/>
              <a:t>:</a:t>
            </a:r>
            <a:endParaRPr/>
          </a:p>
          <a:p>
            <a:pPr indent="-285750" lvl="1" marL="742950" rtl="0" algn="just">
              <a:lnSpc>
                <a:spcPct val="90000"/>
              </a:lnSpc>
              <a:spcBef>
                <a:spcPts val="500"/>
              </a:spcBef>
              <a:spcAft>
                <a:spcPts val="0"/>
              </a:spcAft>
              <a:buClr>
                <a:schemeClr val="dk1"/>
              </a:buClr>
              <a:buSzPct val="100000"/>
              <a:buFont typeface="Arial"/>
              <a:buChar char="•"/>
            </a:pPr>
            <a:r>
              <a:rPr lang="en-US"/>
              <a:t>Lexical Semantics: The meaning of words and the relationships between them (e.g., synonyms, antonyms).</a:t>
            </a:r>
            <a:endParaRPr/>
          </a:p>
          <a:p>
            <a:pPr indent="-285750" lvl="1" marL="742950" rtl="0" algn="just">
              <a:lnSpc>
                <a:spcPct val="90000"/>
              </a:lnSpc>
              <a:spcBef>
                <a:spcPts val="500"/>
              </a:spcBef>
              <a:spcAft>
                <a:spcPts val="0"/>
              </a:spcAft>
              <a:buClr>
                <a:schemeClr val="dk1"/>
              </a:buClr>
              <a:buSzPct val="100000"/>
              <a:buFont typeface="Arial"/>
              <a:buChar char="•"/>
            </a:pPr>
            <a:r>
              <a:rPr lang="en-US"/>
              <a:t>Compositional Semantics: How meanings of individual words combine to form the meaning of sentences.</a:t>
            </a:r>
            <a:endParaRPr/>
          </a:p>
          <a:p>
            <a:pPr indent="-285750" lvl="0" marL="285750" rtl="0" algn="just">
              <a:lnSpc>
                <a:spcPct val="90000"/>
              </a:lnSpc>
              <a:spcBef>
                <a:spcPts val="1000"/>
              </a:spcBef>
              <a:spcAft>
                <a:spcPts val="0"/>
              </a:spcAft>
              <a:buClr>
                <a:schemeClr val="dk1"/>
              </a:buClr>
              <a:buSzPct val="100000"/>
              <a:buFont typeface="Arial"/>
              <a:buChar char="•"/>
            </a:pPr>
            <a:r>
              <a:rPr b="1" lang="en-US" sz="2600"/>
              <a:t>Importance in NLP</a:t>
            </a:r>
            <a:r>
              <a:rPr lang="en-US" sz="2600"/>
              <a:t>:</a:t>
            </a:r>
            <a:endParaRPr/>
          </a:p>
          <a:p>
            <a:pPr indent="-285750" lvl="1" marL="742950" rtl="0" algn="just">
              <a:lnSpc>
                <a:spcPct val="90000"/>
              </a:lnSpc>
              <a:spcBef>
                <a:spcPts val="500"/>
              </a:spcBef>
              <a:spcAft>
                <a:spcPts val="0"/>
              </a:spcAft>
              <a:buClr>
                <a:schemeClr val="dk1"/>
              </a:buClr>
              <a:buSzPct val="100000"/>
              <a:buFont typeface="Arial"/>
              <a:buChar char="•"/>
            </a:pPr>
            <a:r>
              <a:rPr lang="en-US"/>
              <a:t>Information Retrieval: Understanding user queries to retrieve relevant information.</a:t>
            </a:r>
            <a:endParaRPr/>
          </a:p>
          <a:p>
            <a:pPr indent="-285750" lvl="1" marL="742950" rtl="0" algn="just">
              <a:lnSpc>
                <a:spcPct val="90000"/>
              </a:lnSpc>
              <a:spcBef>
                <a:spcPts val="500"/>
              </a:spcBef>
              <a:spcAft>
                <a:spcPts val="0"/>
              </a:spcAft>
              <a:buClr>
                <a:schemeClr val="dk1"/>
              </a:buClr>
              <a:buSzPct val="100000"/>
              <a:buFont typeface="Arial"/>
              <a:buChar char="•"/>
            </a:pPr>
            <a:r>
              <a:rPr lang="en-US"/>
              <a:t>Question Answering: Interpreting questions and generating accurate answers.</a:t>
            </a:r>
            <a:endParaRPr/>
          </a:p>
          <a:p>
            <a:pPr indent="-121285" lvl="0" marL="285750" rtl="0" algn="just">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7"/>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610B38"/>
              </a:buClr>
              <a:buSzPts val="3600"/>
              <a:buFont typeface="Arial"/>
              <a:buNone/>
            </a:pPr>
            <a:r>
              <a:rPr b="0" i="0" lang="en-US">
                <a:solidFill>
                  <a:srgbClr val="610B38"/>
                </a:solidFill>
                <a:highlight>
                  <a:srgbClr val="FFFFFF"/>
                </a:highlight>
                <a:latin typeface="Arial"/>
                <a:ea typeface="Arial"/>
                <a:cs typeface="Arial"/>
                <a:sym typeface="Arial"/>
              </a:rPr>
              <a:t>Phases of NLP…</a:t>
            </a:r>
            <a:endParaRPr/>
          </a:p>
        </p:txBody>
      </p:sp>
      <p:sp>
        <p:nvSpPr>
          <p:cNvPr id="245" name="Google Shape;245;p27"/>
          <p:cNvSpPr txBox="1"/>
          <p:nvPr>
            <p:ph idx="1" type="body"/>
          </p:nvPr>
        </p:nvSpPr>
        <p:spPr>
          <a:xfrm>
            <a:off x="950025" y="807522"/>
            <a:ext cx="10842171" cy="5835662"/>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b="1" lang="en-US"/>
              <a:t>6. Pragmatics: </a:t>
            </a:r>
            <a:r>
              <a:rPr lang="en-US"/>
              <a:t>The study of how context influences the interpretation of meaning.</a:t>
            </a:r>
            <a:endParaRPr/>
          </a:p>
          <a:p>
            <a:pPr indent="-285750" lvl="0" marL="285750" rtl="0" algn="just">
              <a:lnSpc>
                <a:spcPct val="90000"/>
              </a:lnSpc>
              <a:spcBef>
                <a:spcPts val="1000"/>
              </a:spcBef>
              <a:spcAft>
                <a:spcPts val="0"/>
              </a:spcAft>
              <a:buClr>
                <a:schemeClr val="dk1"/>
              </a:buClr>
              <a:buSzPts val="2400"/>
              <a:buFont typeface="Arial"/>
              <a:buChar char="•"/>
            </a:pPr>
            <a:r>
              <a:rPr b="1" lang="en-US" sz="2400"/>
              <a:t>Tasks</a:t>
            </a:r>
            <a:r>
              <a:rPr lang="en-US" sz="2400"/>
              <a:t>:</a:t>
            </a:r>
            <a:endParaRPr/>
          </a:p>
          <a:p>
            <a:pPr indent="-285750" lvl="1" marL="742950" rtl="0" algn="just">
              <a:lnSpc>
                <a:spcPct val="90000"/>
              </a:lnSpc>
              <a:spcBef>
                <a:spcPts val="500"/>
              </a:spcBef>
              <a:spcAft>
                <a:spcPts val="0"/>
              </a:spcAft>
              <a:buClr>
                <a:schemeClr val="dk1"/>
              </a:buClr>
              <a:buSzPts val="2400"/>
              <a:buFont typeface="Arial"/>
              <a:buChar char="•"/>
            </a:pPr>
            <a:r>
              <a:rPr lang="en-US"/>
              <a:t>Deixis: Understanding references that depend on context (e.g., "this", "that", "here", "there").</a:t>
            </a:r>
            <a:endParaRPr/>
          </a:p>
          <a:p>
            <a:pPr indent="-285750" lvl="1" marL="742950" rtl="0" algn="just">
              <a:lnSpc>
                <a:spcPct val="90000"/>
              </a:lnSpc>
              <a:spcBef>
                <a:spcPts val="500"/>
              </a:spcBef>
              <a:spcAft>
                <a:spcPts val="0"/>
              </a:spcAft>
              <a:buClr>
                <a:schemeClr val="dk1"/>
              </a:buClr>
              <a:buSzPts val="2400"/>
              <a:buFont typeface="Arial"/>
              <a:buChar char="•"/>
            </a:pPr>
            <a:r>
              <a:rPr lang="en-US"/>
              <a:t>Speech Acts: Analyzing what speakers intend to accomplish with their utterances (e.g., requests, promises, commands).</a:t>
            </a:r>
            <a:endParaRPr/>
          </a:p>
          <a:p>
            <a:pPr indent="-285750" lvl="1" marL="742950" rtl="0" algn="just">
              <a:lnSpc>
                <a:spcPct val="90000"/>
              </a:lnSpc>
              <a:spcBef>
                <a:spcPts val="500"/>
              </a:spcBef>
              <a:spcAft>
                <a:spcPts val="0"/>
              </a:spcAft>
              <a:buClr>
                <a:schemeClr val="dk1"/>
              </a:buClr>
              <a:buSzPts val="2400"/>
              <a:buFont typeface="Arial"/>
              <a:buChar char="•"/>
            </a:pPr>
            <a:r>
              <a:rPr lang="en-US"/>
              <a:t>Conversational Implicature: Understanding implied meanings that are not explicitly stated.</a:t>
            </a:r>
            <a:endParaRPr/>
          </a:p>
          <a:p>
            <a:pPr indent="-285750" lvl="0" marL="285750" rtl="0" algn="just">
              <a:lnSpc>
                <a:spcPct val="90000"/>
              </a:lnSpc>
              <a:spcBef>
                <a:spcPts val="1000"/>
              </a:spcBef>
              <a:spcAft>
                <a:spcPts val="0"/>
              </a:spcAft>
              <a:buClr>
                <a:schemeClr val="dk1"/>
              </a:buClr>
              <a:buSzPts val="2400"/>
              <a:buFont typeface="Arial"/>
              <a:buChar char="•"/>
            </a:pPr>
            <a:r>
              <a:rPr b="1" lang="en-US" sz="2400"/>
              <a:t>Importance in NLP</a:t>
            </a:r>
            <a:r>
              <a:rPr lang="en-US" sz="2400"/>
              <a:t>:</a:t>
            </a:r>
            <a:endParaRPr/>
          </a:p>
          <a:p>
            <a:pPr indent="-285750" lvl="1" marL="742950" rtl="0" algn="just">
              <a:lnSpc>
                <a:spcPct val="90000"/>
              </a:lnSpc>
              <a:spcBef>
                <a:spcPts val="500"/>
              </a:spcBef>
              <a:spcAft>
                <a:spcPts val="0"/>
              </a:spcAft>
              <a:buClr>
                <a:schemeClr val="dk1"/>
              </a:buClr>
              <a:buSzPts val="2400"/>
              <a:buFont typeface="Arial"/>
              <a:buChar char="•"/>
            </a:pPr>
            <a:r>
              <a:rPr lang="en-US"/>
              <a:t>Dialogue Systems: Managing context and maintaining coherent conversations.</a:t>
            </a:r>
            <a:endParaRPr/>
          </a:p>
          <a:p>
            <a:pPr indent="-285750" lvl="1" marL="742950" rtl="0" algn="just">
              <a:lnSpc>
                <a:spcPct val="90000"/>
              </a:lnSpc>
              <a:spcBef>
                <a:spcPts val="500"/>
              </a:spcBef>
              <a:spcAft>
                <a:spcPts val="0"/>
              </a:spcAft>
              <a:buClr>
                <a:schemeClr val="dk1"/>
              </a:buClr>
              <a:buSzPts val="2400"/>
              <a:buFont typeface="Arial"/>
              <a:buChar char="•"/>
            </a:pPr>
            <a:r>
              <a:rPr lang="en-US"/>
              <a:t>Sentiment Analysis: Interpreting the speaker's attitude or emotions.</a:t>
            </a:r>
            <a:endParaRPr/>
          </a:p>
          <a:p>
            <a:pPr indent="-107950" lvl="0" marL="285750" rtl="0" algn="just">
              <a:lnSpc>
                <a:spcPct val="90000"/>
              </a:lnSpc>
              <a:spcBef>
                <a:spcPts val="1000"/>
              </a:spcBef>
              <a:spcAft>
                <a:spcPts val="0"/>
              </a:spcAft>
              <a:buClr>
                <a:schemeClr val="dk1"/>
              </a:buClr>
              <a:buSzPts val="28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8"/>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610B38"/>
              </a:buClr>
              <a:buSzPts val="3600"/>
              <a:buFont typeface="Arial"/>
              <a:buNone/>
            </a:pPr>
            <a:r>
              <a:rPr b="0" i="0" lang="en-US">
                <a:solidFill>
                  <a:srgbClr val="610B38"/>
                </a:solidFill>
                <a:highlight>
                  <a:srgbClr val="FFFFFF"/>
                </a:highlight>
                <a:latin typeface="Arial"/>
                <a:ea typeface="Arial"/>
                <a:cs typeface="Arial"/>
                <a:sym typeface="Arial"/>
              </a:rPr>
              <a:t>Phases of NLP…</a:t>
            </a:r>
            <a:endParaRPr/>
          </a:p>
        </p:txBody>
      </p:sp>
      <p:sp>
        <p:nvSpPr>
          <p:cNvPr id="251" name="Google Shape;251;p28"/>
          <p:cNvSpPr txBox="1"/>
          <p:nvPr>
            <p:ph idx="1" type="body"/>
          </p:nvPr>
        </p:nvSpPr>
        <p:spPr>
          <a:xfrm>
            <a:off x="950025" y="807522"/>
            <a:ext cx="10842171" cy="5835662"/>
          </a:xfrm>
          <a:prstGeom prst="rect">
            <a:avLst/>
          </a:prstGeom>
          <a:noFill/>
          <a:ln>
            <a:noFill/>
          </a:ln>
        </p:spPr>
        <p:txBody>
          <a:bodyPr anchorCtr="0" anchor="t" bIns="45700" lIns="91425" spcFirstLastPara="1" rIns="91425" wrap="square" tIns="45700">
            <a:normAutofit fontScale="92500"/>
          </a:bodyPr>
          <a:lstStyle/>
          <a:p>
            <a:pPr indent="0" lvl="0" marL="0" rtl="0" algn="just">
              <a:lnSpc>
                <a:spcPct val="90000"/>
              </a:lnSpc>
              <a:spcBef>
                <a:spcPts val="0"/>
              </a:spcBef>
              <a:spcAft>
                <a:spcPts val="0"/>
              </a:spcAft>
              <a:buClr>
                <a:schemeClr val="dk1"/>
              </a:buClr>
              <a:buSzPct val="100000"/>
              <a:buNone/>
            </a:pPr>
            <a:r>
              <a:rPr b="1" lang="en-US"/>
              <a:t>7. Discourse: </a:t>
            </a:r>
            <a:r>
              <a:rPr lang="en-US"/>
              <a:t>The study of how sentences are structured to form coherent and meaningful texts or dialogues.</a:t>
            </a:r>
            <a:endParaRPr/>
          </a:p>
          <a:p>
            <a:pPr indent="-285750" lvl="0" marL="285750" rtl="0" algn="just">
              <a:lnSpc>
                <a:spcPct val="90000"/>
              </a:lnSpc>
              <a:spcBef>
                <a:spcPts val="1000"/>
              </a:spcBef>
              <a:spcAft>
                <a:spcPts val="0"/>
              </a:spcAft>
              <a:buClr>
                <a:schemeClr val="dk1"/>
              </a:buClr>
              <a:buSzPct val="100000"/>
              <a:buFont typeface="Arial"/>
              <a:buChar char="•"/>
            </a:pPr>
            <a:r>
              <a:rPr b="1" lang="en-US" sz="2600"/>
              <a:t>Tasks</a:t>
            </a:r>
            <a:r>
              <a:rPr lang="en-US" sz="2600"/>
              <a:t>:</a:t>
            </a:r>
            <a:endParaRPr/>
          </a:p>
          <a:p>
            <a:pPr indent="-285750" lvl="1" marL="742950" rtl="0" algn="just">
              <a:lnSpc>
                <a:spcPct val="90000"/>
              </a:lnSpc>
              <a:spcBef>
                <a:spcPts val="500"/>
              </a:spcBef>
              <a:spcAft>
                <a:spcPts val="0"/>
              </a:spcAft>
              <a:buClr>
                <a:schemeClr val="dk1"/>
              </a:buClr>
              <a:buSzPct val="100000"/>
              <a:buFont typeface="Arial"/>
              <a:buChar char="•"/>
            </a:pPr>
            <a:r>
              <a:rPr lang="en-US"/>
              <a:t>Anaphora Resolution: Identifying what pronouns and other referring expressions refer to (e.g., "he", "she", "it").</a:t>
            </a:r>
            <a:endParaRPr/>
          </a:p>
          <a:p>
            <a:pPr indent="-285750" lvl="1" marL="742950" rtl="0" algn="just">
              <a:lnSpc>
                <a:spcPct val="90000"/>
              </a:lnSpc>
              <a:spcBef>
                <a:spcPts val="500"/>
              </a:spcBef>
              <a:spcAft>
                <a:spcPts val="0"/>
              </a:spcAft>
              <a:buClr>
                <a:schemeClr val="dk1"/>
              </a:buClr>
              <a:buSzPct val="100000"/>
              <a:buFont typeface="Arial"/>
              <a:buChar char="•"/>
            </a:pPr>
            <a:r>
              <a:rPr lang="en-US"/>
              <a:t>Coherence and Cohesion: Ensuring logical flow and connectivity between sentences.</a:t>
            </a:r>
            <a:endParaRPr/>
          </a:p>
          <a:p>
            <a:pPr indent="-285750" lvl="1" marL="742950" rtl="0" algn="just">
              <a:lnSpc>
                <a:spcPct val="90000"/>
              </a:lnSpc>
              <a:spcBef>
                <a:spcPts val="500"/>
              </a:spcBef>
              <a:spcAft>
                <a:spcPts val="0"/>
              </a:spcAft>
              <a:buClr>
                <a:schemeClr val="dk1"/>
              </a:buClr>
              <a:buSzPct val="100000"/>
              <a:buFont typeface="Arial"/>
              <a:buChar char="•"/>
            </a:pPr>
            <a:r>
              <a:rPr lang="en-US"/>
              <a:t>Discourse Parsing: Analyzing the structure and elements of a larger text or dialogue.</a:t>
            </a:r>
            <a:endParaRPr/>
          </a:p>
          <a:p>
            <a:pPr indent="-285750" lvl="0" marL="285750" rtl="0" algn="just">
              <a:lnSpc>
                <a:spcPct val="90000"/>
              </a:lnSpc>
              <a:spcBef>
                <a:spcPts val="1000"/>
              </a:spcBef>
              <a:spcAft>
                <a:spcPts val="0"/>
              </a:spcAft>
              <a:buClr>
                <a:schemeClr val="dk1"/>
              </a:buClr>
              <a:buSzPct val="100000"/>
              <a:buFont typeface="Arial"/>
              <a:buChar char="•"/>
            </a:pPr>
            <a:r>
              <a:rPr b="1" lang="en-US" sz="2600"/>
              <a:t>Key Concepts</a:t>
            </a:r>
            <a:r>
              <a:rPr lang="en-US" sz="2600"/>
              <a:t>:</a:t>
            </a:r>
            <a:endParaRPr/>
          </a:p>
          <a:p>
            <a:pPr indent="-285750" lvl="1" marL="742950" rtl="0" algn="just">
              <a:lnSpc>
                <a:spcPct val="90000"/>
              </a:lnSpc>
              <a:spcBef>
                <a:spcPts val="500"/>
              </a:spcBef>
              <a:spcAft>
                <a:spcPts val="0"/>
              </a:spcAft>
              <a:buClr>
                <a:schemeClr val="dk1"/>
              </a:buClr>
              <a:buSzPct val="100000"/>
              <a:buFont typeface="Arial"/>
              <a:buChar char="•"/>
            </a:pPr>
            <a:r>
              <a:rPr lang="en-US"/>
              <a:t>Discourse Markers: Words or phrases that organize and manage the flow of discourse (e.g., "however", "therefore").</a:t>
            </a:r>
            <a:endParaRPr/>
          </a:p>
          <a:p>
            <a:pPr indent="-285750" lvl="1" marL="742950" rtl="0" algn="just">
              <a:lnSpc>
                <a:spcPct val="90000"/>
              </a:lnSpc>
              <a:spcBef>
                <a:spcPts val="500"/>
              </a:spcBef>
              <a:spcAft>
                <a:spcPts val="0"/>
              </a:spcAft>
              <a:buClr>
                <a:schemeClr val="dk1"/>
              </a:buClr>
              <a:buSzPct val="100000"/>
              <a:buFont typeface="Arial"/>
              <a:buChar char="•"/>
            </a:pPr>
            <a:r>
              <a:rPr lang="en-US"/>
              <a:t>Topic Segmentation: Dividing text into segments based on topic shifts.</a:t>
            </a:r>
            <a:endParaRPr/>
          </a:p>
          <a:p>
            <a:pPr indent="-285750" lvl="0" marL="285750" rtl="0" algn="just">
              <a:lnSpc>
                <a:spcPct val="90000"/>
              </a:lnSpc>
              <a:spcBef>
                <a:spcPts val="1000"/>
              </a:spcBef>
              <a:spcAft>
                <a:spcPts val="0"/>
              </a:spcAft>
              <a:buClr>
                <a:schemeClr val="dk1"/>
              </a:buClr>
              <a:buSzPct val="100000"/>
              <a:buFont typeface="Arial"/>
              <a:buChar char="•"/>
            </a:pPr>
            <a:r>
              <a:rPr b="1" lang="en-US" sz="2600"/>
              <a:t>Importance in NLP</a:t>
            </a:r>
            <a:r>
              <a:rPr lang="en-US" sz="2600"/>
              <a:t>:</a:t>
            </a:r>
            <a:endParaRPr/>
          </a:p>
          <a:p>
            <a:pPr indent="-285750" lvl="1" marL="742950" rtl="0" algn="just">
              <a:lnSpc>
                <a:spcPct val="90000"/>
              </a:lnSpc>
              <a:spcBef>
                <a:spcPts val="500"/>
              </a:spcBef>
              <a:spcAft>
                <a:spcPts val="0"/>
              </a:spcAft>
              <a:buClr>
                <a:schemeClr val="dk1"/>
              </a:buClr>
              <a:buSzPct val="100000"/>
              <a:buFont typeface="Arial"/>
              <a:buChar char="•"/>
            </a:pPr>
            <a:r>
              <a:rPr lang="en-US"/>
              <a:t>Text Summarization: Producing concise summaries of longer texts.</a:t>
            </a:r>
            <a:endParaRPr/>
          </a:p>
          <a:p>
            <a:pPr indent="-285750" lvl="1" marL="742950" rtl="0" algn="just">
              <a:lnSpc>
                <a:spcPct val="90000"/>
              </a:lnSpc>
              <a:spcBef>
                <a:spcPts val="500"/>
              </a:spcBef>
              <a:spcAft>
                <a:spcPts val="0"/>
              </a:spcAft>
              <a:buClr>
                <a:schemeClr val="dk1"/>
              </a:buClr>
              <a:buSzPct val="100000"/>
              <a:buFont typeface="Arial"/>
              <a:buChar char="•"/>
            </a:pPr>
            <a:r>
              <a:rPr lang="en-US"/>
              <a:t>Document Understanding: Comprehending and generating coherent multi-sentence texts.</a:t>
            </a:r>
            <a:endParaRPr/>
          </a:p>
          <a:p>
            <a:pPr indent="-121285" lvl="0" marL="285750" rtl="0" algn="just">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9"/>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b="1" lang="en-US"/>
              <a:t>Biology of Speech Processing</a:t>
            </a:r>
            <a:endParaRPr/>
          </a:p>
        </p:txBody>
      </p:sp>
      <p:sp>
        <p:nvSpPr>
          <p:cNvPr id="257" name="Google Shape;257;p29"/>
          <p:cNvSpPr txBox="1"/>
          <p:nvPr>
            <p:ph idx="1" type="body"/>
          </p:nvPr>
        </p:nvSpPr>
        <p:spPr>
          <a:xfrm>
            <a:off x="843149" y="1707285"/>
            <a:ext cx="11020300" cy="4760824"/>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b="1" lang="en-US"/>
              <a:t>Speech Production</a:t>
            </a:r>
            <a:r>
              <a:rPr lang="en-US"/>
              <a:t>: </a:t>
            </a:r>
            <a:r>
              <a:rPr b="1" lang="en-US"/>
              <a:t>Respiratory System</a:t>
            </a:r>
            <a:r>
              <a:rPr lang="en-US"/>
              <a:t>: The lungs provide the airflow necessary for speech.</a:t>
            </a:r>
            <a:endParaRPr/>
          </a:p>
          <a:p>
            <a:pPr indent="-285750" lvl="1" marL="742950" rtl="0" algn="just">
              <a:lnSpc>
                <a:spcPct val="90000"/>
              </a:lnSpc>
              <a:spcBef>
                <a:spcPts val="500"/>
              </a:spcBef>
              <a:spcAft>
                <a:spcPts val="0"/>
              </a:spcAft>
              <a:buClr>
                <a:schemeClr val="dk1"/>
              </a:buClr>
              <a:buSzPts val="2400"/>
              <a:buFont typeface="Arial"/>
              <a:buChar char="•"/>
            </a:pPr>
            <a:r>
              <a:rPr b="1" lang="en-US"/>
              <a:t>Phonatory System</a:t>
            </a:r>
            <a:r>
              <a:rPr lang="en-US"/>
              <a:t>: The vocal cords (or vocal folds) vibrate to create sound waves when air passes through them.</a:t>
            </a:r>
            <a:endParaRPr/>
          </a:p>
          <a:p>
            <a:pPr indent="-285750" lvl="1" marL="742950" rtl="0" algn="just">
              <a:lnSpc>
                <a:spcPct val="90000"/>
              </a:lnSpc>
              <a:spcBef>
                <a:spcPts val="500"/>
              </a:spcBef>
              <a:spcAft>
                <a:spcPts val="0"/>
              </a:spcAft>
              <a:buClr>
                <a:schemeClr val="dk1"/>
              </a:buClr>
              <a:buSzPts val="2400"/>
              <a:buFont typeface="Arial"/>
              <a:buChar char="•"/>
            </a:pPr>
            <a:r>
              <a:rPr b="1" lang="en-US"/>
              <a:t>Articulatory System</a:t>
            </a:r>
            <a:r>
              <a:rPr lang="en-US"/>
              <a:t>: The tongue, lips, teeth, palate, and other parts of the mouth shape these sound waves into distinct speech sounds.</a:t>
            </a:r>
            <a:endParaRPr/>
          </a:p>
          <a:p>
            <a:pPr indent="-107950" lvl="0" marL="285750" rtl="0" algn="just">
              <a:lnSpc>
                <a:spcPct val="90000"/>
              </a:lnSpc>
              <a:spcBef>
                <a:spcPts val="1000"/>
              </a:spcBef>
              <a:spcAft>
                <a:spcPts val="0"/>
              </a:spcAft>
              <a:buClr>
                <a:schemeClr val="dk1"/>
              </a:buClr>
              <a:buSzPts val="2800"/>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0"/>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b="1" lang="en-US"/>
              <a:t>Biology of Speech Processing…</a:t>
            </a:r>
            <a:endParaRPr/>
          </a:p>
        </p:txBody>
      </p:sp>
      <p:sp>
        <p:nvSpPr>
          <p:cNvPr id="263" name="Google Shape;263;p30"/>
          <p:cNvSpPr txBox="1"/>
          <p:nvPr>
            <p:ph idx="1" type="body"/>
          </p:nvPr>
        </p:nvSpPr>
        <p:spPr>
          <a:xfrm>
            <a:off x="985651" y="997527"/>
            <a:ext cx="10913423" cy="5474525"/>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0"/>
              </a:spcBef>
              <a:spcAft>
                <a:spcPts val="0"/>
              </a:spcAft>
              <a:buClr>
                <a:schemeClr val="dk1"/>
              </a:buClr>
              <a:buSzPts val="2800"/>
              <a:buNone/>
            </a:pPr>
            <a:r>
              <a:rPr b="1" lang="en-US"/>
              <a:t>Place of Articulation</a:t>
            </a:r>
            <a:r>
              <a:rPr lang="en-US"/>
              <a:t>:</a:t>
            </a:r>
            <a:endParaRPr/>
          </a:p>
          <a:p>
            <a:pPr indent="0" lvl="0" marL="0" rtl="0" algn="just">
              <a:lnSpc>
                <a:spcPct val="90000"/>
              </a:lnSpc>
              <a:spcBef>
                <a:spcPts val="1000"/>
              </a:spcBef>
              <a:spcAft>
                <a:spcPts val="0"/>
              </a:spcAft>
              <a:buClr>
                <a:schemeClr val="dk1"/>
              </a:buClr>
              <a:buSzPts val="2800"/>
              <a:buNone/>
            </a:pPr>
            <a:r>
              <a:rPr lang="en-US"/>
              <a:t>The location in the vocal tract where the airflow is constricted or obstructed during the production of a speech sound.</a:t>
            </a:r>
            <a:endParaRPr/>
          </a:p>
          <a:p>
            <a:pPr indent="-285750" lvl="0" marL="285750" rtl="0" algn="just">
              <a:lnSpc>
                <a:spcPct val="90000"/>
              </a:lnSpc>
              <a:spcBef>
                <a:spcPts val="1000"/>
              </a:spcBef>
              <a:spcAft>
                <a:spcPts val="0"/>
              </a:spcAft>
              <a:buClr>
                <a:schemeClr val="dk1"/>
              </a:buClr>
              <a:buSzPts val="2800"/>
              <a:buFont typeface="Arial"/>
              <a:buChar char="•"/>
            </a:pPr>
            <a:r>
              <a:rPr b="1" lang="en-US"/>
              <a:t>Examples</a:t>
            </a:r>
            <a:r>
              <a:rPr lang="en-US"/>
              <a:t>:</a:t>
            </a:r>
            <a:endParaRPr/>
          </a:p>
          <a:p>
            <a:pPr indent="-285750" lvl="1" marL="742950" rtl="0" algn="just">
              <a:lnSpc>
                <a:spcPct val="90000"/>
              </a:lnSpc>
              <a:spcBef>
                <a:spcPts val="500"/>
              </a:spcBef>
              <a:spcAft>
                <a:spcPts val="0"/>
              </a:spcAft>
              <a:buClr>
                <a:schemeClr val="dk1"/>
              </a:buClr>
              <a:buSzPts val="2400"/>
              <a:buFont typeface="Arial"/>
              <a:buChar char="•"/>
            </a:pPr>
            <a:r>
              <a:rPr lang="en-US"/>
              <a:t>Bilabial: Both lips come together (e.g., /p/ as in "pat", /b/ as in "bat").</a:t>
            </a:r>
            <a:endParaRPr/>
          </a:p>
          <a:p>
            <a:pPr indent="-285750" lvl="1" marL="742950" rtl="0" algn="just">
              <a:lnSpc>
                <a:spcPct val="90000"/>
              </a:lnSpc>
              <a:spcBef>
                <a:spcPts val="500"/>
              </a:spcBef>
              <a:spcAft>
                <a:spcPts val="0"/>
              </a:spcAft>
              <a:buClr>
                <a:schemeClr val="dk1"/>
              </a:buClr>
              <a:buSzPts val="2400"/>
              <a:buFont typeface="Arial"/>
              <a:buChar char="•"/>
            </a:pPr>
            <a:r>
              <a:rPr lang="en-US"/>
              <a:t>Labiodental: Lower lip touches the upper teeth (e.g., /f/ as in "fat", /v/ as in "vat").</a:t>
            </a:r>
            <a:endParaRPr/>
          </a:p>
          <a:p>
            <a:pPr indent="-285750" lvl="1" marL="742950" rtl="0" algn="just">
              <a:lnSpc>
                <a:spcPct val="90000"/>
              </a:lnSpc>
              <a:spcBef>
                <a:spcPts val="500"/>
              </a:spcBef>
              <a:spcAft>
                <a:spcPts val="0"/>
              </a:spcAft>
              <a:buClr>
                <a:schemeClr val="dk1"/>
              </a:buClr>
              <a:buSzPts val="2400"/>
              <a:buFont typeface="Arial"/>
              <a:buChar char="•"/>
            </a:pPr>
            <a:r>
              <a:rPr lang="en-US"/>
              <a:t>Dental: Tongue touches the upper teeth (e.g., /θ/ as in "thin", /ð/ as in "this").</a:t>
            </a:r>
            <a:endParaRPr/>
          </a:p>
          <a:p>
            <a:pPr indent="-285750" lvl="1" marL="742950" rtl="0" algn="just">
              <a:lnSpc>
                <a:spcPct val="90000"/>
              </a:lnSpc>
              <a:spcBef>
                <a:spcPts val="500"/>
              </a:spcBef>
              <a:spcAft>
                <a:spcPts val="0"/>
              </a:spcAft>
              <a:buClr>
                <a:schemeClr val="dk1"/>
              </a:buClr>
              <a:buSzPts val="2400"/>
              <a:buFont typeface="Arial"/>
              <a:buChar char="•"/>
            </a:pPr>
            <a:r>
              <a:rPr lang="en-US"/>
              <a:t>Alveolar: Tongue touches the alveolar ridge just behind the upper front teeth (e.g., /t/ as in "tap", /d/ as in "dap").</a:t>
            </a:r>
            <a:endParaRPr/>
          </a:p>
          <a:p>
            <a:pPr indent="-285750" lvl="1" marL="742950" rtl="0" algn="just">
              <a:lnSpc>
                <a:spcPct val="90000"/>
              </a:lnSpc>
              <a:spcBef>
                <a:spcPts val="500"/>
              </a:spcBef>
              <a:spcAft>
                <a:spcPts val="0"/>
              </a:spcAft>
              <a:buClr>
                <a:schemeClr val="dk1"/>
              </a:buClr>
              <a:buSzPts val="2400"/>
              <a:buFont typeface="Arial"/>
              <a:buChar char="•"/>
            </a:pPr>
            <a:r>
              <a:rPr lang="en-US"/>
              <a:t>Palatal: Tongue touches the hard palate (e.g., /ʃ/ as in "she", /ʒ/ as in "measure").</a:t>
            </a:r>
            <a:endParaRPr/>
          </a:p>
          <a:p>
            <a:pPr indent="-285750" lvl="1" marL="742950" rtl="0" algn="just">
              <a:lnSpc>
                <a:spcPct val="90000"/>
              </a:lnSpc>
              <a:spcBef>
                <a:spcPts val="500"/>
              </a:spcBef>
              <a:spcAft>
                <a:spcPts val="0"/>
              </a:spcAft>
              <a:buClr>
                <a:schemeClr val="dk1"/>
              </a:buClr>
              <a:buSzPts val="2400"/>
              <a:buFont typeface="Arial"/>
              <a:buChar char="•"/>
            </a:pPr>
            <a:r>
              <a:rPr lang="en-US"/>
              <a:t>Velar: Back of the tongue touches the soft palate or velum (e.g., /k/ as in "cat", /g/ as in "go").</a:t>
            </a:r>
            <a:endParaRPr/>
          </a:p>
          <a:p>
            <a:pPr indent="-285750" lvl="1" marL="742950" rtl="0" algn="just">
              <a:lnSpc>
                <a:spcPct val="90000"/>
              </a:lnSpc>
              <a:spcBef>
                <a:spcPts val="500"/>
              </a:spcBef>
              <a:spcAft>
                <a:spcPts val="0"/>
              </a:spcAft>
              <a:buClr>
                <a:schemeClr val="dk1"/>
              </a:buClr>
              <a:buSzPts val="2400"/>
              <a:buFont typeface="Arial"/>
              <a:buChar char="•"/>
            </a:pPr>
            <a:r>
              <a:rPr lang="en-US"/>
              <a:t>Glottal: Sound is produced at the glottis (e.g., /h/ as in "hat").</a:t>
            </a:r>
            <a:endParaRPr/>
          </a:p>
          <a:p>
            <a:pPr indent="-107950" lvl="0" marL="285750" rtl="0" algn="just">
              <a:lnSpc>
                <a:spcPct val="90000"/>
              </a:lnSpc>
              <a:spcBef>
                <a:spcPts val="1000"/>
              </a:spcBef>
              <a:spcAft>
                <a:spcPts val="0"/>
              </a:spcAft>
              <a:buClr>
                <a:schemeClr val="dk1"/>
              </a:buClr>
              <a:buSzPts val="2800"/>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1"/>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b="1" lang="en-US"/>
              <a:t>Biology of Speech Processing…</a:t>
            </a:r>
            <a:endParaRPr/>
          </a:p>
        </p:txBody>
      </p:sp>
      <p:sp>
        <p:nvSpPr>
          <p:cNvPr id="269" name="Google Shape;269;p31"/>
          <p:cNvSpPr txBox="1"/>
          <p:nvPr>
            <p:ph idx="1" type="body"/>
          </p:nvPr>
        </p:nvSpPr>
        <p:spPr>
          <a:xfrm>
            <a:off x="866898" y="1324628"/>
            <a:ext cx="11020302" cy="4826790"/>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0"/>
              </a:spcBef>
              <a:spcAft>
                <a:spcPts val="0"/>
              </a:spcAft>
              <a:buClr>
                <a:schemeClr val="dk1"/>
              </a:buClr>
              <a:buSzPts val="2800"/>
              <a:buNone/>
            </a:pPr>
            <a:r>
              <a:rPr b="1" lang="en-US"/>
              <a:t>Manner of Articulation</a:t>
            </a:r>
            <a:r>
              <a:rPr lang="en-US"/>
              <a:t>:</a:t>
            </a:r>
            <a:endParaRPr/>
          </a:p>
          <a:p>
            <a:pPr indent="0" lvl="0" marL="0" rtl="0" algn="just">
              <a:lnSpc>
                <a:spcPct val="90000"/>
              </a:lnSpc>
              <a:spcBef>
                <a:spcPts val="1000"/>
              </a:spcBef>
              <a:spcAft>
                <a:spcPts val="0"/>
              </a:spcAft>
              <a:buClr>
                <a:schemeClr val="dk1"/>
              </a:buClr>
              <a:buSzPts val="2800"/>
              <a:buNone/>
            </a:pPr>
            <a:r>
              <a:rPr lang="en-US"/>
              <a:t>The way in which the airflow is modified as it passes through the vocal tract.</a:t>
            </a:r>
            <a:endParaRPr/>
          </a:p>
          <a:p>
            <a:pPr indent="-285750" lvl="0" marL="285750" rtl="0" algn="just">
              <a:lnSpc>
                <a:spcPct val="90000"/>
              </a:lnSpc>
              <a:spcBef>
                <a:spcPts val="1000"/>
              </a:spcBef>
              <a:spcAft>
                <a:spcPts val="0"/>
              </a:spcAft>
              <a:buClr>
                <a:schemeClr val="dk1"/>
              </a:buClr>
              <a:buSzPts val="2800"/>
              <a:buFont typeface="Arial"/>
              <a:buChar char="•"/>
            </a:pPr>
            <a:r>
              <a:rPr b="1" lang="en-US"/>
              <a:t>Examples</a:t>
            </a:r>
            <a:r>
              <a:rPr lang="en-US"/>
              <a:t>:</a:t>
            </a:r>
            <a:endParaRPr/>
          </a:p>
          <a:p>
            <a:pPr indent="-285750" lvl="1" marL="742950" rtl="0" algn="just">
              <a:lnSpc>
                <a:spcPct val="90000"/>
              </a:lnSpc>
              <a:spcBef>
                <a:spcPts val="500"/>
              </a:spcBef>
              <a:spcAft>
                <a:spcPts val="0"/>
              </a:spcAft>
              <a:buClr>
                <a:schemeClr val="dk1"/>
              </a:buClr>
              <a:buSzPts val="2400"/>
              <a:buFont typeface="Arial"/>
              <a:buChar char="•"/>
            </a:pPr>
            <a:r>
              <a:rPr lang="en-US"/>
              <a:t>Stops: Complete closure of the vocal tract followed by a release (e.g., /p/, /t/, /k/).</a:t>
            </a:r>
            <a:endParaRPr/>
          </a:p>
          <a:p>
            <a:pPr indent="-285750" lvl="1" marL="742950" rtl="0" algn="just">
              <a:lnSpc>
                <a:spcPct val="90000"/>
              </a:lnSpc>
              <a:spcBef>
                <a:spcPts val="500"/>
              </a:spcBef>
              <a:spcAft>
                <a:spcPts val="0"/>
              </a:spcAft>
              <a:buClr>
                <a:schemeClr val="dk1"/>
              </a:buClr>
              <a:buSzPts val="2400"/>
              <a:buFont typeface="Arial"/>
              <a:buChar char="•"/>
            </a:pPr>
            <a:r>
              <a:rPr lang="en-US"/>
              <a:t>Fricatives: Narrowing of the vocal tract causing turbulent airflow (e.g., /f/, /s/, /ʃ/).</a:t>
            </a:r>
            <a:endParaRPr/>
          </a:p>
          <a:p>
            <a:pPr indent="-285750" lvl="1" marL="742950" rtl="0" algn="just">
              <a:lnSpc>
                <a:spcPct val="90000"/>
              </a:lnSpc>
              <a:spcBef>
                <a:spcPts val="500"/>
              </a:spcBef>
              <a:spcAft>
                <a:spcPts val="0"/>
              </a:spcAft>
              <a:buClr>
                <a:schemeClr val="dk1"/>
              </a:buClr>
              <a:buSzPts val="2400"/>
              <a:buFont typeface="Arial"/>
              <a:buChar char="•"/>
            </a:pPr>
            <a:r>
              <a:rPr lang="en-US"/>
              <a:t>Affricates: Combination of a stop and a fricative (e.g., /tʃ/ as in "chop", /dʒ/ as in "job").</a:t>
            </a:r>
            <a:endParaRPr/>
          </a:p>
          <a:p>
            <a:pPr indent="-285750" lvl="1" marL="742950" rtl="0" algn="just">
              <a:lnSpc>
                <a:spcPct val="90000"/>
              </a:lnSpc>
              <a:spcBef>
                <a:spcPts val="500"/>
              </a:spcBef>
              <a:spcAft>
                <a:spcPts val="0"/>
              </a:spcAft>
              <a:buClr>
                <a:schemeClr val="dk1"/>
              </a:buClr>
              <a:buSzPts val="2400"/>
              <a:buFont typeface="Arial"/>
              <a:buChar char="•"/>
            </a:pPr>
            <a:r>
              <a:rPr lang="en-US"/>
              <a:t>Nasals: Airflow through the nose (e.g., /m/, /n/, /ŋ/ as in "sing").</a:t>
            </a:r>
            <a:endParaRPr/>
          </a:p>
          <a:p>
            <a:pPr indent="-285750" lvl="1" marL="742950" rtl="0" algn="just">
              <a:lnSpc>
                <a:spcPct val="90000"/>
              </a:lnSpc>
              <a:spcBef>
                <a:spcPts val="500"/>
              </a:spcBef>
              <a:spcAft>
                <a:spcPts val="0"/>
              </a:spcAft>
              <a:buClr>
                <a:schemeClr val="dk1"/>
              </a:buClr>
              <a:buSzPts val="2400"/>
              <a:buFont typeface="Arial"/>
              <a:buChar char="•"/>
            </a:pPr>
            <a:r>
              <a:rPr lang="en-US"/>
              <a:t>Liquids: Air flows around the sides of the tongue (e.g., /l/ as in "lip", /r/ as in "rip").</a:t>
            </a:r>
            <a:endParaRPr/>
          </a:p>
          <a:p>
            <a:pPr indent="-285750" lvl="1" marL="742950" rtl="0" algn="just">
              <a:lnSpc>
                <a:spcPct val="90000"/>
              </a:lnSpc>
              <a:spcBef>
                <a:spcPts val="500"/>
              </a:spcBef>
              <a:spcAft>
                <a:spcPts val="0"/>
              </a:spcAft>
              <a:buClr>
                <a:schemeClr val="dk1"/>
              </a:buClr>
              <a:buSzPts val="2400"/>
              <a:buFont typeface="Arial"/>
              <a:buChar char="•"/>
            </a:pPr>
            <a:r>
              <a:rPr lang="en-US"/>
              <a:t>Glides: Gliding motion of the tongue (e.g., /j/ as in "yes", /w/ as in "wet").</a:t>
            </a:r>
            <a:endParaRPr/>
          </a:p>
          <a:p>
            <a:pPr indent="-107950" lvl="0" marL="285750" rtl="0" algn="just">
              <a:lnSpc>
                <a:spcPct val="90000"/>
              </a:lnSpc>
              <a:spcBef>
                <a:spcPts val="1000"/>
              </a:spcBef>
              <a:spcAft>
                <a:spcPts val="0"/>
              </a:spcAft>
              <a:buClr>
                <a:schemeClr val="dk1"/>
              </a:buClr>
              <a:buSzPts val="2800"/>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2"/>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Word Boundary Detection</a:t>
            </a:r>
            <a:endParaRPr/>
          </a:p>
        </p:txBody>
      </p:sp>
      <p:sp>
        <p:nvSpPr>
          <p:cNvPr id="275" name="Google Shape;275;p32"/>
          <p:cNvSpPr txBox="1"/>
          <p:nvPr/>
        </p:nvSpPr>
        <p:spPr>
          <a:xfrm>
            <a:off x="1193800" y="928914"/>
            <a:ext cx="10350500" cy="5395686"/>
          </a:xfrm>
          <a:prstGeom prst="rect">
            <a:avLst/>
          </a:prstGeom>
          <a:noFill/>
          <a:ln>
            <a:noFill/>
          </a:ln>
        </p:spPr>
        <p:txBody>
          <a:bodyPr anchorCtr="0" anchor="t" bIns="45700" lIns="91425" spcFirstLastPara="1" rIns="91425" wrap="square" tIns="45700">
            <a:normAutofit/>
          </a:bodyPr>
          <a:lstStyle/>
          <a:p>
            <a:pPr indent="-285750" lvl="0" marL="285750" marR="0" rtl="0" algn="just">
              <a:lnSpc>
                <a:spcPct val="90000"/>
              </a:lnSpc>
              <a:spcBef>
                <a:spcPts val="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Word Boundary Detection:</a:t>
            </a:r>
            <a:br>
              <a:rPr lang="en-US" sz="2800">
                <a:solidFill>
                  <a:schemeClr val="dk1"/>
                </a:solidFill>
                <a:latin typeface="Times New Roman"/>
                <a:ea typeface="Times New Roman"/>
                <a:cs typeface="Times New Roman"/>
                <a:sym typeface="Times New Roman"/>
              </a:rPr>
            </a:br>
            <a:r>
              <a:rPr lang="en-US" sz="2800">
                <a:solidFill>
                  <a:schemeClr val="dk1"/>
                </a:solidFill>
                <a:latin typeface="Times New Roman"/>
                <a:ea typeface="Times New Roman"/>
                <a:cs typeface="Times New Roman"/>
                <a:sym typeface="Times New Roman"/>
              </a:rPr>
              <a:t>Languages like English have spaces to mark word boundaries, but spoken language and many Indian languages do not have clear word delimiters. Word boundary detection identifies the beginning and end of words in continuous text or speech.</a:t>
            </a:r>
            <a:br>
              <a:rPr lang="en-US" sz="2800">
                <a:solidFill>
                  <a:schemeClr val="dk1"/>
                </a:solidFill>
                <a:latin typeface="Times New Roman"/>
                <a:ea typeface="Times New Roman"/>
                <a:cs typeface="Times New Roman"/>
                <a:sym typeface="Times New Roman"/>
              </a:rPr>
            </a:br>
            <a:r>
              <a:rPr lang="en-US" sz="2800">
                <a:solidFill>
                  <a:schemeClr val="dk1"/>
                </a:solidFill>
                <a:latin typeface="Times New Roman"/>
                <a:ea typeface="Times New Roman"/>
                <a:cs typeface="Times New Roman"/>
                <a:sym typeface="Times New Roman"/>
              </a:rPr>
              <a:t>Techniques:</a:t>
            </a:r>
            <a:br>
              <a:rPr lang="en-US" sz="2800">
                <a:solidFill>
                  <a:schemeClr val="dk1"/>
                </a:solidFill>
                <a:latin typeface="Times New Roman"/>
                <a:ea typeface="Times New Roman"/>
                <a:cs typeface="Times New Roman"/>
                <a:sym typeface="Times New Roman"/>
              </a:rPr>
            </a:br>
            <a:r>
              <a:rPr lang="en-US" sz="2800">
                <a:solidFill>
                  <a:schemeClr val="dk1"/>
                </a:solidFill>
                <a:latin typeface="Times New Roman"/>
                <a:ea typeface="Times New Roman"/>
                <a:cs typeface="Times New Roman"/>
                <a:sym typeface="Times New Roman"/>
              </a:rPr>
              <a:t> Acoustic models to detect pauses in speech</a:t>
            </a:r>
            <a:br>
              <a:rPr lang="en-US" sz="2800">
                <a:solidFill>
                  <a:schemeClr val="dk1"/>
                </a:solidFill>
                <a:latin typeface="Times New Roman"/>
                <a:ea typeface="Times New Roman"/>
                <a:cs typeface="Times New Roman"/>
                <a:sym typeface="Times New Roman"/>
              </a:rPr>
            </a:br>
            <a:r>
              <a:rPr lang="en-US" sz="2800">
                <a:solidFill>
                  <a:schemeClr val="dk1"/>
                </a:solidFill>
                <a:latin typeface="Times New Roman"/>
                <a:ea typeface="Times New Roman"/>
                <a:cs typeface="Times New Roman"/>
                <a:sym typeface="Times New Roman"/>
              </a:rPr>
              <a:t> Statistical models to predict likely word combinations</a:t>
            </a:r>
            <a:br>
              <a:rPr lang="en-US" sz="2800">
                <a:solidFill>
                  <a:schemeClr val="dk1"/>
                </a:solidFill>
                <a:latin typeface="Times New Roman"/>
                <a:ea typeface="Times New Roman"/>
                <a:cs typeface="Times New Roman"/>
                <a:sym typeface="Times New Roman"/>
              </a:rPr>
            </a:br>
            <a:r>
              <a:rPr lang="en-US" sz="2800">
                <a:solidFill>
                  <a:schemeClr val="dk1"/>
                </a:solidFill>
                <a:latin typeface="Times New Roman"/>
                <a:ea typeface="Times New Roman"/>
                <a:cs typeface="Times New Roman"/>
                <a:sym typeface="Times New Roman"/>
              </a:rPr>
              <a:t> Applications: Speech-to-text systems, OCR, text segmentation</a:t>
            </a:r>
            <a:br>
              <a:rPr lang="en-US" sz="2800">
                <a:solidFill>
                  <a:schemeClr val="dk1"/>
                </a:solidFill>
                <a:latin typeface="Times New Roman"/>
                <a:ea typeface="Times New Roman"/>
                <a:cs typeface="Times New Roman"/>
                <a:sym typeface="Times New Roman"/>
              </a:rPr>
            </a:br>
            <a:r>
              <a:rPr lang="en-US" sz="2800">
                <a:solidFill>
                  <a:schemeClr val="dk1"/>
                </a:solidFill>
                <a:latin typeface="Times New Roman"/>
                <a:ea typeface="Times New Roman"/>
                <a:cs typeface="Times New Roman"/>
                <a:sym typeface="Times New Roman"/>
              </a:rPr>
              <a:t>Example: In speech, 'I scream' and 'ice cream' may sound similar, and boundary detection resolves ambiguity.</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3"/>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Word Boundary Detection</a:t>
            </a:r>
            <a:endParaRPr/>
          </a:p>
        </p:txBody>
      </p:sp>
      <p:sp>
        <p:nvSpPr>
          <p:cNvPr id="281" name="Google Shape;281;p33"/>
          <p:cNvSpPr txBox="1"/>
          <p:nvPr>
            <p:ph idx="1" type="body"/>
          </p:nvPr>
        </p:nvSpPr>
        <p:spPr>
          <a:xfrm>
            <a:off x="902524" y="1104401"/>
            <a:ext cx="10984676" cy="4900565"/>
          </a:xfrm>
          <a:prstGeom prst="rect">
            <a:avLst/>
          </a:prstGeom>
          <a:noFill/>
          <a:ln>
            <a:noFill/>
          </a:ln>
        </p:spPr>
        <p:txBody>
          <a:bodyPr anchorCtr="0" anchor="t" bIns="45700" lIns="91425" spcFirstLastPara="1" rIns="91425" wrap="square" tIns="45700">
            <a:normAutofit/>
          </a:bodyPr>
          <a:lstStyle/>
          <a:p>
            <a:pPr indent="-285750" lvl="0" marL="285750" rtl="0" algn="just">
              <a:lnSpc>
                <a:spcPct val="90000"/>
              </a:lnSpc>
              <a:spcBef>
                <a:spcPts val="0"/>
              </a:spcBef>
              <a:spcAft>
                <a:spcPts val="0"/>
              </a:spcAft>
              <a:buClr>
                <a:schemeClr val="dk1"/>
              </a:buClr>
              <a:buSzPts val="2800"/>
              <a:buChar char="•"/>
            </a:pPr>
            <a:r>
              <a:rPr lang="en-US"/>
              <a:t>Identifying the beginning and end of words in a continuous stream of speech or text is a crucial task in NLP and speech processing.</a:t>
            </a:r>
            <a:endParaRPr/>
          </a:p>
          <a:p>
            <a:pPr indent="0" lvl="0" marL="0" rtl="0" algn="just">
              <a:lnSpc>
                <a:spcPct val="90000"/>
              </a:lnSpc>
              <a:spcBef>
                <a:spcPts val="1000"/>
              </a:spcBef>
              <a:spcAft>
                <a:spcPts val="0"/>
              </a:spcAft>
              <a:buClr>
                <a:schemeClr val="dk1"/>
              </a:buClr>
              <a:buSzPts val="2800"/>
              <a:buNone/>
            </a:pPr>
            <a:r>
              <a:rPr b="1" lang="en-US"/>
              <a:t>Challenges</a:t>
            </a:r>
            <a:r>
              <a:rPr lang="en-US"/>
              <a:t>:</a:t>
            </a:r>
            <a:endParaRPr/>
          </a:p>
          <a:p>
            <a:pPr indent="-285750" lvl="0" marL="285750" rtl="0" algn="just">
              <a:lnSpc>
                <a:spcPct val="90000"/>
              </a:lnSpc>
              <a:spcBef>
                <a:spcPts val="1000"/>
              </a:spcBef>
              <a:spcAft>
                <a:spcPts val="0"/>
              </a:spcAft>
              <a:buClr>
                <a:schemeClr val="dk1"/>
              </a:buClr>
              <a:buSzPts val="2800"/>
              <a:buFont typeface="Arial"/>
              <a:buChar char="•"/>
            </a:pPr>
            <a:r>
              <a:rPr b="1" lang="en-US"/>
              <a:t>Continuous Speech</a:t>
            </a:r>
            <a:r>
              <a:rPr lang="en-US"/>
              <a:t>: In natural speech, there are often no clear pauses between words, making it hard to distinguish word boundaries.</a:t>
            </a:r>
            <a:endParaRPr/>
          </a:p>
          <a:p>
            <a:pPr indent="-285750" lvl="0" marL="285750" rtl="0" algn="just">
              <a:lnSpc>
                <a:spcPct val="90000"/>
              </a:lnSpc>
              <a:spcBef>
                <a:spcPts val="1000"/>
              </a:spcBef>
              <a:spcAft>
                <a:spcPts val="0"/>
              </a:spcAft>
              <a:buClr>
                <a:schemeClr val="dk1"/>
              </a:buClr>
              <a:buSzPts val="2800"/>
              <a:buFont typeface="Arial"/>
              <a:buChar char="•"/>
            </a:pPr>
            <a:r>
              <a:rPr b="1" lang="en-US"/>
              <a:t>Homophones</a:t>
            </a:r>
            <a:r>
              <a:rPr lang="en-US"/>
              <a:t>: Words that sound the same but have different meanings and spellings (e.g., "night" and "knight") add complexity.</a:t>
            </a:r>
            <a:endParaRPr/>
          </a:p>
          <a:p>
            <a:pPr indent="-285750" lvl="0" marL="285750" rtl="0" algn="just">
              <a:lnSpc>
                <a:spcPct val="90000"/>
              </a:lnSpc>
              <a:spcBef>
                <a:spcPts val="1000"/>
              </a:spcBef>
              <a:spcAft>
                <a:spcPts val="0"/>
              </a:spcAft>
              <a:buClr>
                <a:schemeClr val="dk1"/>
              </a:buClr>
              <a:buSzPts val="2800"/>
              <a:buFont typeface="Arial"/>
              <a:buChar char="•"/>
            </a:pPr>
            <a:r>
              <a:rPr b="1" lang="en-US"/>
              <a:t>Variability</a:t>
            </a:r>
            <a:r>
              <a:rPr lang="en-US"/>
              <a:t>: Different speakers, accents, and speaking rates can alter the way word boundaries appear.</a:t>
            </a:r>
            <a:endParaRPr/>
          </a:p>
          <a:p>
            <a:pPr indent="-107950" lvl="0" marL="285750" rtl="0" algn="just">
              <a:lnSpc>
                <a:spcPct val="90000"/>
              </a:lnSpc>
              <a:spcBef>
                <a:spcPts val="1000"/>
              </a:spcBef>
              <a:spcAft>
                <a:spcPts val="0"/>
              </a:spcAft>
              <a:buClr>
                <a:schemeClr val="dk1"/>
              </a:buClr>
              <a:buSzPts val="2800"/>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4"/>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Word Boundary Detection…</a:t>
            </a:r>
            <a:endParaRPr/>
          </a:p>
        </p:txBody>
      </p:sp>
      <p:sp>
        <p:nvSpPr>
          <p:cNvPr id="287" name="Google Shape;287;p34"/>
          <p:cNvSpPr txBox="1"/>
          <p:nvPr>
            <p:ph idx="1" type="body"/>
          </p:nvPr>
        </p:nvSpPr>
        <p:spPr>
          <a:xfrm>
            <a:off x="1089764" y="1324628"/>
            <a:ext cx="10430006" cy="452596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b="1" lang="en-US"/>
              <a:t>Techniques</a:t>
            </a:r>
            <a:r>
              <a:rPr lang="en-US"/>
              <a:t>:</a:t>
            </a:r>
            <a:endParaRPr/>
          </a:p>
          <a:p>
            <a:pPr indent="-285750" lvl="0" marL="285750" rtl="0" algn="just">
              <a:lnSpc>
                <a:spcPct val="90000"/>
              </a:lnSpc>
              <a:spcBef>
                <a:spcPts val="1000"/>
              </a:spcBef>
              <a:spcAft>
                <a:spcPts val="0"/>
              </a:spcAft>
              <a:buClr>
                <a:schemeClr val="dk1"/>
              </a:buClr>
              <a:buSzPts val="2800"/>
              <a:buFont typeface="Arial"/>
              <a:buChar char="•"/>
            </a:pPr>
            <a:r>
              <a:rPr b="1" lang="en-US"/>
              <a:t>Acoustic Cues</a:t>
            </a:r>
            <a:r>
              <a:rPr lang="en-US"/>
              <a:t>: Utilizing changes in pitch, duration, and intensity of the speech signal to infer word boundaries.</a:t>
            </a:r>
            <a:endParaRPr/>
          </a:p>
          <a:p>
            <a:pPr indent="-285750" lvl="0" marL="285750" rtl="0" algn="just">
              <a:lnSpc>
                <a:spcPct val="90000"/>
              </a:lnSpc>
              <a:spcBef>
                <a:spcPts val="1000"/>
              </a:spcBef>
              <a:spcAft>
                <a:spcPts val="0"/>
              </a:spcAft>
              <a:buClr>
                <a:schemeClr val="dk1"/>
              </a:buClr>
              <a:buSzPts val="2800"/>
              <a:buFont typeface="Arial"/>
              <a:buChar char="•"/>
            </a:pPr>
            <a:r>
              <a:rPr b="1" lang="en-US"/>
              <a:t>Phonotactic Rules</a:t>
            </a:r>
            <a:r>
              <a:rPr lang="en-US"/>
              <a:t>: Language-specific rules about which phoneme sequences are permissible can help identify boundaries.</a:t>
            </a:r>
            <a:endParaRPr/>
          </a:p>
          <a:p>
            <a:pPr indent="-285750" lvl="0" marL="285750" rtl="0" algn="just">
              <a:lnSpc>
                <a:spcPct val="90000"/>
              </a:lnSpc>
              <a:spcBef>
                <a:spcPts val="1000"/>
              </a:spcBef>
              <a:spcAft>
                <a:spcPts val="0"/>
              </a:spcAft>
              <a:buClr>
                <a:schemeClr val="dk1"/>
              </a:buClr>
              <a:buSzPts val="2800"/>
              <a:buFont typeface="Arial"/>
              <a:buChar char="•"/>
            </a:pPr>
            <a:r>
              <a:rPr b="1" lang="en-US"/>
              <a:t>Statistical Methods</a:t>
            </a:r>
            <a:r>
              <a:rPr lang="en-US"/>
              <a:t>: Probabilistic models like Hidden Markov Models (HMMs) or neural networks can predict word boundaries based on learned patterns.</a:t>
            </a:r>
            <a:endParaRPr/>
          </a:p>
          <a:p>
            <a:pPr indent="-285750" lvl="0" marL="285750" rtl="0" algn="just">
              <a:lnSpc>
                <a:spcPct val="90000"/>
              </a:lnSpc>
              <a:spcBef>
                <a:spcPts val="1000"/>
              </a:spcBef>
              <a:spcAft>
                <a:spcPts val="0"/>
              </a:spcAft>
              <a:buClr>
                <a:schemeClr val="dk1"/>
              </a:buClr>
              <a:buSzPts val="2800"/>
              <a:buFont typeface="Arial"/>
              <a:buChar char="•"/>
            </a:pPr>
            <a:r>
              <a:rPr b="1" lang="en-US"/>
              <a:t>Lexical Information</a:t>
            </a:r>
            <a:r>
              <a:rPr lang="en-US"/>
              <a:t>: Using dictionaries and known word lists to match spoken segments to possible words.</a:t>
            </a:r>
            <a:endParaRPr/>
          </a:p>
          <a:p>
            <a:pPr indent="-107950" lvl="0" marL="285750" rtl="0" algn="just">
              <a:lnSpc>
                <a:spcPct val="90000"/>
              </a:lnSpc>
              <a:spcBef>
                <a:spcPts val="1000"/>
              </a:spcBef>
              <a:spcAft>
                <a:spcPts val="0"/>
              </a:spcAft>
              <a:buClr>
                <a:schemeClr val="dk1"/>
              </a:buClr>
              <a:buSzPts val="2800"/>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5"/>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Argmax Based Computations</a:t>
            </a:r>
            <a:endParaRPr/>
          </a:p>
        </p:txBody>
      </p:sp>
      <p:sp>
        <p:nvSpPr>
          <p:cNvPr id="293" name="Google Shape;293;p35"/>
          <p:cNvSpPr txBox="1"/>
          <p:nvPr>
            <p:ph idx="1" type="body"/>
          </p:nvPr>
        </p:nvSpPr>
        <p:spPr>
          <a:xfrm>
            <a:off x="843853" y="890649"/>
            <a:ext cx="10972800" cy="5272645"/>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0"/>
              </a:spcBef>
              <a:spcAft>
                <a:spcPts val="0"/>
              </a:spcAft>
              <a:buClr>
                <a:schemeClr val="dk1"/>
              </a:buClr>
              <a:buSzPts val="2800"/>
              <a:buNone/>
            </a:pPr>
            <a:r>
              <a:rPr b="1" lang="en-US"/>
              <a:t>Definition</a:t>
            </a:r>
            <a:r>
              <a:rPr lang="en-US"/>
              <a:t>: The argmax function returns the argument (input) that maximizes a given function. It's widely used in NLP for making decisions based on probabilistic models.</a:t>
            </a:r>
            <a:endParaRPr/>
          </a:p>
          <a:p>
            <a:pPr indent="-285750" lvl="0" marL="285750" rtl="0" algn="just">
              <a:lnSpc>
                <a:spcPct val="90000"/>
              </a:lnSpc>
              <a:spcBef>
                <a:spcPts val="1000"/>
              </a:spcBef>
              <a:spcAft>
                <a:spcPts val="0"/>
              </a:spcAft>
              <a:buClr>
                <a:schemeClr val="dk1"/>
              </a:buClr>
              <a:buSzPts val="2800"/>
              <a:buChar char="•"/>
            </a:pPr>
            <a:r>
              <a:rPr b="1" lang="en-US"/>
              <a:t>Example</a:t>
            </a:r>
            <a:r>
              <a:rPr lang="en-US"/>
              <a:t>:</a:t>
            </a:r>
            <a:endParaRPr/>
          </a:p>
          <a:p>
            <a:pPr indent="-107950" lvl="0" marL="285750" rtl="0" algn="just">
              <a:lnSpc>
                <a:spcPct val="90000"/>
              </a:lnSpc>
              <a:spcBef>
                <a:spcPts val="1000"/>
              </a:spcBef>
              <a:spcAft>
                <a:spcPts val="0"/>
              </a:spcAft>
              <a:buClr>
                <a:schemeClr val="dk1"/>
              </a:buClr>
              <a:buSzPts val="2800"/>
              <a:buNone/>
            </a:pPr>
            <a:r>
              <a:t/>
            </a:r>
            <a:endParaRPr/>
          </a:p>
          <a:p>
            <a:pPr indent="-107950" lvl="0" marL="285750" rtl="0" algn="just">
              <a:lnSpc>
                <a:spcPct val="90000"/>
              </a:lnSpc>
              <a:spcBef>
                <a:spcPts val="1000"/>
              </a:spcBef>
              <a:spcAft>
                <a:spcPts val="0"/>
              </a:spcAft>
              <a:buClr>
                <a:schemeClr val="dk1"/>
              </a:buClr>
              <a:buSzPts val="2800"/>
              <a:buFont typeface="Arial"/>
              <a:buNone/>
            </a:pPr>
            <a:r>
              <a:t/>
            </a:r>
            <a:endParaRPr b="1"/>
          </a:p>
          <a:p>
            <a:pPr indent="-107950" lvl="0" marL="285750" rtl="0" algn="just">
              <a:lnSpc>
                <a:spcPct val="90000"/>
              </a:lnSpc>
              <a:spcBef>
                <a:spcPts val="1000"/>
              </a:spcBef>
              <a:spcAft>
                <a:spcPts val="0"/>
              </a:spcAft>
              <a:buClr>
                <a:schemeClr val="dk1"/>
              </a:buClr>
              <a:buSzPts val="2800"/>
              <a:buFont typeface="Arial"/>
              <a:buNone/>
            </a:pPr>
            <a:r>
              <a:t/>
            </a:r>
            <a:endParaRPr b="1"/>
          </a:p>
          <a:p>
            <a:pPr indent="-285750" lvl="0" marL="285750" rtl="0" algn="just">
              <a:lnSpc>
                <a:spcPct val="90000"/>
              </a:lnSpc>
              <a:spcBef>
                <a:spcPts val="1000"/>
              </a:spcBef>
              <a:spcAft>
                <a:spcPts val="0"/>
              </a:spcAft>
              <a:buClr>
                <a:schemeClr val="dk1"/>
              </a:buClr>
              <a:buSzPts val="2800"/>
              <a:buFont typeface="Arial"/>
              <a:buChar char="•"/>
            </a:pPr>
            <a:r>
              <a:rPr b="1" lang="en-US"/>
              <a:t>Steps</a:t>
            </a:r>
            <a:r>
              <a:rPr lang="en-US"/>
              <a:t>:</a:t>
            </a:r>
            <a:endParaRPr/>
          </a:p>
          <a:p>
            <a:pPr indent="-285750" lvl="1" marL="742950" rtl="0" algn="just">
              <a:lnSpc>
                <a:spcPct val="90000"/>
              </a:lnSpc>
              <a:spcBef>
                <a:spcPts val="500"/>
              </a:spcBef>
              <a:spcAft>
                <a:spcPts val="0"/>
              </a:spcAft>
              <a:buClr>
                <a:schemeClr val="dk1"/>
              </a:buClr>
              <a:buSzPts val="2400"/>
              <a:buFont typeface="Arial"/>
              <a:buChar char="•"/>
            </a:pPr>
            <a:r>
              <a:rPr b="1" lang="en-US"/>
              <a:t>Define the Probability Function</a:t>
            </a:r>
            <a:r>
              <a:rPr lang="en-US"/>
              <a:t>: Based on a model or data, such as a probabilistic grammar or a trained neural network.</a:t>
            </a:r>
            <a:endParaRPr/>
          </a:p>
          <a:p>
            <a:pPr indent="-285750" lvl="1" marL="742950" rtl="0" algn="just">
              <a:lnSpc>
                <a:spcPct val="90000"/>
              </a:lnSpc>
              <a:spcBef>
                <a:spcPts val="500"/>
              </a:spcBef>
              <a:spcAft>
                <a:spcPts val="0"/>
              </a:spcAft>
              <a:buClr>
                <a:schemeClr val="dk1"/>
              </a:buClr>
              <a:buSzPts val="2400"/>
              <a:buFont typeface="Arial"/>
              <a:buChar char="•"/>
            </a:pPr>
            <a:r>
              <a:rPr b="1" lang="en-US"/>
              <a:t>Evaluate All Possible Inputs</a:t>
            </a:r>
            <a:r>
              <a:rPr lang="en-US"/>
              <a:t>: Calculate the probability for each possible x.</a:t>
            </a:r>
            <a:endParaRPr/>
          </a:p>
          <a:p>
            <a:pPr indent="-285750" lvl="1" marL="742950" rtl="0" algn="just">
              <a:lnSpc>
                <a:spcPct val="90000"/>
              </a:lnSpc>
              <a:spcBef>
                <a:spcPts val="500"/>
              </a:spcBef>
              <a:spcAft>
                <a:spcPts val="0"/>
              </a:spcAft>
              <a:buClr>
                <a:schemeClr val="dk1"/>
              </a:buClr>
              <a:buSzPts val="2400"/>
              <a:buFont typeface="Arial"/>
              <a:buChar char="•"/>
            </a:pPr>
            <a:r>
              <a:rPr b="1" lang="en-US"/>
              <a:t>Select the Maximum</a:t>
            </a:r>
            <a:r>
              <a:rPr lang="en-US"/>
              <a:t>: Choose the x with the highest probability.</a:t>
            </a:r>
            <a:endParaRPr/>
          </a:p>
          <a:p>
            <a:pPr indent="0" lvl="0" marL="0" rtl="0" algn="just">
              <a:lnSpc>
                <a:spcPct val="90000"/>
              </a:lnSpc>
              <a:spcBef>
                <a:spcPts val="1000"/>
              </a:spcBef>
              <a:spcAft>
                <a:spcPts val="0"/>
              </a:spcAft>
              <a:buClr>
                <a:schemeClr val="dk1"/>
              </a:buClr>
              <a:buSzPts val="2800"/>
              <a:buNone/>
            </a:pPr>
            <a:r>
              <a:t/>
            </a:r>
            <a:endParaRPr/>
          </a:p>
        </p:txBody>
      </p:sp>
      <p:pic>
        <p:nvPicPr>
          <p:cNvPr id="294" name="Google Shape;294;p35"/>
          <p:cNvPicPr preferRelativeResize="0"/>
          <p:nvPr/>
        </p:nvPicPr>
        <p:blipFill rotWithShape="1">
          <a:blip r:embed="rId3">
            <a:alphaModFix/>
          </a:blip>
          <a:srcRect b="0" l="0" r="0" t="0"/>
          <a:stretch/>
        </p:blipFill>
        <p:spPr>
          <a:xfrm>
            <a:off x="1650670" y="2812125"/>
            <a:ext cx="9452962" cy="111860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6"/>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HMM and Speech Recognition</a:t>
            </a:r>
            <a:endParaRPr/>
          </a:p>
        </p:txBody>
      </p:sp>
      <p:sp>
        <p:nvSpPr>
          <p:cNvPr id="300" name="Google Shape;300;p36"/>
          <p:cNvSpPr txBox="1"/>
          <p:nvPr>
            <p:ph idx="1" type="body"/>
          </p:nvPr>
        </p:nvSpPr>
        <p:spPr>
          <a:xfrm>
            <a:off x="902525" y="1140786"/>
            <a:ext cx="10913423" cy="4893647"/>
          </a:xfrm>
          <a:prstGeom prst="rect">
            <a:avLst/>
          </a:prstGeom>
          <a:noFill/>
          <a:ln>
            <a:noFill/>
          </a:ln>
        </p:spPr>
        <p:txBody>
          <a:bodyPr anchorCtr="0" anchor="ctr" bIns="45700" lIns="91425" spcFirstLastPara="1" rIns="91425" wrap="square" tIns="45700">
            <a:spAutoFit/>
          </a:bodyPr>
          <a:lstStyle/>
          <a:p>
            <a:pPr indent="0" lvl="0" marL="0" rtl="0" algn="just">
              <a:lnSpc>
                <a:spcPct val="100000"/>
              </a:lnSpc>
              <a:spcBef>
                <a:spcPts val="0"/>
              </a:spcBef>
              <a:spcAft>
                <a:spcPts val="0"/>
              </a:spcAft>
              <a:buClr>
                <a:schemeClr val="dk1"/>
              </a:buClr>
              <a:buSzPts val="2600"/>
              <a:buNone/>
            </a:pPr>
            <a:r>
              <a:rPr b="1" i="0" lang="en-US" sz="2600" u="none" cap="none" strike="noStrike">
                <a:solidFill>
                  <a:schemeClr val="dk1"/>
                </a:solidFill>
              </a:rPr>
              <a:t>Definition</a:t>
            </a:r>
            <a:r>
              <a:rPr b="0" i="0" lang="en-US" sz="2600" u="none" cap="none" strike="noStrike">
                <a:solidFill>
                  <a:schemeClr val="dk1"/>
                </a:solidFill>
              </a:rPr>
              <a:t>: </a:t>
            </a:r>
            <a:r>
              <a:rPr lang="en-US" sz="2600"/>
              <a:t>Hidden Markov Models (HMMs) are statistical models used to represent time-series data like speech. Each state in an HMM represents a phoneme or word and transitions between states are governed by probabilities. </a:t>
            </a:r>
            <a:endParaRPr/>
          </a:p>
          <a:p>
            <a:pPr indent="0" lvl="0" marL="0" rtl="0" algn="just">
              <a:lnSpc>
                <a:spcPct val="100000"/>
              </a:lnSpc>
              <a:spcBef>
                <a:spcPts val="0"/>
              </a:spcBef>
              <a:spcAft>
                <a:spcPts val="0"/>
              </a:spcAft>
              <a:buClr>
                <a:schemeClr val="dk1"/>
              </a:buClr>
              <a:buSzPts val="2600"/>
              <a:buNone/>
            </a:pPr>
            <a:r>
              <a:rPr b="1" i="0" lang="en-US" sz="2600" u="none" cap="none" strike="noStrike">
                <a:solidFill>
                  <a:schemeClr val="dk1"/>
                </a:solidFill>
              </a:rPr>
              <a:t>Components</a:t>
            </a:r>
            <a:r>
              <a:rPr b="0" i="0" lang="en-US" sz="2600" u="none" cap="none" strike="noStrike">
                <a:solidFill>
                  <a:schemeClr val="dk1"/>
                </a:solidFill>
              </a:rPr>
              <a:t>:</a:t>
            </a:r>
            <a:endParaRPr/>
          </a:p>
          <a:p>
            <a:pPr indent="-285750" lvl="0" marL="285750" rtl="0" algn="just">
              <a:lnSpc>
                <a:spcPct val="100000"/>
              </a:lnSpc>
              <a:spcBef>
                <a:spcPts val="0"/>
              </a:spcBef>
              <a:spcAft>
                <a:spcPts val="0"/>
              </a:spcAft>
              <a:buClr>
                <a:schemeClr val="dk1"/>
              </a:buClr>
              <a:buSzPts val="2600"/>
              <a:buChar char="•"/>
            </a:pPr>
            <a:r>
              <a:rPr b="1" i="0" lang="en-US" sz="2600" u="none" cap="none" strike="noStrike">
                <a:solidFill>
                  <a:schemeClr val="dk1"/>
                </a:solidFill>
              </a:rPr>
              <a:t>States</a:t>
            </a:r>
            <a:r>
              <a:rPr b="0" i="0" lang="en-US" sz="2600" u="none" cap="none" strike="noStrike">
                <a:solidFill>
                  <a:schemeClr val="dk1"/>
                </a:solidFill>
              </a:rPr>
              <a:t>: Represent different parts of the speech signal, such as different phonemes or words.</a:t>
            </a:r>
            <a:endParaRPr/>
          </a:p>
          <a:p>
            <a:pPr indent="-285750" lvl="0" marL="285750" rtl="0" algn="just">
              <a:lnSpc>
                <a:spcPct val="100000"/>
              </a:lnSpc>
              <a:spcBef>
                <a:spcPts val="0"/>
              </a:spcBef>
              <a:spcAft>
                <a:spcPts val="0"/>
              </a:spcAft>
              <a:buClr>
                <a:schemeClr val="dk1"/>
              </a:buClr>
              <a:buSzPts val="2600"/>
              <a:buChar char="•"/>
            </a:pPr>
            <a:r>
              <a:rPr b="1" i="0" lang="en-US" sz="2600" u="none" cap="none" strike="noStrike">
                <a:solidFill>
                  <a:schemeClr val="dk1"/>
                </a:solidFill>
              </a:rPr>
              <a:t>Observations</a:t>
            </a:r>
            <a:r>
              <a:rPr b="0" i="0" lang="en-US" sz="2600" u="none" cap="none" strike="noStrike">
                <a:solidFill>
                  <a:schemeClr val="dk1"/>
                </a:solidFill>
              </a:rPr>
              <a:t>: The actual speech sounds (acoustic signals) that are heard.</a:t>
            </a:r>
            <a:endParaRPr/>
          </a:p>
          <a:p>
            <a:pPr indent="-285750" lvl="0" marL="285750" rtl="0" algn="just">
              <a:lnSpc>
                <a:spcPct val="100000"/>
              </a:lnSpc>
              <a:spcBef>
                <a:spcPts val="0"/>
              </a:spcBef>
              <a:spcAft>
                <a:spcPts val="0"/>
              </a:spcAft>
              <a:buClr>
                <a:schemeClr val="dk1"/>
              </a:buClr>
              <a:buSzPts val="2600"/>
              <a:buChar char="•"/>
            </a:pPr>
            <a:r>
              <a:rPr b="1" i="0" lang="en-US" sz="2600" u="none" cap="none" strike="noStrike">
                <a:solidFill>
                  <a:schemeClr val="dk1"/>
                </a:solidFill>
              </a:rPr>
              <a:t>Transition Probabilities</a:t>
            </a:r>
            <a:r>
              <a:rPr b="0" i="0" lang="en-US" sz="2600" u="none" cap="none" strike="noStrike">
                <a:solidFill>
                  <a:schemeClr val="dk1"/>
                </a:solidFill>
              </a:rPr>
              <a:t>: The probabilities of moving from one state to another.</a:t>
            </a:r>
            <a:endParaRPr/>
          </a:p>
          <a:p>
            <a:pPr indent="-285750" lvl="0" marL="285750" rtl="0" algn="just">
              <a:lnSpc>
                <a:spcPct val="100000"/>
              </a:lnSpc>
              <a:spcBef>
                <a:spcPts val="0"/>
              </a:spcBef>
              <a:spcAft>
                <a:spcPts val="0"/>
              </a:spcAft>
              <a:buClr>
                <a:schemeClr val="dk1"/>
              </a:buClr>
              <a:buSzPts val="2600"/>
              <a:buChar char="•"/>
            </a:pPr>
            <a:r>
              <a:rPr b="1" i="0" lang="en-US" sz="2600" u="none" cap="none" strike="noStrike">
                <a:solidFill>
                  <a:schemeClr val="dk1"/>
                </a:solidFill>
              </a:rPr>
              <a:t>Emission Probabilities</a:t>
            </a:r>
            <a:r>
              <a:rPr b="0" i="0" lang="en-US" sz="2600" u="none" cap="none" strike="noStrike">
                <a:solidFill>
                  <a:schemeClr val="dk1"/>
                </a:solidFill>
              </a:rPr>
              <a:t>: The probabilities of producing a particular observation from a state.</a:t>
            </a:r>
            <a:endParaRPr/>
          </a:p>
          <a:p>
            <a:pPr indent="0" lvl="0" marL="0" marR="0" rtl="0" algn="just">
              <a:lnSpc>
                <a:spcPct val="100000"/>
              </a:lnSpc>
              <a:spcBef>
                <a:spcPts val="0"/>
              </a:spcBef>
              <a:spcAft>
                <a:spcPts val="0"/>
              </a:spcAft>
              <a:buClr>
                <a:schemeClr val="dk1"/>
              </a:buClr>
              <a:buSzPts val="2600"/>
              <a:buFont typeface="Times New Roman"/>
              <a:buNone/>
            </a:pPr>
            <a:r>
              <a:t/>
            </a:r>
            <a:endParaRPr b="0" i="0" sz="2600" u="none" cap="none" strike="noStrike">
              <a:solidFill>
                <a:schemeClr val="dk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7"/>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HMM and Speech Recognition…</a:t>
            </a:r>
            <a:endParaRPr/>
          </a:p>
        </p:txBody>
      </p:sp>
      <p:sp>
        <p:nvSpPr>
          <p:cNvPr id="306" name="Google Shape;306;p37"/>
          <p:cNvSpPr txBox="1"/>
          <p:nvPr>
            <p:ph idx="1" type="body"/>
          </p:nvPr>
        </p:nvSpPr>
        <p:spPr>
          <a:xfrm>
            <a:off x="843148" y="1324628"/>
            <a:ext cx="10676622" cy="452596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b="1" lang="en-US"/>
              <a:t>Speech Recognition</a:t>
            </a:r>
            <a:r>
              <a:rPr lang="en-US"/>
              <a:t>:</a:t>
            </a:r>
            <a:endParaRPr/>
          </a:p>
          <a:p>
            <a:pPr indent="-285750" lvl="0" marL="285750" rtl="0" algn="just">
              <a:lnSpc>
                <a:spcPct val="90000"/>
              </a:lnSpc>
              <a:spcBef>
                <a:spcPts val="1000"/>
              </a:spcBef>
              <a:spcAft>
                <a:spcPts val="0"/>
              </a:spcAft>
              <a:buClr>
                <a:schemeClr val="dk1"/>
              </a:buClr>
              <a:buSzPts val="2800"/>
              <a:buFont typeface="Arial"/>
              <a:buChar char="•"/>
            </a:pPr>
            <a:r>
              <a:rPr b="1" lang="en-US"/>
              <a:t>Definition</a:t>
            </a:r>
            <a:r>
              <a:rPr lang="en-US"/>
              <a:t>: The process of converting spoken language into text.</a:t>
            </a:r>
            <a:endParaRPr/>
          </a:p>
          <a:p>
            <a:pPr indent="-285750" lvl="0" marL="285750" rtl="0" algn="just">
              <a:lnSpc>
                <a:spcPct val="90000"/>
              </a:lnSpc>
              <a:spcBef>
                <a:spcPts val="1000"/>
              </a:spcBef>
              <a:spcAft>
                <a:spcPts val="0"/>
              </a:spcAft>
              <a:buClr>
                <a:schemeClr val="dk1"/>
              </a:buClr>
              <a:buSzPts val="2800"/>
              <a:buFont typeface="Arial"/>
              <a:buChar char="•"/>
            </a:pPr>
            <a:r>
              <a:rPr b="1" lang="en-US"/>
              <a:t>Process</a:t>
            </a:r>
            <a:r>
              <a:rPr lang="en-US"/>
              <a:t>:</a:t>
            </a:r>
            <a:endParaRPr/>
          </a:p>
          <a:p>
            <a:pPr indent="-285750" lvl="1" marL="742950" rtl="0" algn="just">
              <a:lnSpc>
                <a:spcPct val="90000"/>
              </a:lnSpc>
              <a:spcBef>
                <a:spcPts val="500"/>
              </a:spcBef>
              <a:spcAft>
                <a:spcPts val="0"/>
              </a:spcAft>
              <a:buClr>
                <a:schemeClr val="dk1"/>
              </a:buClr>
              <a:buSzPts val="2400"/>
              <a:buFont typeface="Arial"/>
              <a:buChar char="•"/>
            </a:pPr>
            <a:r>
              <a:rPr b="1" lang="en-US"/>
              <a:t>Feature Extraction</a:t>
            </a:r>
            <a:r>
              <a:rPr lang="en-US"/>
              <a:t>: Convert the speech signal into a sequence of feature vectors that represent the important characteristics of the sound.</a:t>
            </a:r>
            <a:endParaRPr/>
          </a:p>
          <a:p>
            <a:pPr indent="-285750" lvl="1" marL="742950" rtl="0" algn="just">
              <a:lnSpc>
                <a:spcPct val="90000"/>
              </a:lnSpc>
              <a:spcBef>
                <a:spcPts val="500"/>
              </a:spcBef>
              <a:spcAft>
                <a:spcPts val="0"/>
              </a:spcAft>
              <a:buClr>
                <a:schemeClr val="dk1"/>
              </a:buClr>
              <a:buSzPts val="2400"/>
              <a:buFont typeface="Arial"/>
              <a:buChar char="•"/>
            </a:pPr>
            <a:r>
              <a:rPr b="1" lang="en-US"/>
              <a:t>Modeling</a:t>
            </a:r>
            <a:r>
              <a:rPr lang="en-US"/>
              <a:t>: Use HMM to model the sequence of feature vectors as a sequence of states.</a:t>
            </a:r>
            <a:endParaRPr/>
          </a:p>
          <a:p>
            <a:pPr indent="-285750" lvl="1" marL="742950" rtl="0" algn="just">
              <a:lnSpc>
                <a:spcPct val="90000"/>
              </a:lnSpc>
              <a:spcBef>
                <a:spcPts val="500"/>
              </a:spcBef>
              <a:spcAft>
                <a:spcPts val="0"/>
              </a:spcAft>
              <a:buClr>
                <a:schemeClr val="dk1"/>
              </a:buClr>
              <a:buSzPts val="2400"/>
              <a:buFont typeface="Arial"/>
              <a:buChar char="•"/>
            </a:pPr>
            <a:r>
              <a:rPr b="1" lang="en-US"/>
              <a:t>Decoding</a:t>
            </a:r>
            <a:r>
              <a:rPr lang="en-US"/>
              <a:t>: Find the most likely sequence of words given the observed feature vectors using algorithms like the Viterbi algorithm.</a:t>
            </a:r>
            <a:endParaRPr/>
          </a:p>
          <a:p>
            <a:pPr indent="-107950" lvl="0" marL="285750" rtl="0" algn="just">
              <a:lnSpc>
                <a:spcPct val="90000"/>
              </a:lnSpc>
              <a:spcBef>
                <a:spcPts val="1000"/>
              </a:spcBef>
              <a:spcAft>
                <a:spcPts val="0"/>
              </a:spcAft>
              <a:buClr>
                <a:schemeClr val="dk1"/>
              </a:buClr>
              <a:buSzPts val="2800"/>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8"/>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HMM and Speech Recognition…</a:t>
            </a:r>
            <a:endParaRPr/>
          </a:p>
        </p:txBody>
      </p:sp>
      <p:sp>
        <p:nvSpPr>
          <p:cNvPr id="312" name="Google Shape;312;p38"/>
          <p:cNvSpPr txBox="1"/>
          <p:nvPr>
            <p:ph idx="1" type="body"/>
          </p:nvPr>
        </p:nvSpPr>
        <p:spPr>
          <a:xfrm>
            <a:off x="914400" y="1324628"/>
            <a:ext cx="10605370" cy="452596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b="1" lang="en-US"/>
              <a:t>Example</a:t>
            </a:r>
            <a:r>
              <a:rPr lang="en-US"/>
              <a:t>:</a:t>
            </a:r>
            <a:endParaRPr/>
          </a:p>
          <a:p>
            <a:pPr indent="-285750" lvl="0" marL="285750" rtl="0" algn="just">
              <a:lnSpc>
                <a:spcPct val="90000"/>
              </a:lnSpc>
              <a:spcBef>
                <a:spcPts val="1000"/>
              </a:spcBef>
              <a:spcAft>
                <a:spcPts val="0"/>
              </a:spcAft>
              <a:buClr>
                <a:schemeClr val="dk1"/>
              </a:buClr>
              <a:buSzPts val="2800"/>
              <a:buFont typeface="Arial"/>
              <a:buChar char="•"/>
            </a:pPr>
            <a:r>
              <a:rPr b="1" lang="en-US"/>
              <a:t>Training</a:t>
            </a:r>
            <a:r>
              <a:rPr lang="en-US"/>
              <a:t>: Train the HMM on a labeled dataset of speech and corresponding text. This involves estimating the transition and emission probabilities from the data.</a:t>
            </a:r>
            <a:endParaRPr/>
          </a:p>
          <a:p>
            <a:pPr indent="-285750" lvl="0" marL="285750" rtl="0" algn="just">
              <a:lnSpc>
                <a:spcPct val="90000"/>
              </a:lnSpc>
              <a:spcBef>
                <a:spcPts val="1000"/>
              </a:spcBef>
              <a:spcAft>
                <a:spcPts val="0"/>
              </a:spcAft>
              <a:buClr>
                <a:schemeClr val="dk1"/>
              </a:buClr>
              <a:buSzPts val="2800"/>
              <a:buFont typeface="Arial"/>
              <a:buChar char="•"/>
            </a:pPr>
            <a:r>
              <a:rPr b="1" lang="en-US"/>
              <a:t>Recognition</a:t>
            </a:r>
            <a:r>
              <a:rPr lang="en-US"/>
              <a:t>: Use the trained HMM to recognize new speech input. Given a new sequence of feature vectors, the HMM finds the most probable sequence of states (words) that could have generated the observed sequence.</a:t>
            </a:r>
            <a:endParaRPr/>
          </a:p>
          <a:p>
            <a:pPr indent="-107950" lvl="0" marL="285750" rtl="0" algn="just">
              <a:lnSpc>
                <a:spcPct val="90000"/>
              </a:lnSpc>
              <a:spcBef>
                <a:spcPts val="1000"/>
              </a:spcBef>
              <a:spcAft>
                <a:spcPts val="0"/>
              </a:spcAft>
              <a:buClr>
                <a:schemeClr val="dk1"/>
              </a:buClr>
              <a:buSzPts val="2800"/>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9"/>
          <p:cNvSpPr txBox="1"/>
          <p:nvPr>
            <p:ph type="title"/>
          </p:nvPr>
        </p:nvSpPr>
        <p:spPr>
          <a:xfrm>
            <a:off x="1089764" y="214816"/>
            <a:ext cx="9870510"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HMM and Speech Recognition…</a:t>
            </a:r>
            <a:endParaRPr/>
          </a:p>
        </p:txBody>
      </p:sp>
      <p:sp>
        <p:nvSpPr>
          <p:cNvPr id="318" name="Google Shape;318;p39"/>
          <p:cNvSpPr txBox="1"/>
          <p:nvPr>
            <p:ph idx="1" type="body"/>
          </p:nvPr>
        </p:nvSpPr>
        <p:spPr>
          <a:xfrm>
            <a:off x="1257300" y="1324628"/>
            <a:ext cx="1026247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US">
                <a:latin typeface="Calibri"/>
                <a:ea typeface="Calibri"/>
                <a:cs typeface="Calibri"/>
                <a:sym typeface="Calibri"/>
              </a:rPr>
              <a:t>Use Case in NLP:</a:t>
            </a:r>
            <a:br>
              <a:rPr lang="en-US">
                <a:latin typeface="Calibri"/>
                <a:ea typeface="Calibri"/>
                <a:cs typeface="Calibri"/>
                <a:sym typeface="Calibri"/>
              </a:rPr>
            </a:br>
            <a:r>
              <a:rPr lang="en-US">
                <a:latin typeface="Calibri"/>
                <a:ea typeface="Calibri"/>
                <a:cs typeface="Calibri"/>
                <a:sym typeface="Calibri"/>
              </a:rPr>
              <a:t>Part-of-Speech Tagging</a:t>
            </a:r>
            <a:br>
              <a:rPr lang="en-US">
                <a:latin typeface="Calibri"/>
                <a:ea typeface="Calibri"/>
                <a:cs typeface="Calibri"/>
                <a:sym typeface="Calibri"/>
              </a:rPr>
            </a:br>
            <a:r>
              <a:rPr lang="en-US">
                <a:latin typeface="Calibri"/>
                <a:ea typeface="Calibri"/>
                <a:cs typeface="Calibri"/>
                <a:sym typeface="Calibri"/>
              </a:rPr>
              <a:t>Named Entity Recognition</a:t>
            </a:r>
            <a:br>
              <a:rPr lang="en-US">
                <a:latin typeface="Calibri"/>
                <a:ea typeface="Calibri"/>
                <a:cs typeface="Calibri"/>
                <a:sym typeface="Calibri"/>
              </a:rPr>
            </a:br>
            <a:r>
              <a:rPr lang="en-US">
                <a:latin typeface="Calibri"/>
                <a:ea typeface="Calibri"/>
                <a:cs typeface="Calibri"/>
                <a:sym typeface="Calibri"/>
              </a:rPr>
              <a:t>Speech Recognition</a:t>
            </a:r>
            <a:br>
              <a:rPr lang="en-US">
                <a:latin typeface="Calibri"/>
                <a:ea typeface="Calibri"/>
                <a:cs typeface="Calibri"/>
                <a:sym typeface="Calibri"/>
              </a:rPr>
            </a:br>
            <a:r>
              <a:rPr lang="en-US">
                <a:latin typeface="Calibri"/>
                <a:ea typeface="Calibri"/>
                <a:cs typeface="Calibri"/>
                <a:sym typeface="Calibri"/>
              </a:rPr>
              <a:t>Example: Given a sequence of words, we use argmax to choose the most probable tag sequence.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6_Custom Design">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2019-03-30T05:08:49Z</dcterms:created>
  <dc:creator>Windows User</dc:creator>
</cp:coreProperties>
</file>