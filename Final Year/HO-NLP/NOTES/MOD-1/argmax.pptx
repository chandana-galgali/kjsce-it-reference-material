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488" r:id="rId2"/>
    <p:sldId id="257" r:id="rId3"/>
    <p:sldId id="258" r:id="rId4"/>
    <p:sldId id="489" r:id="rId5"/>
    <p:sldId id="490" r:id="rId6"/>
    <p:sldId id="491" r:id="rId7"/>
    <p:sldId id="492" r:id="rId8"/>
    <p:sldId id="493" r:id="rId9"/>
    <p:sldId id="494" r:id="rId10"/>
    <p:sldId id="496" r:id="rId11"/>
    <p:sldId id="497" r:id="rId12"/>
    <p:sldId id="498" r:id="rId13"/>
    <p:sldId id="4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5" autoAdjust="0"/>
    <p:restoredTop sz="94660"/>
  </p:normalViewPr>
  <p:slideViewPr>
    <p:cSldViewPr snapToGrid="0">
      <p:cViewPr varScale="1">
        <p:scale>
          <a:sx n="69" d="100"/>
          <a:sy n="69" d="100"/>
        </p:scale>
        <p:origin x="6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7CA91-B5ED-4B95-9F05-218E19B97BF8}" type="datetimeFigureOut">
              <a:rPr lang="en-IN" smtClean="0"/>
              <a:t>25-04-2022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9C7D6-23B9-410B-9453-890292FE391C}" type="slidenum">
              <a:rPr lang="en-IN" smtClean="0"/>
              <a:t>‹#›</a:t>
            </a:fld>
            <a:endParaRPr lang="en-IN"/>
          </a:p>
        </p:txBody>
      </p:sp>
    </p:spTree>
    <p:extLst>
      <p:ext uri="{BB962C8B-B14F-4D97-AF65-F5344CB8AC3E}">
        <p14:creationId xmlns:p14="http://schemas.microsoft.com/office/powerpoint/2010/main" val="3186192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Conditional_probability" TargetMode="External"/><Relationship Id="rId3" Type="http://schemas.openxmlformats.org/officeDocument/2006/relationships/hyperlink" Target="https://en.wikipedia.org/wiki/Stochastic_process" TargetMode="External"/><Relationship Id="rId7" Type="http://schemas.openxmlformats.org/officeDocument/2006/relationships/hyperlink" Target="https://en.wikipedia.org/wiki/Markov_chain#cite_note-:3-12"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n.wikipedia.org/wiki/Memorylessness" TargetMode="External"/><Relationship Id="rId5" Type="http://schemas.openxmlformats.org/officeDocument/2006/relationships/hyperlink" Target="https://en.wikipedia.org/wiki/Markov_chain#cite_note-:0-1" TargetMode="External"/><Relationship Id="rId4" Type="http://schemas.openxmlformats.org/officeDocument/2006/relationships/hyperlink" Target="https://en.wikipedia.org/wiki/Markov_property" TargetMode="External"/><Relationship Id="rId9" Type="http://schemas.openxmlformats.org/officeDocument/2006/relationships/hyperlink" Target="https://en.wikipedia.org/wiki/Independence_(probability_theory)"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AC67F3DB-C347-4E19-8559-B8D9BCCC39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536D985-DFAF-43F7-9AB6-01BE2120D5B2}" type="slidenum">
              <a:rPr lang="en-US" altLang="en-US">
                <a:latin typeface="Arial" panose="020B0604020202020204" pitchFamily="34" charset="0"/>
              </a:rPr>
              <a:pPr/>
              <a:t>1</a:t>
            </a:fld>
            <a:endParaRPr lang="en-US" altLang="en-US">
              <a:latin typeface="Arial" panose="020B0604020202020204" pitchFamily="34" charset="0"/>
            </a:endParaRPr>
          </a:p>
        </p:txBody>
      </p:sp>
      <p:sp>
        <p:nvSpPr>
          <p:cNvPr id="51203" name="Rectangle 2">
            <a:extLst>
              <a:ext uri="{FF2B5EF4-FFF2-40B4-BE49-F238E27FC236}">
                <a16:creationId xmlns:a16="http://schemas.microsoft.com/office/drawing/2014/main" id="{0BFF9177-FB7D-4F1F-8360-A7E2997A6BA6}"/>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A696E71D-8381-4966-8A40-313A42CAED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Bayes' theorem, named after 18th-century British mathematician Thomas Bayes, is </a:t>
            </a:r>
            <a:r>
              <a:rPr lang="en-US" b="1" i="0" dirty="0">
                <a:solidFill>
                  <a:srgbClr val="202124"/>
                </a:solidFill>
                <a:effectLst/>
                <a:latin typeface="arial" panose="020B0604020202020204" pitchFamily="34" charset="0"/>
              </a:rPr>
              <a:t>a mathematical formula for determining conditional probability</a:t>
            </a:r>
            <a:r>
              <a:rPr lang="en-US" b="0" i="0" dirty="0">
                <a:solidFill>
                  <a:srgbClr val="202124"/>
                </a:solidFill>
                <a:effectLst/>
                <a:latin typeface="arial" panose="020B0604020202020204" pitchFamily="34" charset="0"/>
              </a:rPr>
              <a:t>. Conditional probability is the likelihood of an outcome occurring, based on a previous outcome occurring.</a:t>
            </a:r>
            <a:endParaRPr lang="en-IN" dirty="0"/>
          </a:p>
        </p:txBody>
      </p:sp>
      <p:sp>
        <p:nvSpPr>
          <p:cNvPr id="4" name="Slide Number Placeholder 3"/>
          <p:cNvSpPr>
            <a:spLocks noGrp="1"/>
          </p:cNvSpPr>
          <p:nvPr>
            <p:ph type="sldNum" sz="quarter" idx="5"/>
          </p:nvPr>
        </p:nvSpPr>
        <p:spPr/>
        <p:txBody>
          <a:bodyPr/>
          <a:lstStyle/>
          <a:p>
            <a:fld id="{1069C7D6-23B9-410B-9453-890292FE391C}" type="slidenum">
              <a:rPr lang="en-IN" smtClean="0"/>
              <a:t>8</a:t>
            </a:fld>
            <a:endParaRPr lang="en-IN"/>
          </a:p>
        </p:txBody>
      </p:sp>
    </p:spTree>
    <p:extLst>
      <p:ext uri="{BB962C8B-B14F-4D97-AF65-F5344CB8AC3E}">
        <p14:creationId xmlns:p14="http://schemas.microsoft.com/office/powerpoint/2010/main" val="349229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A Markov process is a </a:t>
            </a:r>
            <a:r>
              <a:rPr lang="en-US" b="0" i="0" u="none" strike="noStrike" dirty="0">
                <a:solidFill>
                  <a:srgbClr val="0645AD"/>
                </a:solidFill>
                <a:effectLst/>
                <a:latin typeface="Arial" panose="020B0604020202020204" pitchFamily="34" charset="0"/>
                <a:hlinkClick r:id="rId3" tooltip="Stochastic process"/>
              </a:rPr>
              <a:t>stochastic process</a:t>
            </a:r>
            <a:r>
              <a:rPr lang="en-US" b="0" i="0" dirty="0">
                <a:solidFill>
                  <a:srgbClr val="202122"/>
                </a:solidFill>
                <a:effectLst/>
                <a:latin typeface="Arial" panose="020B0604020202020204" pitchFamily="34" charset="0"/>
              </a:rPr>
              <a:t> that satisfies the </a:t>
            </a:r>
            <a:r>
              <a:rPr lang="en-US" b="0" i="0" u="none" strike="noStrike" dirty="0">
                <a:solidFill>
                  <a:srgbClr val="0645AD"/>
                </a:solidFill>
                <a:effectLst/>
                <a:latin typeface="Arial" panose="020B0604020202020204" pitchFamily="34" charset="0"/>
                <a:hlinkClick r:id="rId4" tooltip="Markov property"/>
              </a:rPr>
              <a:t>Markov property</a:t>
            </a:r>
            <a:r>
              <a:rPr lang="en-US" b="0" i="0" u="none" strike="noStrike" baseline="30000" dirty="0">
                <a:solidFill>
                  <a:srgbClr val="0645AD"/>
                </a:solidFill>
                <a:effectLst/>
                <a:latin typeface="Arial" panose="020B0604020202020204" pitchFamily="34" charset="0"/>
                <a:hlinkClick r:id="rId5"/>
              </a:rPr>
              <a:t>[1]</a:t>
            </a:r>
            <a:r>
              <a:rPr lang="en-US" b="0" i="0" dirty="0">
                <a:solidFill>
                  <a:srgbClr val="202122"/>
                </a:solidFill>
                <a:effectLst/>
                <a:latin typeface="Arial" panose="020B0604020202020204" pitchFamily="34" charset="0"/>
              </a:rPr>
              <a:t> (sometimes characterized as "</a:t>
            </a:r>
            <a:r>
              <a:rPr lang="en-US" b="0" i="0" u="none" strike="noStrike" dirty="0" err="1">
                <a:solidFill>
                  <a:srgbClr val="0645AD"/>
                </a:solidFill>
                <a:effectLst/>
                <a:latin typeface="Arial" panose="020B0604020202020204" pitchFamily="34" charset="0"/>
                <a:hlinkClick r:id="rId6" tooltip="Memorylessness"/>
              </a:rPr>
              <a:t>memorylessness</a:t>
            </a:r>
            <a:r>
              <a:rPr lang="en-US" b="0" i="0" dirty="0">
                <a:solidFill>
                  <a:srgbClr val="202122"/>
                </a:solidFill>
                <a:effectLst/>
                <a:latin typeface="Arial" panose="020B0604020202020204" pitchFamily="34" charset="0"/>
              </a:rPr>
              <a:t>"). In simpler terms, it is a process for which predictions can be made regarding future outcomes based solely on its present state and—most importantly—such predictions are just as good as the ones that could be made knowing the process's full history.</a:t>
            </a:r>
            <a:r>
              <a:rPr lang="en-US" b="0" i="0" u="none" strike="noStrike" baseline="30000" dirty="0">
                <a:solidFill>
                  <a:srgbClr val="0645AD"/>
                </a:solidFill>
                <a:effectLst/>
                <a:latin typeface="Arial" panose="020B0604020202020204" pitchFamily="34" charset="0"/>
                <a:hlinkClick r:id="rId7"/>
              </a:rPr>
              <a:t>[12]</a:t>
            </a:r>
            <a:r>
              <a:rPr lang="en-US" b="0" i="0" dirty="0">
                <a:solidFill>
                  <a:srgbClr val="202122"/>
                </a:solidFill>
                <a:effectLst/>
                <a:latin typeface="Arial" panose="020B0604020202020204" pitchFamily="34" charset="0"/>
              </a:rPr>
              <a:t> In other words, </a:t>
            </a:r>
            <a:r>
              <a:rPr lang="en-US" b="0" i="0" u="none" strike="noStrike" dirty="0">
                <a:solidFill>
                  <a:srgbClr val="0645AD"/>
                </a:solidFill>
                <a:effectLst/>
                <a:latin typeface="Arial" panose="020B0604020202020204" pitchFamily="34" charset="0"/>
                <a:hlinkClick r:id="rId8" tooltip="Conditional probability"/>
              </a:rPr>
              <a:t>conditional</a:t>
            </a:r>
            <a:r>
              <a:rPr lang="en-US" b="0" i="0" dirty="0">
                <a:solidFill>
                  <a:srgbClr val="202122"/>
                </a:solidFill>
                <a:effectLst/>
                <a:latin typeface="Arial" panose="020B0604020202020204" pitchFamily="34" charset="0"/>
              </a:rPr>
              <a:t> on the present state of the system, its future and past states are </a:t>
            </a:r>
            <a:r>
              <a:rPr lang="en-US" b="0" i="0" u="none" strike="noStrike" dirty="0">
                <a:solidFill>
                  <a:srgbClr val="0645AD"/>
                </a:solidFill>
                <a:effectLst/>
                <a:latin typeface="Arial" panose="020B0604020202020204" pitchFamily="34" charset="0"/>
                <a:hlinkClick r:id="rId9" tooltip="Independence (probability theory)"/>
              </a:rPr>
              <a:t>independent</a:t>
            </a:r>
            <a:r>
              <a:rPr lang="en-US" b="0" i="0" dirty="0">
                <a:solidFill>
                  <a:srgbClr val="202122"/>
                </a:solidFill>
                <a:effectLst/>
                <a:latin typeface="Arial" panose="020B0604020202020204" pitchFamily="34" charset="0"/>
              </a:rPr>
              <a:t>.</a:t>
            </a:r>
            <a:endParaRPr lang="en-IN" dirty="0"/>
          </a:p>
        </p:txBody>
      </p:sp>
      <p:sp>
        <p:nvSpPr>
          <p:cNvPr id="4" name="Slide Number Placeholder 3"/>
          <p:cNvSpPr>
            <a:spLocks noGrp="1"/>
          </p:cNvSpPr>
          <p:nvPr>
            <p:ph type="sldNum" sz="quarter" idx="5"/>
          </p:nvPr>
        </p:nvSpPr>
        <p:spPr/>
        <p:txBody>
          <a:bodyPr/>
          <a:lstStyle/>
          <a:p>
            <a:fld id="{1069C7D6-23B9-410B-9453-890292FE391C}" type="slidenum">
              <a:rPr lang="en-IN" smtClean="0"/>
              <a:t>9</a:t>
            </a:fld>
            <a:endParaRPr lang="en-IN"/>
          </a:p>
        </p:txBody>
      </p:sp>
    </p:spTree>
    <p:extLst>
      <p:ext uri="{BB962C8B-B14F-4D97-AF65-F5344CB8AC3E}">
        <p14:creationId xmlns:p14="http://schemas.microsoft.com/office/powerpoint/2010/main" val="683386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69C7D6-23B9-410B-9453-890292FE391C}" type="slidenum">
              <a:rPr lang="en-IN" smtClean="0"/>
              <a:t>11</a:t>
            </a:fld>
            <a:endParaRPr lang="en-IN"/>
          </a:p>
        </p:txBody>
      </p:sp>
    </p:spTree>
    <p:extLst>
      <p:ext uri="{BB962C8B-B14F-4D97-AF65-F5344CB8AC3E}">
        <p14:creationId xmlns:p14="http://schemas.microsoft.com/office/powerpoint/2010/main" val="1074619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24BD-CDB9-46DB-80B7-FAB58BFAEA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4D4FBD-095E-4B54-B063-8A91B2FA86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0BC260-0686-45C5-80C6-EA459AD3310A}"/>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5" name="Footer Placeholder 4">
            <a:extLst>
              <a:ext uri="{FF2B5EF4-FFF2-40B4-BE49-F238E27FC236}">
                <a16:creationId xmlns:a16="http://schemas.microsoft.com/office/drawing/2014/main" id="{FE59B803-F75C-4127-A29A-CDBD320119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1590F9-D9C2-42D2-8593-4FBD0CDCB0ED}"/>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1793271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C57E-3083-4D6C-A01E-C161815DA0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95FAB8-8935-4394-9673-737D27DE21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1088B7-8656-49D6-A620-79B99416EF55}"/>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5" name="Footer Placeholder 4">
            <a:extLst>
              <a:ext uri="{FF2B5EF4-FFF2-40B4-BE49-F238E27FC236}">
                <a16:creationId xmlns:a16="http://schemas.microsoft.com/office/drawing/2014/main" id="{5C855117-5F5E-4798-9229-8C18E653D5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9745C8-16BE-4DDB-B4D0-D8C46DA49A59}"/>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1860183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61200-43D0-4FF3-8EA1-2E5A838D36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B72EEE-5472-4011-8EE2-A99BA04EC9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E7FCEC-78E3-494B-ABDE-DEECA5ADD36C}"/>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5" name="Footer Placeholder 4">
            <a:extLst>
              <a:ext uri="{FF2B5EF4-FFF2-40B4-BE49-F238E27FC236}">
                <a16:creationId xmlns:a16="http://schemas.microsoft.com/office/drawing/2014/main" id="{57DC2132-8347-49C5-A2A8-6DB64EFA9C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8C5693-1209-42BD-957D-4EA998EA53B7}"/>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104465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B0F2-F72F-4621-A057-336014A10A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620627-59B8-4593-8245-66832B5BB4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3E125B6-8B34-45AD-83B9-AB1B890828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B57A3E-EC45-41B8-A38F-915DA1745306}"/>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6" name="Footer Placeholder 5">
            <a:extLst>
              <a:ext uri="{FF2B5EF4-FFF2-40B4-BE49-F238E27FC236}">
                <a16:creationId xmlns:a16="http://schemas.microsoft.com/office/drawing/2014/main" id="{83D46C93-CD30-412B-9315-F69A2FC2F3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8054A2-50DB-4910-A4A3-2E4F187E000F}"/>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2913112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73304-10D0-4313-8F74-1F6DB6A867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443EBA-B7B9-4BBA-ADA5-7173EBD8B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061539-0B82-4E8A-951B-323D7C88A5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FF983F-032C-407F-B976-50BDB406F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4F08AD-0125-44B4-B4E8-6AB8EF218B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11AC26-A312-4852-A293-2E8B0A8A717B}"/>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8" name="Footer Placeholder 7">
            <a:extLst>
              <a:ext uri="{FF2B5EF4-FFF2-40B4-BE49-F238E27FC236}">
                <a16:creationId xmlns:a16="http://schemas.microsoft.com/office/drawing/2014/main" id="{31D3222B-2F05-4E49-8A14-57E749BDE6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A02E08-B1D7-4FD1-B1BF-79D5D69AB359}"/>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951929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E12B3-9FE3-4A88-8AEA-72DE6C9705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2EE93EB-EED3-421B-8343-9973F5F1F382}"/>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4" name="Footer Placeholder 3">
            <a:extLst>
              <a:ext uri="{FF2B5EF4-FFF2-40B4-BE49-F238E27FC236}">
                <a16:creationId xmlns:a16="http://schemas.microsoft.com/office/drawing/2014/main" id="{ACA7D9C2-2A3D-4850-AFE7-1E536F465E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8239D3-13AB-4EA2-A1CB-A9A6B3C5B07B}"/>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19586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D2998D-84AB-4609-9D0C-9FFD3FA762C0}"/>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3" name="Footer Placeholder 2">
            <a:extLst>
              <a:ext uri="{FF2B5EF4-FFF2-40B4-BE49-F238E27FC236}">
                <a16:creationId xmlns:a16="http://schemas.microsoft.com/office/drawing/2014/main" id="{1CD1EE94-759C-4C32-A007-BBE281266D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A65D3F-2311-4AEA-871F-31EBF6670FD4}"/>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2211254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3B7D2-253E-4FDD-8CA5-9FE438BAA5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336360-3DB1-4CC5-87B7-A9E5E910F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F979E75-9C78-4946-9427-0B9D664B9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C84B01-559B-4A3C-A36C-67785DC96809}"/>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6" name="Footer Placeholder 5">
            <a:extLst>
              <a:ext uri="{FF2B5EF4-FFF2-40B4-BE49-F238E27FC236}">
                <a16:creationId xmlns:a16="http://schemas.microsoft.com/office/drawing/2014/main" id="{35C88A80-0CD9-4A1E-9DB3-721207DE59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BC1F26-B01D-46FC-B808-4DE32B966415}"/>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1456689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B6140-027C-4A64-892A-98F69A79B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EE68CB-580A-47BF-8685-6D0982D953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663016-2D6B-4BDB-A369-1965A9DB0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446444-5173-4C2B-A511-253F60955EAF}"/>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6" name="Footer Placeholder 5">
            <a:extLst>
              <a:ext uri="{FF2B5EF4-FFF2-40B4-BE49-F238E27FC236}">
                <a16:creationId xmlns:a16="http://schemas.microsoft.com/office/drawing/2014/main" id="{B52A00EC-504D-4C32-B338-8ECBF0E2BF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29045A-5E2D-4D9D-BFE7-BBC57D848759}"/>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2996287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E6ED0-AB83-4ECD-96B8-2F11D1C230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20330D-4C8D-483F-8744-75C5DDBFB8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D2EBB3-CD1A-4AA4-B7E4-5003F7BE4BD2}"/>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5" name="Footer Placeholder 4">
            <a:extLst>
              <a:ext uri="{FF2B5EF4-FFF2-40B4-BE49-F238E27FC236}">
                <a16:creationId xmlns:a16="http://schemas.microsoft.com/office/drawing/2014/main" id="{34F8D9C5-098A-41AE-8F88-33A8D19BC2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3B2552-6DA1-48C7-813D-B0A28941925B}"/>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363726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DD999D-04A5-4F0A-85CC-CA9C6B1A81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7D6498-C990-4E60-8159-D77C01983B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1FD653-18BC-4C94-96BA-C329CE0FCA0C}"/>
              </a:ext>
            </a:extLst>
          </p:cNvPr>
          <p:cNvSpPr>
            <a:spLocks noGrp="1"/>
          </p:cNvSpPr>
          <p:nvPr>
            <p:ph type="dt" sz="half" idx="10"/>
          </p:nvPr>
        </p:nvSpPr>
        <p:spPr/>
        <p:txBody>
          <a:bodyPr/>
          <a:lstStyle/>
          <a:p>
            <a:fld id="{E0EF6B5C-D905-4274-A866-F887D58C4894}" type="datetimeFigureOut">
              <a:rPr lang="en-IN" smtClean="0"/>
              <a:t>25-04-2022</a:t>
            </a:fld>
            <a:endParaRPr lang="en-IN"/>
          </a:p>
        </p:txBody>
      </p:sp>
      <p:sp>
        <p:nvSpPr>
          <p:cNvPr id="5" name="Footer Placeholder 4">
            <a:extLst>
              <a:ext uri="{FF2B5EF4-FFF2-40B4-BE49-F238E27FC236}">
                <a16:creationId xmlns:a16="http://schemas.microsoft.com/office/drawing/2014/main" id="{C6CC6BF6-4F1F-41CD-B0FA-6D92B01EFE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552021-B72E-4154-BD91-E08210ADACF4}"/>
              </a:ext>
            </a:extLst>
          </p:cNvPr>
          <p:cNvSpPr>
            <a:spLocks noGrp="1"/>
          </p:cNvSpPr>
          <p:nvPr>
            <p:ph type="sldNum" sz="quarter" idx="12"/>
          </p:nvPr>
        </p:nvSpPr>
        <p:spPr/>
        <p:txBody>
          <a:bodyPr/>
          <a:lstStyle/>
          <a:p>
            <a:fld id="{BBE3AAC2-1C06-418C-B16A-84125EEB5F9D}" type="slidenum">
              <a:rPr lang="en-IN" smtClean="0"/>
              <a:t>‹#›</a:t>
            </a:fld>
            <a:endParaRPr lang="en-IN"/>
          </a:p>
        </p:txBody>
      </p:sp>
    </p:spTree>
    <p:extLst>
      <p:ext uri="{BB962C8B-B14F-4D97-AF65-F5344CB8AC3E}">
        <p14:creationId xmlns:p14="http://schemas.microsoft.com/office/powerpoint/2010/main" val="1660014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203200" y="1524000"/>
            <a:ext cx="57404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46800" y="1524000"/>
            <a:ext cx="57404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46800" y="4038600"/>
            <a:ext cx="57404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7EC75A3-6D45-4AFF-95A1-F56842D1F1C4}"/>
              </a:ext>
            </a:extLst>
          </p:cNvPr>
          <p:cNvSpPr>
            <a:spLocks noGrp="1"/>
          </p:cNvSpPr>
          <p:nvPr>
            <p:ph type="sldNum" sz="quarter" idx="10"/>
          </p:nvPr>
        </p:nvSpPr>
        <p:spPr>
          <a:xfrm>
            <a:off x="205318" y="6502401"/>
            <a:ext cx="1341967" cy="320675"/>
          </a:xfrm>
        </p:spPr>
        <p:txBody>
          <a:bodyPr/>
          <a:lstStyle>
            <a:lvl1pPr>
              <a:defRPr/>
            </a:lvl1pPr>
          </a:lstStyle>
          <a:p>
            <a:fld id="{41F12DA0-0A92-4E8B-8FB2-4F042EDBB6A4}" type="slidenum">
              <a:rPr lang="en-US" altLang="en-US"/>
              <a:pPr/>
              <a:t>‹#›</a:t>
            </a:fld>
            <a:endParaRPr lang="en-US" altLang="en-US"/>
          </a:p>
        </p:txBody>
      </p:sp>
    </p:spTree>
    <p:extLst>
      <p:ext uri="{BB962C8B-B14F-4D97-AF65-F5344CB8AC3E}">
        <p14:creationId xmlns:p14="http://schemas.microsoft.com/office/powerpoint/2010/main" val="4269212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5630DF-A5B6-4E1E-ACDE-7E190C092E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01869B-BCAB-45E5-BD96-670D1EB588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ABF50C-C74D-475F-895E-08408B8C27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EF6B5C-D905-4274-A866-F887D58C4894}" type="datetimeFigureOut">
              <a:rPr lang="en-IN" smtClean="0"/>
              <a:t>25-04-2022</a:t>
            </a:fld>
            <a:endParaRPr lang="en-IN"/>
          </a:p>
        </p:txBody>
      </p:sp>
      <p:sp>
        <p:nvSpPr>
          <p:cNvPr id="5" name="Footer Placeholder 4">
            <a:extLst>
              <a:ext uri="{FF2B5EF4-FFF2-40B4-BE49-F238E27FC236}">
                <a16:creationId xmlns:a16="http://schemas.microsoft.com/office/drawing/2014/main" id="{43B30B61-6F35-4CAB-9A9D-E6CB935F10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B41BFA-505B-401D-B670-1C44EA7715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E3AAC2-1C06-418C-B16A-84125EEB5F9D}" type="slidenum">
              <a:rPr lang="en-IN" smtClean="0"/>
              <a:t>‹#›</a:t>
            </a:fld>
            <a:endParaRPr lang="en-IN"/>
          </a:p>
        </p:txBody>
      </p:sp>
    </p:spTree>
    <p:extLst>
      <p:ext uri="{BB962C8B-B14F-4D97-AF65-F5344CB8AC3E}">
        <p14:creationId xmlns:p14="http://schemas.microsoft.com/office/powerpoint/2010/main" val="1847828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analyticsindiamag.com/a-guide-to-hidden-markov-model-and-its-applications-in-nl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B2F82B7-B6D1-434A-807D-63C4B45A3F70}"/>
              </a:ext>
            </a:extLst>
          </p:cNvPr>
          <p:cNvSpPr>
            <a:spLocks noGrp="1" noChangeArrowheads="1"/>
          </p:cNvSpPr>
          <p:nvPr>
            <p:ph type="title"/>
          </p:nvPr>
        </p:nvSpPr>
        <p:spPr>
          <a:xfrm>
            <a:off x="1676401" y="914401"/>
            <a:ext cx="8245475" cy="346075"/>
          </a:xfrm>
        </p:spPr>
        <p:txBody>
          <a:bodyPr>
            <a:normAutofit fontScale="90000"/>
          </a:bodyPr>
          <a:lstStyle/>
          <a:p>
            <a:r>
              <a:rPr lang="en-US" altLang="en-US" sz="3200"/>
              <a:t>Noisy Channel Model</a:t>
            </a:r>
          </a:p>
        </p:txBody>
      </p:sp>
      <p:sp>
        <p:nvSpPr>
          <p:cNvPr id="22531" name="Rectangle 3">
            <a:extLst>
              <a:ext uri="{FF2B5EF4-FFF2-40B4-BE49-F238E27FC236}">
                <a16:creationId xmlns:a16="http://schemas.microsoft.com/office/drawing/2014/main" id="{E74F87F7-31F5-4458-8003-3909330F4082}"/>
              </a:ext>
            </a:extLst>
          </p:cNvPr>
          <p:cNvSpPr>
            <a:spLocks noGrp="1" noChangeArrowheads="1"/>
          </p:cNvSpPr>
          <p:nvPr>
            <p:ph type="body" sz="half" idx="1"/>
          </p:nvPr>
        </p:nvSpPr>
        <p:spPr>
          <a:xfrm>
            <a:off x="1981200" y="1295401"/>
            <a:ext cx="8382000" cy="4830763"/>
          </a:xfrm>
        </p:spPr>
        <p:txBody>
          <a:bodyPr/>
          <a:lstStyle/>
          <a:p>
            <a:pPr>
              <a:buFont typeface="Wingdings" panose="05000000000000000000" pitchFamily="2" charset="2"/>
              <a:buNone/>
            </a:pPr>
            <a:endParaRPr lang="en-US" altLang="en-US" sz="2400"/>
          </a:p>
          <a:p>
            <a:pPr marL="465138" lvl="1" indent="0">
              <a:buNone/>
            </a:pPr>
            <a:r>
              <a:rPr lang="en-US" altLang="en-US"/>
              <a:t>		w				     t</a:t>
            </a:r>
          </a:p>
          <a:p>
            <a:pPr marL="465138" lvl="1" indent="0">
              <a:buNone/>
            </a:pPr>
            <a:r>
              <a:rPr lang="en-US" altLang="en-US"/>
              <a:t>	</a:t>
            </a:r>
          </a:p>
          <a:p>
            <a:pPr marL="465138" lvl="1" indent="0">
              <a:buNone/>
            </a:pPr>
            <a:r>
              <a:rPr lang="en-US" altLang="en-US"/>
              <a:t>(w</a:t>
            </a:r>
            <a:r>
              <a:rPr lang="en-US" altLang="en-US" baseline="-25000"/>
              <a:t>n</a:t>
            </a:r>
            <a:r>
              <a:rPr lang="en-US" altLang="en-US"/>
              <a:t>, w</a:t>
            </a:r>
            <a:r>
              <a:rPr lang="en-US" altLang="en-US" baseline="-25000"/>
              <a:t>n-1</a:t>
            </a:r>
            <a:r>
              <a:rPr lang="en-US" altLang="en-US"/>
              <a:t>, … , w</a:t>
            </a:r>
            <a:r>
              <a:rPr lang="en-US" altLang="en-US" baseline="-25000"/>
              <a:t>1</a:t>
            </a:r>
            <a:r>
              <a:rPr lang="en-US" altLang="en-US"/>
              <a:t>)		       (t</a:t>
            </a:r>
            <a:r>
              <a:rPr lang="en-US" altLang="en-US" baseline="-25000"/>
              <a:t>m</a:t>
            </a:r>
            <a:r>
              <a:rPr lang="en-US" altLang="en-US"/>
              <a:t>, t</a:t>
            </a:r>
            <a:r>
              <a:rPr lang="en-US" altLang="en-US" baseline="-25000"/>
              <a:t>m-1</a:t>
            </a:r>
            <a:r>
              <a:rPr lang="en-US" altLang="en-US"/>
              <a:t>, … , t</a:t>
            </a:r>
            <a:r>
              <a:rPr lang="en-US" altLang="en-US" baseline="-25000"/>
              <a:t>1</a:t>
            </a:r>
            <a:r>
              <a:rPr lang="en-US" altLang="en-US"/>
              <a:t>)</a:t>
            </a:r>
          </a:p>
          <a:p>
            <a:pPr marL="465138" lvl="1" indent="0">
              <a:buNone/>
            </a:pPr>
            <a:endParaRPr lang="en-US" altLang="en-US"/>
          </a:p>
          <a:p>
            <a:endParaRPr lang="en-US" altLang="en-US"/>
          </a:p>
        </p:txBody>
      </p:sp>
      <p:sp>
        <p:nvSpPr>
          <p:cNvPr id="22532" name="AutoShape 4">
            <a:extLst>
              <a:ext uri="{FF2B5EF4-FFF2-40B4-BE49-F238E27FC236}">
                <a16:creationId xmlns:a16="http://schemas.microsoft.com/office/drawing/2014/main" id="{3F423FC1-CA9B-4867-B0A3-8CA3EFEAEC63}"/>
              </a:ext>
            </a:extLst>
          </p:cNvPr>
          <p:cNvSpPr>
            <a:spLocks noChangeArrowheads="1"/>
          </p:cNvSpPr>
          <p:nvPr/>
        </p:nvSpPr>
        <p:spPr bwMode="auto">
          <a:xfrm>
            <a:off x="4648200" y="1905000"/>
            <a:ext cx="2590800" cy="533400"/>
          </a:xfrm>
          <a:prstGeom prst="flowChartPunchedTape">
            <a:avLst/>
          </a:prstGeom>
          <a:solidFill>
            <a:srgbClr val="C0C0C0"/>
          </a:solidFill>
          <a:ln w="9525">
            <a:solidFill>
              <a:schemeClr val="tx1"/>
            </a:solidFill>
            <a:miter lim="800000"/>
            <a:headEnd/>
            <a:tailEnd/>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2400" i="1">
                <a:ea typeface="MS PGothic" panose="020B0600070205080204" pitchFamily="34" charset="-128"/>
                <a:cs typeface="Arial" panose="020B0604020202020204" pitchFamily="34" charset="0"/>
              </a:rPr>
              <a:t>Noisy Channel</a:t>
            </a:r>
          </a:p>
        </p:txBody>
      </p:sp>
      <p:sp>
        <p:nvSpPr>
          <p:cNvPr id="22533" name="AutoShape 5">
            <a:extLst>
              <a:ext uri="{FF2B5EF4-FFF2-40B4-BE49-F238E27FC236}">
                <a16:creationId xmlns:a16="http://schemas.microsoft.com/office/drawing/2014/main" id="{E87CC254-FBAF-4C7A-8B20-B1AA353FFCC1}"/>
              </a:ext>
            </a:extLst>
          </p:cNvPr>
          <p:cNvSpPr>
            <a:spLocks noChangeArrowheads="1"/>
          </p:cNvSpPr>
          <p:nvPr/>
        </p:nvSpPr>
        <p:spPr bwMode="auto">
          <a:xfrm>
            <a:off x="7162800" y="1828800"/>
            <a:ext cx="685800" cy="685800"/>
          </a:xfrm>
          <a:prstGeom prst="rightArrow">
            <a:avLst>
              <a:gd name="adj1" fmla="val 53787"/>
              <a:gd name="adj2" fmla="val 90509"/>
            </a:avLst>
          </a:prstGeom>
          <a:solidFill>
            <a:srgbClr val="C0C0C0"/>
          </a:solidFill>
          <a:ln w="9525">
            <a:solidFill>
              <a:schemeClr val="tx1"/>
            </a:solidFill>
            <a:miter lim="800000"/>
            <a:headEnd/>
            <a:tailEnd/>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ltLang="en-US"/>
          </a:p>
        </p:txBody>
      </p:sp>
      <p:sp>
        <p:nvSpPr>
          <p:cNvPr id="22534" name="Text Box 7">
            <a:extLst>
              <a:ext uri="{FF2B5EF4-FFF2-40B4-BE49-F238E27FC236}">
                <a16:creationId xmlns:a16="http://schemas.microsoft.com/office/drawing/2014/main" id="{70A8880F-4261-4059-8F64-C1576B447C45}"/>
              </a:ext>
            </a:extLst>
          </p:cNvPr>
          <p:cNvSpPr txBox="1">
            <a:spLocks noChangeArrowheads="1"/>
          </p:cNvSpPr>
          <p:nvPr/>
        </p:nvSpPr>
        <p:spPr bwMode="auto">
          <a:xfrm>
            <a:off x="3657600" y="4114801"/>
            <a:ext cx="54102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20000"/>
              </a:spcBef>
            </a:pPr>
            <a:r>
              <a:rPr lang="en-US" altLang="en-US" b="1">
                <a:solidFill>
                  <a:srgbClr val="0000FF"/>
                </a:solidFill>
                <a:ea typeface="MS PGothic" panose="020B0600070205080204" pitchFamily="34" charset="-128"/>
                <a:cs typeface="Arial" panose="020B0604020202020204" pitchFamily="34" charset="0"/>
              </a:rPr>
              <a:t>Sequence </a:t>
            </a:r>
            <a:r>
              <a:rPr lang="en-US" altLang="en-US" b="1" i="1">
                <a:solidFill>
                  <a:srgbClr val="0000FF"/>
                </a:solidFill>
                <a:ea typeface="MS PGothic" panose="020B0600070205080204" pitchFamily="34" charset="-128"/>
                <a:cs typeface="Arial" panose="020B0604020202020204" pitchFamily="34" charset="0"/>
              </a:rPr>
              <a:t>w </a:t>
            </a:r>
            <a:r>
              <a:rPr lang="en-US" altLang="en-US" b="1">
                <a:solidFill>
                  <a:srgbClr val="0000FF"/>
                </a:solidFill>
                <a:ea typeface="MS PGothic" panose="020B0600070205080204" pitchFamily="34" charset="-128"/>
                <a:cs typeface="Arial" panose="020B0604020202020204" pitchFamily="34" charset="0"/>
              </a:rPr>
              <a:t>is transformed into sequence </a:t>
            </a:r>
            <a:r>
              <a:rPr lang="en-US" altLang="en-US" b="1" i="1">
                <a:solidFill>
                  <a:srgbClr val="0000FF"/>
                </a:solidFill>
                <a:ea typeface="MS PGothic" panose="020B0600070205080204" pitchFamily="34" charset="-128"/>
                <a:cs typeface="Arial" panose="020B0604020202020204" pitchFamily="34" charset="0"/>
              </a:rPr>
              <a:t>t.</a:t>
            </a:r>
            <a:endParaRPr lang="en-US" altLang="en-US" b="1">
              <a:solidFill>
                <a:srgbClr val="0000FF"/>
              </a:solidFill>
              <a:ea typeface="MS PGothic" panose="020B0600070205080204" pitchFamily="34" charset="-128"/>
              <a:cs typeface="Arial" panose="020B0604020202020204" pitchFamily="34" charset="0"/>
            </a:endParaRPr>
          </a:p>
          <a:p>
            <a:pPr>
              <a:spcBef>
                <a:spcPct val="50000"/>
              </a:spcBef>
            </a:pPr>
            <a:endParaRPr lang="en-US" altLang="en-US" b="1">
              <a:solidFill>
                <a:srgbClr val="FFFF00"/>
              </a:solidFill>
              <a:ea typeface="MS PGothic" panose="020B0600070205080204" pitchFamily="34" charset="-128"/>
              <a:cs typeface="Arial" panose="020B060402020202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7E0F-86F4-4DED-BCFA-88D54595D1B6}"/>
              </a:ext>
            </a:extLst>
          </p:cNvPr>
          <p:cNvSpPr>
            <a:spLocks noGrp="1"/>
          </p:cNvSpPr>
          <p:nvPr>
            <p:ph type="title"/>
          </p:nvPr>
        </p:nvSpPr>
        <p:spPr/>
        <p:txBody>
          <a:bodyPr/>
          <a:lstStyle/>
          <a:p>
            <a:r>
              <a:rPr lang="en-US" dirty="0"/>
              <a:t>Argmax</a:t>
            </a:r>
            <a:endParaRPr lang="en-IN" dirty="0"/>
          </a:p>
        </p:txBody>
      </p:sp>
      <p:sp>
        <p:nvSpPr>
          <p:cNvPr id="3" name="Content Placeholder 2">
            <a:extLst>
              <a:ext uri="{FF2B5EF4-FFF2-40B4-BE49-F238E27FC236}">
                <a16:creationId xmlns:a16="http://schemas.microsoft.com/office/drawing/2014/main" id="{C3BECD95-AAEC-4DF2-9F6A-D59D76EA2097}"/>
              </a:ext>
            </a:extLst>
          </p:cNvPr>
          <p:cNvSpPr>
            <a:spLocks noGrp="1"/>
          </p:cNvSpPr>
          <p:nvPr>
            <p:ph idx="1"/>
          </p:nvPr>
        </p:nvSpPr>
        <p:spPr/>
        <p:txBody>
          <a:bodyPr/>
          <a:lstStyle/>
          <a:p>
            <a:pPr algn="l" fontAlgn="base"/>
            <a:r>
              <a:rPr lang="en-US" b="0" u="none" strike="noStrike" dirty="0">
                <a:solidFill>
                  <a:srgbClr val="428BCA"/>
                </a:solidFill>
                <a:effectLst/>
                <a:latin typeface="Helvetica Neue" pitchFamily="50" charset="0"/>
              </a:rPr>
              <a:t>Argmax</a:t>
            </a:r>
            <a:r>
              <a:rPr lang="en-US" b="0" dirty="0">
                <a:solidFill>
                  <a:srgbClr val="555555"/>
                </a:solidFill>
                <a:effectLst/>
                <a:latin typeface="Helvetica Neue" pitchFamily="50" charset="0"/>
              </a:rPr>
              <a:t> is a mathematical function.</a:t>
            </a:r>
          </a:p>
          <a:p>
            <a:pPr algn="l" fontAlgn="base"/>
            <a:r>
              <a:rPr lang="en-US" b="0" dirty="0">
                <a:solidFill>
                  <a:srgbClr val="555555"/>
                </a:solidFill>
                <a:effectLst/>
                <a:latin typeface="Helvetica Neue" pitchFamily="50" charset="0"/>
              </a:rPr>
              <a:t>It is typically applied to another function that takes an argument. </a:t>
            </a:r>
          </a:p>
          <a:p>
            <a:pPr algn="l" fontAlgn="base"/>
            <a:r>
              <a:rPr lang="en-US" b="0" dirty="0">
                <a:solidFill>
                  <a:srgbClr val="555555"/>
                </a:solidFill>
                <a:effectLst/>
                <a:latin typeface="Helvetica Neue" pitchFamily="50" charset="0"/>
              </a:rPr>
              <a:t>For example, given a function </a:t>
            </a:r>
            <a:r>
              <a:rPr lang="en-US" b="0" i="1" dirty="0">
                <a:solidFill>
                  <a:srgbClr val="555555"/>
                </a:solidFill>
                <a:effectLst/>
                <a:latin typeface="Helvetica Neue" pitchFamily="50" charset="0"/>
              </a:rPr>
              <a:t>g()</a:t>
            </a:r>
            <a:r>
              <a:rPr lang="en-US" b="0" dirty="0">
                <a:solidFill>
                  <a:srgbClr val="555555"/>
                </a:solidFill>
                <a:effectLst/>
                <a:latin typeface="Helvetica Neue" pitchFamily="50" charset="0"/>
              </a:rPr>
              <a:t> that takes the argument </a:t>
            </a:r>
            <a:r>
              <a:rPr lang="en-US" b="0" i="1" dirty="0">
                <a:solidFill>
                  <a:srgbClr val="555555"/>
                </a:solidFill>
                <a:effectLst/>
                <a:latin typeface="Helvetica Neue" pitchFamily="50" charset="0"/>
              </a:rPr>
              <a:t>x</a:t>
            </a:r>
            <a:r>
              <a:rPr lang="en-US" b="0" dirty="0">
                <a:solidFill>
                  <a:srgbClr val="555555"/>
                </a:solidFill>
                <a:effectLst/>
                <a:latin typeface="Helvetica Neue" pitchFamily="50" charset="0"/>
              </a:rPr>
              <a:t>, the </a:t>
            </a:r>
            <a:r>
              <a:rPr lang="en-US" b="0" i="1" dirty="0">
                <a:solidFill>
                  <a:srgbClr val="555555"/>
                </a:solidFill>
                <a:effectLst/>
                <a:latin typeface="Helvetica Neue" pitchFamily="50" charset="0"/>
              </a:rPr>
              <a:t>argmax</a:t>
            </a:r>
            <a:r>
              <a:rPr lang="en-US" b="0" dirty="0">
                <a:solidFill>
                  <a:srgbClr val="555555"/>
                </a:solidFill>
                <a:effectLst/>
                <a:latin typeface="Helvetica Neue" pitchFamily="50" charset="0"/>
              </a:rPr>
              <a:t> operation of that function would be described as follows:</a:t>
            </a:r>
          </a:p>
          <a:p>
            <a:pPr marL="0" indent="0" algn="l" fontAlgn="base">
              <a:buNone/>
            </a:pPr>
            <a:r>
              <a:rPr lang="en-US" b="0" i="0" dirty="0">
                <a:solidFill>
                  <a:srgbClr val="555555"/>
                </a:solidFill>
                <a:effectLst/>
                <a:latin typeface="Helvetica Neue" pitchFamily="50" charset="0"/>
              </a:rPr>
              <a:t>                result = argmax(g(x))</a:t>
            </a:r>
          </a:p>
          <a:p>
            <a:pPr algn="l" fontAlgn="base"/>
            <a:r>
              <a:rPr lang="en-US" b="0" dirty="0">
                <a:solidFill>
                  <a:srgbClr val="555555"/>
                </a:solidFill>
                <a:effectLst/>
                <a:latin typeface="Helvetica Neue" pitchFamily="50" charset="0"/>
              </a:rPr>
              <a:t>The </a:t>
            </a:r>
            <a:r>
              <a:rPr lang="en-US" b="0" i="1" dirty="0">
                <a:solidFill>
                  <a:srgbClr val="555555"/>
                </a:solidFill>
                <a:effectLst/>
                <a:latin typeface="Helvetica Neue" pitchFamily="50" charset="0"/>
              </a:rPr>
              <a:t>argmax</a:t>
            </a:r>
            <a:r>
              <a:rPr lang="en-US" b="0" dirty="0">
                <a:solidFill>
                  <a:srgbClr val="555555"/>
                </a:solidFill>
                <a:effectLst/>
                <a:latin typeface="Helvetica Neue" pitchFamily="50" charset="0"/>
              </a:rPr>
              <a:t> function returns the argument or arguments (</a:t>
            </a:r>
            <a:r>
              <a:rPr lang="en-US" b="0" i="1" dirty="0" err="1">
                <a:solidFill>
                  <a:srgbClr val="555555"/>
                </a:solidFill>
                <a:effectLst/>
                <a:latin typeface="Helvetica Neue" pitchFamily="50" charset="0"/>
              </a:rPr>
              <a:t>arg</a:t>
            </a:r>
            <a:r>
              <a:rPr lang="en-US" b="0" dirty="0">
                <a:solidFill>
                  <a:srgbClr val="555555"/>
                </a:solidFill>
                <a:effectLst/>
                <a:latin typeface="Helvetica Neue" pitchFamily="50" charset="0"/>
              </a:rPr>
              <a:t>) for the target function that returns the maximum (</a:t>
            </a:r>
            <a:r>
              <a:rPr lang="en-US" b="0" i="1" dirty="0">
                <a:solidFill>
                  <a:srgbClr val="555555"/>
                </a:solidFill>
                <a:effectLst/>
                <a:latin typeface="Helvetica Neue" pitchFamily="50" charset="0"/>
              </a:rPr>
              <a:t>max</a:t>
            </a:r>
            <a:r>
              <a:rPr lang="en-US" b="0" dirty="0">
                <a:solidFill>
                  <a:srgbClr val="555555"/>
                </a:solidFill>
                <a:effectLst/>
                <a:latin typeface="Helvetica Neue" pitchFamily="50" charset="0"/>
              </a:rPr>
              <a:t>) value from the target function.</a:t>
            </a:r>
          </a:p>
          <a:p>
            <a:endParaRPr lang="en-IN" dirty="0"/>
          </a:p>
        </p:txBody>
      </p:sp>
    </p:spTree>
    <p:extLst>
      <p:ext uri="{BB962C8B-B14F-4D97-AF65-F5344CB8AC3E}">
        <p14:creationId xmlns:p14="http://schemas.microsoft.com/office/powerpoint/2010/main" val="1842573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797F9-7DC9-4DFF-912C-7082F49463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D81F73-2803-4519-BEBE-439948B706C1}"/>
              </a:ext>
            </a:extLst>
          </p:cNvPr>
          <p:cNvSpPr>
            <a:spLocks noGrp="1"/>
          </p:cNvSpPr>
          <p:nvPr>
            <p:ph idx="1"/>
          </p:nvPr>
        </p:nvSpPr>
        <p:spPr/>
        <p:txBody>
          <a:bodyPr>
            <a:normAutofit lnSpcReduction="10000"/>
          </a:bodyPr>
          <a:lstStyle/>
          <a:p>
            <a:pPr marL="0" indent="0" algn="l" fontAlgn="base">
              <a:buNone/>
            </a:pPr>
            <a:r>
              <a:rPr lang="en-US" b="0" dirty="0">
                <a:solidFill>
                  <a:srgbClr val="555555"/>
                </a:solidFill>
                <a:effectLst/>
                <a:latin typeface="Helvetica Neue" pitchFamily="50" charset="0"/>
              </a:rPr>
              <a:t>Consider the example where </a:t>
            </a:r>
            <a:r>
              <a:rPr lang="en-US" b="0" i="1" dirty="0">
                <a:solidFill>
                  <a:srgbClr val="555555"/>
                </a:solidFill>
                <a:effectLst/>
                <a:latin typeface="Helvetica Neue" pitchFamily="50" charset="0"/>
              </a:rPr>
              <a:t>g(x)</a:t>
            </a:r>
            <a:r>
              <a:rPr lang="en-US" b="0" dirty="0">
                <a:solidFill>
                  <a:srgbClr val="555555"/>
                </a:solidFill>
                <a:effectLst/>
                <a:latin typeface="Helvetica Neue" pitchFamily="50" charset="0"/>
              </a:rPr>
              <a:t> is calculated as the square of the </a:t>
            </a:r>
            <a:r>
              <a:rPr lang="en-US" b="0" i="1" dirty="0">
                <a:solidFill>
                  <a:srgbClr val="555555"/>
                </a:solidFill>
                <a:effectLst/>
                <a:latin typeface="Helvetica Neue" pitchFamily="50" charset="0"/>
              </a:rPr>
              <a:t>x</a:t>
            </a:r>
            <a:r>
              <a:rPr lang="en-US" b="0" dirty="0">
                <a:solidFill>
                  <a:srgbClr val="555555"/>
                </a:solidFill>
                <a:effectLst/>
                <a:latin typeface="Helvetica Neue" pitchFamily="50" charset="0"/>
              </a:rPr>
              <a:t> value and the domain or extent of input values (</a:t>
            </a:r>
            <a:r>
              <a:rPr lang="en-US" b="0" i="1" dirty="0">
                <a:solidFill>
                  <a:srgbClr val="555555"/>
                </a:solidFill>
                <a:effectLst/>
                <a:latin typeface="Helvetica Neue" pitchFamily="50" charset="0"/>
              </a:rPr>
              <a:t>x</a:t>
            </a:r>
            <a:r>
              <a:rPr lang="en-US" b="0" dirty="0">
                <a:solidFill>
                  <a:srgbClr val="555555"/>
                </a:solidFill>
                <a:effectLst/>
                <a:latin typeface="Helvetica Neue" pitchFamily="50" charset="0"/>
              </a:rPr>
              <a:t>) is limited to integers from 1 to 5:</a:t>
            </a:r>
          </a:p>
          <a:p>
            <a:pPr algn="l" fontAlgn="base">
              <a:buFont typeface="Arial" panose="020B0604020202020204" pitchFamily="34" charset="0"/>
              <a:buChar char="•"/>
            </a:pPr>
            <a:r>
              <a:rPr lang="en-US" b="0" i="0" dirty="0">
                <a:solidFill>
                  <a:srgbClr val="555555"/>
                </a:solidFill>
                <a:effectLst/>
                <a:latin typeface="Helvetica Neue" pitchFamily="50" charset="0"/>
              </a:rPr>
              <a:t>g(1) = 1^2 = 1</a:t>
            </a:r>
          </a:p>
          <a:p>
            <a:pPr algn="l" fontAlgn="base">
              <a:buFont typeface="Arial" panose="020B0604020202020204" pitchFamily="34" charset="0"/>
              <a:buChar char="•"/>
            </a:pPr>
            <a:r>
              <a:rPr lang="en-US" b="0" i="0" dirty="0">
                <a:solidFill>
                  <a:srgbClr val="555555"/>
                </a:solidFill>
                <a:effectLst/>
                <a:latin typeface="Helvetica Neue" pitchFamily="50" charset="0"/>
              </a:rPr>
              <a:t>g(2) = 2^2 = 4</a:t>
            </a:r>
          </a:p>
          <a:p>
            <a:pPr algn="l" fontAlgn="base">
              <a:buFont typeface="Arial" panose="020B0604020202020204" pitchFamily="34" charset="0"/>
              <a:buChar char="•"/>
            </a:pPr>
            <a:r>
              <a:rPr lang="en-US" b="0" i="0" dirty="0">
                <a:solidFill>
                  <a:srgbClr val="555555"/>
                </a:solidFill>
                <a:effectLst/>
                <a:latin typeface="Helvetica Neue" pitchFamily="50" charset="0"/>
              </a:rPr>
              <a:t>g(3) = 3^2 = 9</a:t>
            </a:r>
          </a:p>
          <a:p>
            <a:pPr algn="l" fontAlgn="base">
              <a:buFont typeface="Arial" panose="020B0604020202020204" pitchFamily="34" charset="0"/>
              <a:buChar char="•"/>
            </a:pPr>
            <a:r>
              <a:rPr lang="en-US" b="0" i="0" dirty="0">
                <a:solidFill>
                  <a:srgbClr val="555555"/>
                </a:solidFill>
                <a:effectLst/>
                <a:latin typeface="Helvetica Neue" pitchFamily="50" charset="0"/>
              </a:rPr>
              <a:t>g(4) = 4^2 = 16</a:t>
            </a:r>
          </a:p>
          <a:p>
            <a:pPr algn="l" fontAlgn="base">
              <a:buFont typeface="Arial" panose="020B0604020202020204" pitchFamily="34" charset="0"/>
              <a:buChar char="•"/>
            </a:pPr>
            <a:r>
              <a:rPr lang="en-US" b="0" i="0" dirty="0">
                <a:solidFill>
                  <a:srgbClr val="555555"/>
                </a:solidFill>
                <a:effectLst/>
                <a:latin typeface="Helvetica Neue" pitchFamily="50" charset="0"/>
              </a:rPr>
              <a:t>g(5) = 5^2 = 25</a:t>
            </a:r>
          </a:p>
          <a:p>
            <a:pPr marL="0" indent="0" algn="l" fontAlgn="base">
              <a:buNone/>
            </a:pPr>
            <a:endParaRPr lang="en-US" dirty="0">
              <a:solidFill>
                <a:srgbClr val="555555"/>
              </a:solidFill>
              <a:latin typeface="Helvetica Neue" pitchFamily="50" charset="0"/>
            </a:endParaRPr>
          </a:p>
          <a:p>
            <a:pPr marL="0" indent="0" fontAlgn="base">
              <a:buNone/>
            </a:pPr>
            <a:r>
              <a:rPr lang="en-IN" b="0" i="0" dirty="0">
                <a:solidFill>
                  <a:srgbClr val="555555"/>
                </a:solidFill>
                <a:effectLst/>
                <a:latin typeface="Helvetica Neue" pitchFamily="50" charset="0"/>
              </a:rPr>
              <a:t>argmax(g(x)) = 5</a:t>
            </a:r>
          </a:p>
          <a:p>
            <a:pPr marL="0" indent="0" algn="l" fontAlgn="base">
              <a:buNone/>
            </a:pPr>
            <a:endParaRPr lang="en-US" b="0" i="0" dirty="0">
              <a:solidFill>
                <a:srgbClr val="555555"/>
              </a:solidFill>
              <a:effectLst/>
              <a:latin typeface="Helvetica Neue" pitchFamily="50" charset="0"/>
            </a:endParaRPr>
          </a:p>
          <a:p>
            <a:pPr marL="0" indent="0">
              <a:buNone/>
            </a:pPr>
            <a:endParaRPr lang="en-IN" dirty="0"/>
          </a:p>
        </p:txBody>
      </p:sp>
    </p:spTree>
    <p:extLst>
      <p:ext uri="{BB962C8B-B14F-4D97-AF65-F5344CB8AC3E}">
        <p14:creationId xmlns:p14="http://schemas.microsoft.com/office/powerpoint/2010/main" val="478567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973E-7750-4814-A23F-65211F011A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4FE06A-9BA9-4AE6-9E6B-92BF4325DEB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0B98863-BCE3-40F9-9612-ED5F5457544E}"/>
              </a:ext>
            </a:extLst>
          </p:cNvPr>
          <p:cNvPicPr>
            <a:picLocks noChangeAspect="1"/>
          </p:cNvPicPr>
          <p:nvPr/>
        </p:nvPicPr>
        <p:blipFill>
          <a:blip r:embed="rId2"/>
          <a:stretch>
            <a:fillRect/>
          </a:stretch>
        </p:blipFill>
        <p:spPr>
          <a:xfrm>
            <a:off x="404950" y="681037"/>
            <a:ext cx="10136776" cy="5602197"/>
          </a:xfrm>
          <a:prstGeom prst="rect">
            <a:avLst/>
          </a:prstGeom>
        </p:spPr>
      </p:pic>
    </p:spTree>
    <p:extLst>
      <p:ext uri="{BB962C8B-B14F-4D97-AF65-F5344CB8AC3E}">
        <p14:creationId xmlns:p14="http://schemas.microsoft.com/office/powerpoint/2010/main" val="939400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31450-FE0A-4287-AD75-4F5B3D4007D3}"/>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35EE20C2-A805-447C-B714-4CD7BA19A8D3}"/>
              </a:ext>
            </a:extLst>
          </p:cNvPr>
          <p:cNvSpPr>
            <a:spLocks noGrp="1"/>
          </p:cNvSpPr>
          <p:nvPr>
            <p:ph idx="1"/>
          </p:nvPr>
        </p:nvSpPr>
        <p:spPr/>
        <p:txBody>
          <a:bodyPr>
            <a:normAutofit/>
          </a:bodyPr>
          <a:lstStyle/>
          <a:p>
            <a:pPr marL="0" indent="0" algn="ctr">
              <a:buNone/>
            </a:pPr>
            <a:r>
              <a:rPr lang="en-US" sz="3600" b="1" dirty="0"/>
              <a:t>I went with my friend to the bank to withdraw some money but was disappointed to find it closed.</a:t>
            </a:r>
            <a:endParaRPr lang="en-IN" sz="3600" b="1" dirty="0"/>
          </a:p>
        </p:txBody>
      </p:sp>
    </p:spTree>
    <p:extLst>
      <p:ext uri="{BB962C8B-B14F-4D97-AF65-F5344CB8AC3E}">
        <p14:creationId xmlns:p14="http://schemas.microsoft.com/office/powerpoint/2010/main" val="2644051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A1E2-EF47-4780-964C-F85B792751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58B7DE-D7E8-44C2-8112-0C4EB804D43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391261B-8687-4D4C-A65C-70D8192C61A9}"/>
              </a:ext>
            </a:extLst>
          </p:cNvPr>
          <p:cNvPicPr>
            <a:picLocks noChangeAspect="1"/>
          </p:cNvPicPr>
          <p:nvPr/>
        </p:nvPicPr>
        <p:blipFill>
          <a:blip r:embed="rId2"/>
          <a:stretch>
            <a:fillRect/>
          </a:stretch>
        </p:blipFill>
        <p:spPr>
          <a:xfrm>
            <a:off x="1619794" y="1743075"/>
            <a:ext cx="8582297" cy="4433888"/>
          </a:xfrm>
          <a:prstGeom prst="rect">
            <a:avLst/>
          </a:prstGeom>
        </p:spPr>
      </p:pic>
    </p:spTree>
    <p:extLst>
      <p:ext uri="{BB962C8B-B14F-4D97-AF65-F5344CB8AC3E}">
        <p14:creationId xmlns:p14="http://schemas.microsoft.com/office/powerpoint/2010/main" val="371942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D6E07-C5FA-4E77-A314-92B08961000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B03BF53-71F7-4D1F-96D2-83DA860CD84E}"/>
              </a:ext>
            </a:extLst>
          </p:cNvPr>
          <p:cNvSpPr>
            <a:spLocks noGrp="1"/>
          </p:cNvSpPr>
          <p:nvPr>
            <p:ph idx="1"/>
          </p:nvPr>
        </p:nvSpPr>
        <p:spPr/>
        <p:txBody>
          <a:bodyPr>
            <a:normAutofit/>
          </a:bodyPr>
          <a:lstStyle/>
          <a:p>
            <a:pPr marL="0" indent="0" algn="ctr">
              <a:buNone/>
            </a:pPr>
            <a:endParaRPr lang="en-US" sz="4800" dirty="0"/>
          </a:p>
          <a:p>
            <a:pPr marL="0" indent="0" algn="ctr">
              <a:buNone/>
            </a:pPr>
            <a:endParaRPr lang="en-US" sz="4800" dirty="0"/>
          </a:p>
          <a:p>
            <a:pPr marL="0" indent="0" algn="ctr">
              <a:buNone/>
            </a:pPr>
            <a:r>
              <a:rPr lang="en-US" sz="4800" dirty="0"/>
              <a:t>HMM</a:t>
            </a:r>
            <a:endParaRPr lang="en-IN" sz="4800" dirty="0"/>
          </a:p>
        </p:txBody>
      </p:sp>
    </p:spTree>
    <p:extLst>
      <p:ext uri="{BB962C8B-B14F-4D97-AF65-F5344CB8AC3E}">
        <p14:creationId xmlns:p14="http://schemas.microsoft.com/office/powerpoint/2010/main" val="2217173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E3441-BBD3-4D2D-B100-C34E7E7F08F9}"/>
              </a:ext>
            </a:extLst>
          </p:cNvPr>
          <p:cNvSpPr>
            <a:spLocks noGrp="1"/>
          </p:cNvSpPr>
          <p:nvPr>
            <p:ph type="title"/>
          </p:nvPr>
        </p:nvSpPr>
        <p:spPr/>
        <p:txBody>
          <a:bodyPr/>
          <a:lstStyle/>
          <a:p>
            <a:r>
              <a:rPr lang="en-US" dirty="0"/>
              <a:t>HMM</a:t>
            </a:r>
            <a:endParaRPr lang="en-IN" dirty="0"/>
          </a:p>
        </p:txBody>
      </p:sp>
      <p:sp>
        <p:nvSpPr>
          <p:cNvPr id="3" name="Content Placeholder 2">
            <a:extLst>
              <a:ext uri="{FF2B5EF4-FFF2-40B4-BE49-F238E27FC236}">
                <a16:creationId xmlns:a16="http://schemas.microsoft.com/office/drawing/2014/main" id="{C973A49C-592D-4AA2-A50B-ADF25B417B87}"/>
              </a:ext>
            </a:extLst>
          </p:cNvPr>
          <p:cNvSpPr>
            <a:spLocks noGrp="1"/>
          </p:cNvSpPr>
          <p:nvPr>
            <p:ph idx="1"/>
          </p:nvPr>
        </p:nvSpPr>
        <p:spPr/>
        <p:txBody>
          <a:bodyPr/>
          <a:lstStyle/>
          <a:p>
            <a:r>
              <a:rPr lang="en-US" b="0" i="0" dirty="0">
                <a:solidFill>
                  <a:srgbClr val="292929"/>
                </a:solidFill>
                <a:effectLst/>
                <a:latin typeface="charter"/>
              </a:rPr>
              <a:t>Hidden Markov Models (HMMs) are a class of probabilistic graphical model that allow us to predict a sequence of unknown (hidden) variables from a set of observed variables.</a:t>
            </a:r>
          </a:p>
          <a:p>
            <a:r>
              <a:rPr lang="en-US" b="0" i="0" dirty="0">
                <a:solidFill>
                  <a:srgbClr val="292929"/>
                </a:solidFill>
                <a:effectLst/>
                <a:latin typeface="charter"/>
              </a:rPr>
              <a:t>An HMM can be viewed as a Bayes Net unrolled through time with observations made at a sequence of time steps being used to predict the best sequence of hidden states.</a:t>
            </a:r>
          </a:p>
          <a:p>
            <a:r>
              <a:rPr lang="en-US" b="0" i="0" dirty="0">
                <a:solidFill>
                  <a:srgbClr val="0C0C0C"/>
                </a:solidFill>
                <a:effectLst/>
                <a:latin typeface="Tinos"/>
              </a:rPr>
              <a:t>It can be used to describe the evolution of observable events that depend on internal factors, which are not directly observable.</a:t>
            </a:r>
            <a:endParaRPr lang="en-IN" dirty="0"/>
          </a:p>
        </p:txBody>
      </p:sp>
    </p:spTree>
    <p:extLst>
      <p:ext uri="{BB962C8B-B14F-4D97-AF65-F5344CB8AC3E}">
        <p14:creationId xmlns:p14="http://schemas.microsoft.com/office/powerpoint/2010/main" val="3865262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3BB6A-3D43-4DBB-9242-EE52ED15A0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95AA03-55F3-4168-A818-A5E51C029B20}"/>
              </a:ext>
            </a:extLst>
          </p:cNvPr>
          <p:cNvSpPr>
            <a:spLocks noGrp="1"/>
          </p:cNvSpPr>
          <p:nvPr>
            <p:ph idx="1"/>
          </p:nvPr>
        </p:nvSpPr>
        <p:spPr/>
        <p:txBody>
          <a:bodyPr/>
          <a:lstStyle/>
          <a:p>
            <a:r>
              <a:rPr lang="en-US" b="0" i="0" dirty="0">
                <a:solidFill>
                  <a:srgbClr val="0C0C0C"/>
                </a:solidFill>
                <a:effectLst/>
                <a:latin typeface="Tinos"/>
              </a:rPr>
              <a:t>The Hidden Markov model is a probabilistic model which is used to explain or derive the probabilistic characteristic of any random process. </a:t>
            </a:r>
          </a:p>
          <a:p>
            <a:r>
              <a:rPr lang="en-US" b="0" i="0" dirty="0">
                <a:solidFill>
                  <a:srgbClr val="0C0C0C"/>
                </a:solidFill>
                <a:effectLst/>
                <a:latin typeface="Tinos"/>
              </a:rPr>
              <a:t>It basically says that an observed event will not be corresponding to its step-by-step status but related to a set of probability distributions.</a:t>
            </a:r>
            <a:endParaRPr lang="en-IN" dirty="0"/>
          </a:p>
        </p:txBody>
      </p:sp>
    </p:spTree>
    <p:extLst>
      <p:ext uri="{BB962C8B-B14F-4D97-AF65-F5344CB8AC3E}">
        <p14:creationId xmlns:p14="http://schemas.microsoft.com/office/powerpoint/2010/main" val="2586622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853C7-4FD3-4140-B888-CE865DFAB4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FEF12F-3452-4C24-8D53-8826EF8F2C1C}"/>
              </a:ext>
            </a:extLst>
          </p:cNvPr>
          <p:cNvSpPr>
            <a:spLocks noGrp="1"/>
          </p:cNvSpPr>
          <p:nvPr>
            <p:ph idx="1"/>
          </p:nvPr>
        </p:nvSpPr>
        <p:spPr/>
        <p:txBody>
          <a:bodyPr>
            <a:normAutofit lnSpcReduction="10000"/>
          </a:bodyPr>
          <a:lstStyle/>
          <a:p>
            <a:pPr marL="0" indent="0">
              <a:buNone/>
            </a:pPr>
            <a:r>
              <a:rPr lang="en-US" dirty="0"/>
              <a:t>The states and observation are:</a:t>
            </a:r>
          </a:p>
          <a:p>
            <a:endParaRPr lang="en-US" dirty="0"/>
          </a:p>
          <a:p>
            <a:r>
              <a:rPr lang="en-US" dirty="0"/>
              <a:t>states = ('Rainy', 'Sunny')</a:t>
            </a:r>
          </a:p>
          <a:p>
            <a:endParaRPr lang="en-US" dirty="0"/>
          </a:p>
          <a:p>
            <a:r>
              <a:rPr lang="en-US" dirty="0"/>
              <a:t>observations = ('walk', 'shop', 'clean')</a:t>
            </a:r>
          </a:p>
          <a:p>
            <a:endParaRPr lang="en-US" dirty="0"/>
          </a:p>
          <a:p>
            <a:pPr marL="0" indent="0">
              <a:buNone/>
            </a:pPr>
            <a:r>
              <a:rPr lang="en-US" dirty="0"/>
              <a:t>And the start probability is:</a:t>
            </a:r>
          </a:p>
          <a:p>
            <a:endParaRPr lang="en-US" dirty="0"/>
          </a:p>
          <a:p>
            <a:r>
              <a:rPr lang="en-US" dirty="0" err="1"/>
              <a:t>start_probability</a:t>
            </a:r>
            <a:r>
              <a:rPr lang="en-US" dirty="0"/>
              <a:t> = {'Rainy': 0.6, 'Sunny': 0.4}</a:t>
            </a:r>
            <a:endParaRPr lang="en-IN" dirty="0"/>
          </a:p>
        </p:txBody>
      </p:sp>
    </p:spTree>
    <p:extLst>
      <p:ext uri="{BB962C8B-B14F-4D97-AF65-F5344CB8AC3E}">
        <p14:creationId xmlns:p14="http://schemas.microsoft.com/office/powerpoint/2010/main" val="146173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AC7A1-C241-406D-AD3A-4D00931B9B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3C9535-154E-4B2D-B117-1023CD2171EB}"/>
              </a:ext>
            </a:extLst>
          </p:cNvPr>
          <p:cNvSpPr>
            <a:spLocks noGrp="1"/>
          </p:cNvSpPr>
          <p:nvPr>
            <p:ph idx="1"/>
          </p:nvPr>
        </p:nvSpPr>
        <p:spPr>
          <a:xfrm>
            <a:off x="838200" y="1825625"/>
            <a:ext cx="11049000" cy="4351338"/>
          </a:xfrm>
        </p:spPr>
        <p:txBody>
          <a:bodyPr>
            <a:normAutofit fontScale="92500"/>
          </a:bodyPr>
          <a:lstStyle/>
          <a:p>
            <a:pPr marL="0" indent="0">
              <a:buNone/>
            </a:pPr>
            <a:r>
              <a:rPr lang="en-IN" b="0" i="0" dirty="0" err="1">
                <a:solidFill>
                  <a:srgbClr val="0C0C0C"/>
                </a:solidFill>
                <a:effectLst/>
                <a:latin typeface="Courier New" panose="02070309020205020404" pitchFamily="49" charset="0"/>
              </a:rPr>
              <a:t>transition_probability</a:t>
            </a:r>
            <a:r>
              <a:rPr lang="en-IN" b="0" i="0" dirty="0">
                <a:solidFill>
                  <a:srgbClr val="0C0C0C"/>
                </a:solidFill>
                <a:effectLst/>
                <a:latin typeface="Courier New" panose="02070309020205020404" pitchFamily="49" charset="0"/>
              </a:rPr>
              <a:t> = {    </a:t>
            </a:r>
          </a:p>
          <a:p>
            <a:pPr marL="0" indent="0">
              <a:buNone/>
            </a:pPr>
            <a:r>
              <a:rPr lang="en-IN" b="0" i="0" dirty="0">
                <a:solidFill>
                  <a:srgbClr val="0C0C0C"/>
                </a:solidFill>
                <a:effectLst/>
                <a:latin typeface="Courier New" panose="02070309020205020404" pitchFamily="49" charset="0"/>
              </a:rPr>
              <a:t>'Rainy' : {'Rainy': 0.7, 'Sunny': 0.3},    </a:t>
            </a:r>
          </a:p>
          <a:p>
            <a:pPr marL="0" indent="0">
              <a:buNone/>
            </a:pPr>
            <a:r>
              <a:rPr lang="en-IN" b="0" i="0" dirty="0">
                <a:solidFill>
                  <a:srgbClr val="0C0C0C"/>
                </a:solidFill>
                <a:effectLst/>
                <a:latin typeface="Courier New" panose="02070309020205020404" pitchFamily="49" charset="0"/>
              </a:rPr>
              <a:t>'Sunny' : {'Rainy': 0.4, 'Sunny': 0.6},    </a:t>
            </a:r>
          </a:p>
          <a:p>
            <a:pPr marL="0" indent="0">
              <a:buNone/>
            </a:pPr>
            <a:r>
              <a:rPr lang="en-IN" b="0" i="0" dirty="0">
                <a:solidFill>
                  <a:srgbClr val="0C0C0C"/>
                </a:solidFill>
                <a:effectLst/>
                <a:latin typeface="Courier New" panose="02070309020205020404" pitchFamily="49" charset="0"/>
              </a:rPr>
              <a:t>}</a:t>
            </a:r>
          </a:p>
          <a:p>
            <a:pPr marL="0" indent="0">
              <a:buNone/>
            </a:pPr>
            <a:endParaRPr lang="en-IN" dirty="0">
              <a:solidFill>
                <a:srgbClr val="0C0C0C"/>
              </a:solidFill>
              <a:latin typeface="Courier New" panose="02070309020205020404" pitchFamily="49" charset="0"/>
            </a:endParaRPr>
          </a:p>
          <a:p>
            <a:pPr marL="0" indent="0">
              <a:buNone/>
            </a:pPr>
            <a:r>
              <a:rPr lang="en-IN" b="0" i="0" dirty="0" err="1">
                <a:solidFill>
                  <a:srgbClr val="0C0C0C"/>
                </a:solidFill>
                <a:effectLst/>
                <a:latin typeface="Courier New" panose="02070309020205020404" pitchFamily="49" charset="0"/>
              </a:rPr>
              <a:t>emission_probability</a:t>
            </a:r>
            <a:r>
              <a:rPr lang="en-IN" b="0" i="0" dirty="0">
                <a:solidFill>
                  <a:srgbClr val="0C0C0C"/>
                </a:solidFill>
                <a:effectLst/>
                <a:latin typeface="Courier New" panose="02070309020205020404" pitchFamily="49" charset="0"/>
              </a:rPr>
              <a:t> = {    </a:t>
            </a:r>
          </a:p>
          <a:p>
            <a:pPr marL="0" indent="0">
              <a:buNone/>
            </a:pPr>
            <a:r>
              <a:rPr lang="en-IN" b="0" i="0" dirty="0">
                <a:solidFill>
                  <a:srgbClr val="0C0C0C"/>
                </a:solidFill>
                <a:effectLst/>
                <a:latin typeface="Courier New" panose="02070309020205020404" pitchFamily="49" charset="0"/>
              </a:rPr>
              <a:t>'Rainy' : {'jog': 0.1, 'work': 0.4, 'clean': 0.5},    </a:t>
            </a:r>
          </a:p>
          <a:p>
            <a:pPr marL="0" indent="0">
              <a:buNone/>
            </a:pPr>
            <a:r>
              <a:rPr lang="en-IN" b="0" i="0" dirty="0">
                <a:solidFill>
                  <a:srgbClr val="0C0C0C"/>
                </a:solidFill>
                <a:effectLst/>
                <a:latin typeface="Courier New" panose="02070309020205020404" pitchFamily="49" charset="0"/>
              </a:rPr>
              <a:t>'Sunny' : {'jog': 0.6, 'work: 0.3, 'clean': 0.1},    </a:t>
            </a:r>
          </a:p>
          <a:p>
            <a:pPr marL="0" indent="0">
              <a:buNone/>
            </a:pPr>
            <a:r>
              <a:rPr lang="en-IN" b="0" i="0" dirty="0">
                <a:solidFill>
                  <a:srgbClr val="0C0C0C"/>
                </a:solidFill>
                <a:effectLst/>
                <a:latin typeface="Courier New" panose="02070309020205020404" pitchFamily="49" charset="0"/>
              </a:rPr>
              <a:t>}</a:t>
            </a:r>
            <a:endParaRPr lang="en-IN" dirty="0"/>
          </a:p>
        </p:txBody>
      </p:sp>
    </p:spTree>
    <p:extLst>
      <p:ext uri="{BB962C8B-B14F-4D97-AF65-F5344CB8AC3E}">
        <p14:creationId xmlns:p14="http://schemas.microsoft.com/office/powerpoint/2010/main" val="564471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87C1-65F2-4984-999C-06730A790F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D563D9-E971-4316-8DB4-F4AD8CB8CDA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B928CE5-7076-4C1D-A72C-5333E4794947}"/>
              </a:ext>
            </a:extLst>
          </p:cNvPr>
          <p:cNvPicPr>
            <a:picLocks noChangeAspect="1"/>
          </p:cNvPicPr>
          <p:nvPr/>
        </p:nvPicPr>
        <p:blipFill>
          <a:blip r:embed="rId2"/>
          <a:stretch>
            <a:fillRect/>
          </a:stretch>
        </p:blipFill>
        <p:spPr>
          <a:xfrm>
            <a:off x="1427018" y="365125"/>
            <a:ext cx="9019309" cy="5164137"/>
          </a:xfrm>
          <a:prstGeom prst="rect">
            <a:avLst/>
          </a:prstGeom>
        </p:spPr>
      </p:pic>
    </p:spTree>
    <p:extLst>
      <p:ext uri="{BB962C8B-B14F-4D97-AF65-F5344CB8AC3E}">
        <p14:creationId xmlns:p14="http://schemas.microsoft.com/office/powerpoint/2010/main" val="326873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2F22A-6F60-42F1-B03E-074A55AFF3B3}"/>
              </a:ext>
            </a:extLst>
          </p:cNvPr>
          <p:cNvSpPr>
            <a:spLocks noGrp="1"/>
          </p:cNvSpPr>
          <p:nvPr>
            <p:ph type="title"/>
          </p:nvPr>
        </p:nvSpPr>
        <p:spPr/>
        <p:txBody>
          <a:bodyPr/>
          <a:lstStyle/>
          <a:p>
            <a:r>
              <a:rPr lang="en-US" dirty="0"/>
              <a:t>Reference </a:t>
            </a:r>
            <a:endParaRPr lang="en-IN" dirty="0"/>
          </a:p>
        </p:txBody>
      </p:sp>
      <p:sp>
        <p:nvSpPr>
          <p:cNvPr id="3" name="Content Placeholder 2">
            <a:extLst>
              <a:ext uri="{FF2B5EF4-FFF2-40B4-BE49-F238E27FC236}">
                <a16:creationId xmlns:a16="http://schemas.microsoft.com/office/drawing/2014/main" id="{4C549A78-093D-49A9-9570-ADF0D135E168}"/>
              </a:ext>
            </a:extLst>
          </p:cNvPr>
          <p:cNvSpPr>
            <a:spLocks noGrp="1"/>
          </p:cNvSpPr>
          <p:nvPr>
            <p:ph idx="1"/>
          </p:nvPr>
        </p:nvSpPr>
        <p:spPr/>
        <p:txBody>
          <a:bodyPr/>
          <a:lstStyle/>
          <a:p>
            <a:r>
              <a:rPr lang="en-IN" dirty="0">
                <a:hlinkClick r:id="rId2"/>
              </a:rPr>
              <a:t>https://analyticsindiamag.com/a-guide-to-hidden-markov-model-and-its-applications-in-nlp/</a:t>
            </a:r>
            <a:endParaRPr lang="en-IN" dirty="0"/>
          </a:p>
          <a:p>
            <a:r>
              <a:rPr lang="en-IN" dirty="0"/>
              <a:t>https://medium.com/@postsanjay/hidden-markov-models-simplified-c3f58728caab#:~:text=A%20simple%20example%20of%20an,best%20sequence%20of%20hidden%20states.</a:t>
            </a:r>
          </a:p>
          <a:p>
            <a:endParaRPr lang="en-IN" dirty="0"/>
          </a:p>
        </p:txBody>
      </p:sp>
    </p:spTree>
    <p:extLst>
      <p:ext uri="{BB962C8B-B14F-4D97-AF65-F5344CB8AC3E}">
        <p14:creationId xmlns:p14="http://schemas.microsoft.com/office/powerpoint/2010/main" val="1133032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TotalTime>
  <Words>652</Words>
  <Application>Microsoft Office PowerPoint</Application>
  <PresentationFormat>Widescreen</PresentationFormat>
  <Paragraphs>58</Paragraphs>
  <Slides>13</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Arial</vt:lpstr>
      <vt:lpstr>Calibri</vt:lpstr>
      <vt:lpstr>Calibri Light</vt:lpstr>
      <vt:lpstr>charter</vt:lpstr>
      <vt:lpstr>Courier New</vt:lpstr>
      <vt:lpstr>Helvetica Neue</vt:lpstr>
      <vt:lpstr>Tahoma</vt:lpstr>
      <vt:lpstr>Tinos</vt:lpstr>
      <vt:lpstr>Wingdings</vt:lpstr>
      <vt:lpstr>Office Theme</vt:lpstr>
      <vt:lpstr>Noisy Channel Model</vt:lpstr>
      <vt:lpstr>Argmax</vt:lpstr>
      <vt:lpstr>PowerPoint Presentation</vt:lpstr>
      <vt:lpstr>PowerPoint Presentation</vt:lpstr>
      <vt:lpstr>PowerPoint Presentation</vt:lpstr>
      <vt:lpstr>PowerPoint Presentation</vt:lpstr>
      <vt:lpstr>PowerPoint Presentation</vt:lpstr>
      <vt:lpstr>HMM</vt:lpstr>
      <vt:lpstr>PowerPoint Presentation</vt:lpstr>
      <vt:lpstr>PowerPoint Presentation</vt:lpstr>
      <vt:lpstr>PowerPoint Presentation</vt:lpstr>
      <vt:lpstr>PowerPoint Presentation</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Dipti</dc:creator>
  <cp:lastModifiedBy>Dipti</cp:lastModifiedBy>
  <cp:revision>15</cp:revision>
  <dcterms:created xsi:type="dcterms:W3CDTF">2022-02-07T09:23:26Z</dcterms:created>
  <dcterms:modified xsi:type="dcterms:W3CDTF">2022-04-25T10:54:07Z</dcterms:modified>
</cp:coreProperties>
</file>