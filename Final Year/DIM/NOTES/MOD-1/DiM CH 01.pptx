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3" d="100"/>
          <a:sy n="73" d="100"/>
        </p:scale>
        <p:origin x="-1076" y="1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Digital Marketing- A paradigm shift in marketing</a:t>
            </a:r>
            <a:endParaRPr lang="en-IN" dirty="0"/>
          </a:p>
        </p:txBody>
      </p:sp>
    </p:spTree>
    <p:extLst>
      <p:ext uri="{BB962C8B-B14F-4D97-AF65-F5344CB8AC3E}">
        <p14:creationId xmlns:p14="http://schemas.microsoft.com/office/powerpoint/2010/main" val="2592943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Understanding Law in DiM</a:t>
            </a:r>
            <a:endParaRPr lang="en-IN" dirty="0"/>
          </a:p>
        </p:txBody>
      </p:sp>
      <p:sp>
        <p:nvSpPr>
          <p:cNvPr id="3" name="Content Placeholder 2"/>
          <p:cNvSpPr>
            <a:spLocks noGrp="1"/>
          </p:cNvSpPr>
          <p:nvPr>
            <p:ph idx="1"/>
          </p:nvPr>
        </p:nvSpPr>
        <p:spPr/>
        <p:txBody>
          <a:bodyPr>
            <a:normAutofit fontScale="92500"/>
          </a:bodyPr>
          <a:lstStyle/>
          <a:p>
            <a:r>
              <a:rPr lang="en-US" dirty="0" smtClean="0"/>
              <a:t>Trust-Building, Compliance &amp; avoid legal penalties.</a:t>
            </a:r>
          </a:p>
          <a:p>
            <a:r>
              <a:rPr lang="en-US" dirty="0" smtClean="0"/>
              <a:t>Key Areas:</a:t>
            </a:r>
          </a:p>
          <a:p>
            <a:pPr marL="514350" indent="-514350">
              <a:buFont typeface="+mj-lt"/>
              <a:buAutoNum type="arabicPeriod"/>
            </a:pPr>
            <a:r>
              <a:rPr lang="en-US" dirty="0" smtClean="0"/>
              <a:t>Data Privacy &amp; Protection:</a:t>
            </a:r>
          </a:p>
          <a:p>
            <a:pPr>
              <a:buFont typeface="Wingdings" panose="05000000000000000000" pitchFamily="2" charset="2"/>
              <a:buChar char="Ø"/>
            </a:pPr>
            <a:r>
              <a:rPr lang="en-US" dirty="0"/>
              <a:t> </a:t>
            </a:r>
            <a:r>
              <a:rPr lang="en-US" dirty="0" smtClean="0"/>
              <a:t>GDPR: Consent for data collection &amp; Processing.</a:t>
            </a:r>
          </a:p>
          <a:p>
            <a:pPr>
              <a:buFont typeface="Wingdings" panose="05000000000000000000" pitchFamily="2" charset="2"/>
              <a:buChar char="Ø"/>
            </a:pPr>
            <a:r>
              <a:rPr lang="en-US" dirty="0" smtClean="0"/>
              <a:t>CCPA: Give rights to consumers</a:t>
            </a:r>
          </a:p>
          <a:p>
            <a:pPr>
              <a:buFont typeface="Wingdings" panose="05000000000000000000" pitchFamily="2" charset="2"/>
              <a:buChar char="Ø"/>
            </a:pPr>
            <a:r>
              <a:rPr lang="en-US" dirty="0" smtClean="0"/>
              <a:t>Other Laws: Some countries have their own laws.</a:t>
            </a:r>
          </a:p>
        </p:txBody>
      </p:sp>
    </p:spTree>
    <p:extLst>
      <p:ext uri="{BB962C8B-B14F-4D97-AF65-F5344CB8AC3E}">
        <p14:creationId xmlns:p14="http://schemas.microsoft.com/office/powerpoint/2010/main" val="3828874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US" dirty="0"/>
              <a:t>Implications for marketers</a:t>
            </a:r>
            <a:r>
              <a:rPr lang="en-US" dirty="0" smtClean="0"/>
              <a:t>:</a:t>
            </a:r>
          </a:p>
          <a:p>
            <a:pPr>
              <a:buFont typeface="Wingdings" panose="05000000000000000000" pitchFamily="2" charset="2"/>
              <a:buChar char="Ø"/>
            </a:pPr>
            <a:r>
              <a:rPr lang="en-US" dirty="0"/>
              <a:t> </a:t>
            </a:r>
            <a:r>
              <a:rPr lang="en-US" dirty="0" smtClean="0"/>
              <a:t>Explicit consent</a:t>
            </a:r>
          </a:p>
          <a:p>
            <a:pPr>
              <a:buFont typeface="Wingdings" panose="05000000000000000000" pitchFamily="2" charset="2"/>
              <a:buChar char="Ø"/>
            </a:pPr>
            <a:r>
              <a:rPr lang="en-US" dirty="0"/>
              <a:t> </a:t>
            </a:r>
            <a:r>
              <a:rPr lang="en-US" dirty="0" smtClean="0"/>
              <a:t>Clear privacy policy</a:t>
            </a:r>
          </a:p>
          <a:p>
            <a:pPr>
              <a:buFont typeface="Wingdings" panose="05000000000000000000" pitchFamily="2" charset="2"/>
              <a:buChar char="Ø"/>
            </a:pPr>
            <a:r>
              <a:rPr lang="en-US" dirty="0" smtClean="0"/>
              <a:t>Unsubscribe from communication</a:t>
            </a:r>
            <a:endParaRPr lang="en-US" dirty="0"/>
          </a:p>
          <a:p>
            <a:endParaRPr lang="en-IN" dirty="0"/>
          </a:p>
        </p:txBody>
      </p:sp>
    </p:spTree>
    <p:extLst>
      <p:ext uri="{BB962C8B-B14F-4D97-AF65-F5344CB8AC3E}">
        <p14:creationId xmlns:p14="http://schemas.microsoft.com/office/powerpoint/2010/main" val="2557226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marL="514350" indent="-514350">
              <a:buFont typeface="+mj-lt"/>
              <a:buAutoNum type="arabicPeriod" startAt="2"/>
            </a:pPr>
            <a:r>
              <a:rPr lang="en-US" dirty="0" smtClean="0"/>
              <a:t>Advertising </a:t>
            </a:r>
            <a:r>
              <a:rPr lang="en-US" dirty="0"/>
              <a:t>S</a:t>
            </a:r>
            <a:r>
              <a:rPr lang="en-US" dirty="0" smtClean="0"/>
              <a:t>tandards &amp; Truthfulness:</a:t>
            </a:r>
          </a:p>
          <a:p>
            <a:pPr>
              <a:buFont typeface="Wingdings" panose="05000000000000000000" pitchFamily="2" charset="2"/>
              <a:buChar char="Ø"/>
            </a:pPr>
            <a:r>
              <a:rPr lang="en-US" dirty="0"/>
              <a:t> </a:t>
            </a:r>
            <a:r>
              <a:rPr lang="en-US" dirty="0" smtClean="0"/>
              <a:t>FTC Guidelines: Truth in advertisement </a:t>
            </a:r>
          </a:p>
          <a:p>
            <a:pPr>
              <a:buFont typeface="Wingdings" panose="05000000000000000000" pitchFamily="2" charset="2"/>
              <a:buChar char="Ø"/>
            </a:pPr>
            <a:r>
              <a:rPr lang="en-US" dirty="0" smtClean="0"/>
              <a:t>ASA Guidelines: Claims, Promotions &amp; Influencer.</a:t>
            </a:r>
          </a:p>
          <a:p>
            <a:r>
              <a:rPr lang="en-US" dirty="0" smtClean="0"/>
              <a:t>Implications for marketers:</a:t>
            </a:r>
          </a:p>
          <a:p>
            <a:pPr>
              <a:buFont typeface="Wingdings" panose="05000000000000000000" pitchFamily="2" charset="2"/>
              <a:buChar char="Ø"/>
            </a:pPr>
            <a:r>
              <a:rPr lang="en-US" dirty="0" smtClean="0"/>
              <a:t>Sponsored post</a:t>
            </a:r>
          </a:p>
          <a:p>
            <a:pPr>
              <a:buFont typeface="Wingdings" panose="05000000000000000000" pitchFamily="2" charset="2"/>
              <a:buChar char="Ø"/>
            </a:pPr>
            <a:r>
              <a:rPr lang="en-US" dirty="0" smtClean="0"/>
              <a:t>False claim</a:t>
            </a:r>
          </a:p>
          <a:p>
            <a:pPr>
              <a:buFont typeface="Wingdings" panose="05000000000000000000" pitchFamily="2" charset="2"/>
              <a:buChar char="Ø"/>
            </a:pPr>
            <a:r>
              <a:rPr lang="en-US" dirty="0" smtClean="0"/>
              <a:t>Ensure testimonials </a:t>
            </a:r>
            <a:endParaRPr lang="en-IN" dirty="0"/>
          </a:p>
        </p:txBody>
      </p:sp>
    </p:spTree>
    <p:extLst>
      <p:ext uri="{BB962C8B-B14F-4D97-AF65-F5344CB8AC3E}">
        <p14:creationId xmlns:p14="http://schemas.microsoft.com/office/powerpoint/2010/main" val="1640903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lnSpcReduction="10000"/>
          </a:bodyPr>
          <a:lstStyle/>
          <a:p>
            <a:pPr marL="514350" indent="-514350">
              <a:buFont typeface="+mj-lt"/>
              <a:buAutoNum type="arabicPeriod" startAt="3"/>
            </a:pPr>
            <a:r>
              <a:rPr lang="en-US" dirty="0" smtClean="0"/>
              <a:t>IPR:</a:t>
            </a:r>
          </a:p>
          <a:p>
            <a:r>
              <a:rPr lang="en-US" dirty="0" smtClean="0"/>
              <a:t>Contents without permission leads to penalty.</a:t>
            </a:r>
          </a:p>
          <a:p>
            <a:pPr>
              <a:buFont typeface="Wingdings" panose="05000000000000000000" pitchFamily="2" charset="2"/>
              <a:buChar char="Ø"/>
            </a:pPr>
            <a:r>
              <a:rPr lang="en-US" dirty="0" smtClean="0"/>
              <a:t>Use licensed or royalty free</a:t>
            </a:r>
          </a:p>
          <a:p>
            <a:pPr>
              <a:buFont typeface="Wingdings" panose="05000000000000000000" pitchFamily="2" charset="2"/>
              <a:buChar char="Ø"/>
            </a:pPr>
            <a:r>
              <a:rPr lang="en-US" dirty="0" smtClean="0"/>
              <a:t>Respect trademark or copyrights</a:t>
            </a:r>
          </a:p>
          <a:p>
            <a:pPr>
              <a:buFont typeface="Wingdings" panose="05000000000000000000" pitchFamily="2" charset="2"/>
              <a:buChar char="Ø"/>
            </a:pPr>
            <a:r>
              <a:rPr lang="en-US" dirty="0" smtClean="0"/>
              <a:t>Credit to original creators</a:t>
            </a:r>
          </a:p>
          <a:p>
            <a:pPr marL="0" indent="0">
              <a:buNone/>
            </a:pPr>
            <a:endParaRPr lang="en-US" dirty="0" smtClean="0"/>
          </a:p>
          <a:p>
            <a:pPr marL="514350" indent="-514350">
              <a:buFont typeface="+mj-lt"/>
              <a:buAutoNum type="arabicPeriod" startAt="4"/>
            </a:pPr>
            <a:r>
              <a:rPr lang="en-US" dirty="0" smtClean="0"/>
              <a:t>E-mail marketing laws:</a:t>
            </a:r>
          </a:p>
          <a:p>
            <a:pPr>
              <a:buFont typeface="Wingdings" panose="05000000000000000000" pitchFamily="2" charset="2"/>
              <a:buChar char="Ø"/>
            </a:pPr>
            <a:r>
              <a:rPr lang="en-US" dirty="0" smtClean="0"/>
              <a:t> Prior consent</a:t>
            </a:r>
          </a:p>
          <a:p>
            <a:pPr>
              <a:buFont typeface="Wingdings" panose="05000000000000000000" pitchFamily="2" charset="2"/>
              <a:buChar char="Ø"/>
            </a:pPr>
            <a:r>
              <a:rPr lang="en-US" dirty="0" smtClean="0"/>
              <a:t>Unsubscribe link</a:t>
            </a:r>
          </a:p>
          <a:p>
            <a:pPr>
              <a:buFont typeface="Wingdings" panose="05000000000000000000" pitchFamily="2" charset="2"/>
              <a:buChar char="Ø"/>
            </a:pPr>
            <a:r>
              <a:rPr lang="en-US" dirty="0" smtClean="0"/>
              <a:t>Identify sender </a:t>
            </a:r>
            <a:endParaRPr lang="en-IN" dirty="0"/>
          </a:p>
        </p:txBody>
      </p:sp>
    </p:spTree>
    <p:extLst>
      <p:ext uri="{BB962C8B-B14F-4D97-AF65-F5344CB8AC3E}">
        <p14:creationId xmlns:p14="http://schemas.microsoft.com/office/powerpoint/2010/main" val="1495157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a:bodyPr>
          <a:lstStyle/>
          <a:p>
            <a:pPr marL="514350" indent="-514350">
              <a:buFont typeface="+mj-lt"/>
              <a:buAutoNum type="arabicPeriod" startAt="5"/>
            </a:pPr>
            <a:r>
              <a:rPr lang="en-US" dirty="0" smtClean="0"/>
              <a:t>E-commerce &amp; Consumer Protection:</a:t>
            </a:r>
          </a:p>
          <a:p>
            <a:r>
              <a:rPr lang="en-US" dirty="0" smtClean="0"/>
              <a:t>Marketers must adhere to consumer right laws.</a:t>
            </a:r>
          </a:p>
          <a:p>
            <a:pPr>
              <a:buFont typeface="Wingdings" panose="05000000000000000000" pitchFamily="2" charset="2"/>
              <a:buChar char="Ø"/>
            </a:pPr>
            <a:r>
              <a:rPr lang="en-US" dirty="0" smtClean="0"/>
              <a:t>Clear Pricing &amp; terms of sale</a:t>
            </a:r>
          </a:p>
          <a:p>
            <a:pPr>
              <a:buFont typeface="Wingdings" panose="05000000000000000000" pitchFamily="2" charset="2"/>
              <a:buChar char="Ø"/>
            </a:pPr>
            <a:r>
              <a:rPr lang="en-US" dirty="0" smtClean="0"/>
              <a:t>Return / Refund laws</a:t>
            </a:r>
          </a:p>
          <a:p>
            <a:pPr>
              <a:buFont typeface="Wingdings" panose="05000000000000000000" pitchFamily="2" charset="2"/>
              <a:buChar char="Ø"/>
            </a:pPr>
            <a:r>
              <a:rPr lang="en-US" dirty="0" smtClean="0"/>
              <a:t>Avoid dark pattern</a:t>
            </a:r>
          </a:p>
          <a:p>
            <a:pPr marL="0" indent="0">
              <a:buNone/>
            </a:pPr>
            <a:endParaRPr lang="en-US" dirty="0" smtClean="0"/>
          </a:p>
          <a:p>
            <a:pPr marL="514350" indent="-514350">
              <a:buFont typeface="+mj-lt"/>
              <a:buAutoNum type="arabicPeriod" startAt="6"/>
            </a:pPr>
            <a:r>
              <a:rPr lang="en-US" dirty="0" smtClean="0"/>
              <a:t>Social Media &amp; Influencer Law:</a:t>
            </a:r>
          </a:p>
          <a:p>
            <a:pPr>
              <a:buFont typeface="Wingdings" panose="05000000000000000000" pitchFamily="2" charset="2"/>
              <a:buChar char="Ø"/>
            </a:pPr>
            <a:r>
              <a:rPr lang="en-US" dirty="0" smtClean="0"/>
              <a:t>Disclosure about paid relationship</a:t>
            </a:r>
          </a:p>
          <a:p>
            <a:pPr>
              <a:buFont typeface="Wingdings" panose="05000000000000000000" pitchFamily="2" charset="2"/>
              <a:buChar char="Ø"/>
            </a:pPr>
            <a:r>
              <a:rPr lang="en-US" dirty="0" smtClean="0"/>
              <a:t>Monitor content</a:t>
            </a:r>
          </a:p>
          <a:p>
            <a:pPr>
              <a:buFont typeface="Wingdings" panose="05000000000000000000" pitchFamily="2" charset="2"/>
              <a:buChar char="Ø"/>
            </a:pPr>
            <a:r>
              <a:rPr lang="en-US" dirty="0" smtClean="0"/>
              <a:t>Record of paid partnerships</a:t>
            </a:r>
          </a:p>
          <a:p>
            <a:pPr marL="0" indent="0">
              <a:buNone/>
            </a:pPr>
            <a:endParaRPr lang="en-IN" dirty="0"/>
          </a:p>
        </p:txBody>
      </p:sp>
    </p:spTree>
    <p:extLst>
      <p:ext uri="{BB962C8B-B14F-4D97-AF65-F5344CB8AC3E}">
        <p14:creationId xmlns:p14="http://schemas.microsoft.com/office/powerpoint/2010/main" val="3855892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marL="514350" indent="-514350">
              <a:buFont typeface="+mj-lt"/>
              <a:buAutoNum type="arabicPeriod" startAt="7"/>
            </a:pPr>
            <a:r>
              <a:rPr lang="en-US" dirty="0" smtClean="0"/>
              <a:t>Cookies Law:</a:t>
            </a:r>
          </a:p>
          <a:p>
            <a:r>
              <a:rPr lang="en-US" dirty="0" smtClean="0"/>
              <a:t>Track user behavior must comply with privacy laws.</a:t>
            </a:r>
          </a:p>
          <a:p>
            <a:pPr>
              <a:buFont typeface="Wingdings" panose="05000000000000000000" pitchFamily="2" charset="2"/>
              <a:buChar char="Ø"/>
            </a:pPr>
            <a:r>
              <a:rPr lang="en-US" dirty="0" smtClean="0"/>
              <a:t>Use cookies banners</a:t>
            </a:r>
          </a:p>
          <a:p>
            <a:pPr>
              <a:buFont typeface="Wingdings" panose="05000000000000000000" pitchFamily="2" charset="2"/>
              <a:buChar char="Ø"/>
            </a:pPr>
            <a:r>
              <a:rPr lang="en-US" dirty="0" smtClean="0"/>
              <a:t>Customized cookie preferences.</a:t>
            </a:r>
          </a:p>
          <a:p>
            <a:pPr>
              <a:buFont typeface="Wingdings" panose="05000000000000000000" pitchFamily="2" charset="2"/>
              <a:buChar char="Ø"/>
            </a:pPr>
            <a:r>
              <a:rPr lang="en-US" dirty="0" smtClean="0"/>
              <a:t>Cookie policy documentation.</a:t>
            </a:r>
          </a:p>
          <a:p>
            <a:endParaRPr lang="en-IN" dirty="0"/>
          </a:p>
        </p:txBody>
      </p:sp>
    </p:spTree>
    <p:extLst>
      <p:ext uri="{BB962C8B-B14F-4D97-AF65-F5344CB8AC3E}">
        <p14:creationId xmlns:p14="http://schemas.microsoft.com/office/powerpoint/2010/main" val="743165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1.4 Digital marketing channel:</a:t>
            </a:r>
            <a:endParaRPr lang="en-IN" dirty="0"/>
          </a:p>
        </p:txBody>
      </p:sp>
      <p:sp>
        <p:nvSpPr>
          <p:cNvPr id="3" name="Content Placeholder 2"/>
          <p:cNvSpPr>
            <a:spLocks noGrp="1"/>
          </p:cNvSpPr>
          <p:nvPr>
            <p:ph idx="1"/>
          </p:nvPr>
        </p:nvSpPr>
        <p:spPr/>
        <p:txBody>
          <a:bodyPr>
            <a:normAutofit lnSpcReduction="10000"/>
          </a:bodyPr>
          <a:lstStyle/>
          <a:p>
            <a:r>
              <a:rPr lang="en-US" dirty="0" smtClean="0"/>
              <a:t>PPC:</a:t>
            </a:r>
          </a:p>
          <a:p>
            <a:pPr>
              <a:buFont typeface="Wingdings" panose="05000000000000000000" pitchFamily="2" charset="2"/>
              <a:buChar char="Ø"/>
            </a:pPr>
            <a:r>
              <a:rPr lang="en-US" dirty="0" smtClean="0"/>
              <a:t>Businesses pay fees each time, an ad is clicked.</a:t>
            </a:r>
          </a:p>
          <a:p>
            <a:pPr>
              <a:buFont typeface="Wingdings" panose="05000000000000000000" pitchFamily="2" charset="2"/>
              <a:buChar char="Ø"/>
            </a:pPr>
            <a:r>
              <a:rPr lang="en-US" dirty="0" smtClean="0"/>
              <a:t>“ The revenue model adopted by search  engine where by the advertiser pays only when user click on an ad.”</a:t>
            </a:r>
          </a:p>
          <a:p>
            <a:pPr>
              <a:buFont typeface="Wingdings" panose="05000000000000000000" pitchFamily="2" charset="2"/>
              <a:buChar char="Ø"/>
            </a:pPr>
            <a:r>
              <a:rPr lang="en-US" dirty="0" smtClean="0"/>
              <a:t>Process:</a:t>
            </a:r>
          </a:p>
          <a:p>
            <a:pPr marL="0" indent="0">
              <a:buNone/>
            </a:pPr>
            <a:r>
              <a:rPr lang="en-US" dirty="0" smtClean="0"/>
              <a:t>Step 1: Setup your goal before beginning &amp; investing in your PPC Journey</a:t>
            </a:r>
            <a:endParaRPr lang="en-IN" dirty="0"/>
          </a:p>
        </p:txBody>
      </p:sp>
    </p:spTree>
    <p:extLst>
      <p:ext uri="{BB962C8B-B14F-4D97-AF65-F5344CB8AC3E}">
        <p14:creationId xmlns:p14="http://schemas.microsoft.com/office/powerpoint/2010/main" val="907440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a:buFont typeface="Wingdings" panose="05000000000000000000" pitchFamily="2" charset="2"/>
              <a:buChar char="§"/>
            </a:pPr>
            <a:r>
              <a:rPr lang="en-US" dirty="0" smtClean="0"/>
              <a:t>1</a:t>
            </a:r>
            <a:r>
              <a:rPr lang="en-US" baseline="30000" dirty="0" smtClean="0"/>
              <a:t>st</a:t>
            </a:r>
            <a:r>
              <a:rPr lang="en-US" dirty="0" smtClean="0"/>
              <a:t> learn benefits in your business.</a:t>
            </a:r>
          </a:p>
          <a:p>
            <a:pPr>
              <a:buFont typeface="Wingdings" panose="05000000000000000000" pitchFamily="2" charset="2"/>
              <a:buChar char="§"/>
            </a:pPr>
            <a:r>
              <a:rPr lang="en-US" dirty="0" smtClean="0"/>
              <a:t>Now define exact goal.</a:t>
            </a:r>
          </a:p>
          <a:p>
            <a:pPr marL="0" indent="0">
              <a:buNone/>
            </a:pPr>
            <a:r>
              <a:rPr lang="en-US" dirty="0" smtClean="0"/>
              <a:t>Step 2: Set up account</a:t>
            </a:r>
          </a:p>
          <a:p>
            <a:pPr>
              <a:buFont typeface="Wingdings" panose="05000000000000000000" pitchFamily="2" charset="2"/>
              <a:buChar char="§"/>
            </a:pPr>
            <a:r>
              <a:rPr lang="en-US" dirty="0" smtClean="0"/>
              <a:t>Setting up your own Google AdWords account. </a:t>
            </a:r>
          </a:p>
          <a:p>
            <a:pPr marL="0" indent="0">
              <a:buNone/>
            </a:pPr>
            <a:r>
              <a:rPr lang="en-US" dirty="0" smtClean="0"/>
              <a:t>Step 3: Manage your campaign</a:t>
            </a:r>
          </a:p>
          <a:p>
            <a:pPr>
              <a:buFont typeface="Wingdings" panose="05000000000000000000" pitchFamily="2" charset="2"/>
              <a:buChar char="§"/>
            </a:pPr>
            <a:r>
              <a:rPr lang="en-US" dirty="0" smtClean="0"/>
              <a:t>What happen after launching campaign.</a:t>
            </a:r>
          </a:p>
          <a:p>
            <a:pPr>
              <a:buFont typeface="Wingdings" panose="05000000000000000000" pitchFamily="2" charset="2"/>
              <a:buChar char="§"/>
            </a:pPr>
            <a:r>
              <a:rPr lang="en-US" dirty="0" smtClean="0"/>
              <a:t>How best to manage them.</a:t>
            </a:r>
          </a:p>
          <a:p>
            <a:pPr>
              <a:buFont typeface="Wingdings" panose="05000000000000000000" pitchFamily="2" charset="2"/>
              <a:buChar char="§"/>
            </a:pPr>
            <a:r>
              <a:rPr lang="en-US" dirty="0" smtClean="0"/>
              <a:t>Changes are needed to get returns.</a:t>
            </a:r>
            <a:endParaRPr lang="en-IN" dirty="0"/>
          </a:p>
        </p:txBody>
      </p:sp>
    </p:spTree>
    <p:extLst>
      <p:ext uri="{BB962C8B-B14F-4D97-AF65-F5344CB8AC3E}">
        <p14:creationId xmlns:p14="http://schemas.microsoft.com/office/powerpoint/2010/main" val="469960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en-US" dirty="0" smtClean="0"/>
              <a:t>Step 4: Analyze your result</a:t>
            </a:r>
          </a:p>
          <a:p>
            <a:pPr>
              <a:buFont typeface="Wingdings" panose="05000000000000000000" pitchFamily="2" charset="2"/>
              <a:buChar char="§"/>
            </a:pPr>
            <a:r>
              <a:rPr lang="en-US" dirty="0" smtClean="0"/>
              <a:t>Measuring success using KPI’s, tools and reports.</a:t>
            </a:r>
          </a:p>
          <a:p>
            <a:pPr>
              <a:buFont typeface="Wingdings" panose="05000000000000000000" pitchFamily="2" charset="2"/>
              <a:buChar char="§"/>
            </a:pPr>
            <a:endParaRPr lang="en-IN" dirty="0"/>
          </a:p>
        </p:txBody>
      </p:sp>
    </p:spTree>
    <p:extLst>
      <p:ext uri="{BB962C8B-B14F-4D97-AF65-F5344CB8AC3E}">
        <p14:creationId xmlns:p14="http://schemas.microsoft.com/office/powerpoint/2010/main" val="21935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PPC Works</a:t>
            </a:r>
            <a:endParaRPr lang="en-IN" dirty="0"/>
          </a:p>
        </p:txBody>
      </p:sp>
      <p:sp>
        <p:nvSpPr>
          <p:cNvPr id="3" name="Content Placeholder 2"/>
          <p:cNvSpPr>
            <a:spLocks noGrp="1"/>
          </p:cNvSpPr>
          <p:nvPr>
            <p:ph idx="1"/>
          </p:nvPr>
        </p:nvSpPr>
        <p:spPr/>
        <p:txBody>
          <a:bodyPr>
            <a:normAutofit fontScale="92500" lnSpcReduction="10000"/>
          </a:bodyPr>
          <a:lstStyle/>
          <a:p>
            <a:pPr fontAlgn="ctr"/>
            <a:r>
              <a:rPr lang="en-US" b="1" dirty="0"/>
              <a:t>Keyword Targeting:</a:t>
            </a:r>
            <a:r>
              <a:rPr lang="en-US" dirty="0"/>
              <a:t> Advertisers bid on relevant keywords that users might search for. </a:t>
            </a:r>
          </a:p>
          <a:p>
            <a:pPr fontAlgn="ctr"/>
            <a:r>
              <a:rPr lang="en-US" b="1" dirty="0"/>
              <a:t>Ad Placement:</a:t>
            </a:r>
            <a:r>
              <a:rPr lang="en-US" dirty="0"/>
              <a:t> When a user searches for a targeted keyword, the advertiser's ad appears among the search results or on other websites. </a:t>
            </a:r>
          </a:p>
          <a:p>
            <a:pPr fontAlgn="ctr"/>
            <a:r>
              <a:rPr lang="en-US" b="1" dirty="0"/>
              <a:t>Click and Payment:</a:t>
            </a:r>
            <a:r>
              <a:rPr lang="en-US" dirty="0"/>
              <a:t> If a user clicks on the ad, the advertiser pays a fee to the platform. </a:t>
            </a:r>
          </a:p>
          <a:p>
            <a:r>
              <a:rPr lang="en-US" b="1" dirty="0"/>
              <a:t>Campaign Optimization:</a:t>
            </a:r>
            <a:r>
              <a:rPr lang="en-US" dirty="0"/>
              <a:t> Advertisers can track the performance of their campaigns, adjust bids, and refine targeting to improve results. </a:t>
            </a:r>
          </a:p>
          <a:p>
            <a:endParaRPr lang="en-IN" dirty="0"/>
          </a:p>
        </p:txBody>
      </p:sp>
    </p:spTree>
    <p:extLst>
      <p:ext uri="{BB962C8B-B14F-4D97-AF65-F5344CB8AC3E}">
        <p14:creationId xmlns:p14="http://schemas.microsoft.com/office/powerpoint/2010/main" val="2995338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Use PPC</a:t>
            </a:r>
            <a:endParaRPr lang="en-IN" dirty="0"/>
          </a:p>
        </p:txBody>
      </p:sp>
      <p:sp>
        <p:nvSpPr>
          <p:cNvPr id="3" name="Content Placeholder 2"/>
          <p:cNvSpPr>
            <a:spLocks noGrp="1"/>
          </p:cNvSpPr>
          <p:nvPr>
            <p:ph idx="1"/>
          </p:nvPr>
        </p:nvSpPr>
        <p:spPr/>
        <p:txBody>
          <a:bodyPr>
            <a:normAutofit fontScale="92500" lnSpcReduction="10000"/>
          </a:bodyPr>
          <a:lstStyle/>
          <a:p>
            <a:pPr fontAlgn="ctr"/>
            <a:r>
              <a:rPr lang="en-US" b="1" dirty="0"/>
              <a:t>Targeted Traffic:</a:t>
            </a:r>
            <a:r>
              <a:rPr lang="en-US" dirty="0"/>
              <a:t> PPC allows you to reach specific audiences based on keywords, demographics, and interests. </a:t>
            </a:r>
          </a:p>
          <a:p>
            <a:pPr fontAlgn="ctr"/>
            <a:r>
              <a:rPr lang="en-US" b="1" dirty="0"/>
              <a:t>Immediate Results:</a:t>
            </a:r>
            <a:r>
              <a:rPr lang="en-US" dirty="0"/>
              <a:t> PPC campaigns can deliver traffic to your website quickly. </a:t>
            </a:r>
          </a:p>
          <a:p>
            <a:pPr fontAlgn="ctr"/>
            <a:r>
              <a:rPr lang="en-US" b="1" dirty="0"/>
              <a:t>Measurable ROI:</a:t>
            </a:r>
            <a:r>
              <a:rPr lang="en-US" dirty="0"/>
              <a:t> You can track the performance of your campaigns and measure the return on investment. </a:t>
            </a:r>
          </a:p>
          <a:p>
            <a:pPr fontAlgn="ctr"/>
            <a:r>
              <a:rPr lang="en-US" b="1" dirty="0"/>
              <a:t>Cost-Effective:</a:t>
            </a:r>
            <a:r>
              <a:rPr lang="en-US" dirty="0"/>
              <a:t> You only pay when someone clicks on your ad. </a:t>
            </a:r>
          </a:p>
          <a:p>
            <a:pPr marL="0" indent="0">
              <a:buNone/>
            </a:pPr>
            <a:endParaRPr lang="en-IN" dirty="0"/>
          </a:p>
        </p:txBody>
      </p:sp>
    </p:spTree>
    <p:extLst>
      <p:ext uri="{BB962C8B-B14F-4D97-AF65-F5344CB8AC3E}">
        <p14:creationId xmlns:p14="http://schemas.microsoft.com/office/powerpoint/2010/main" val="3281156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PPC Ads</a:t>
            </a:r>
            <a:endParaRPr lang="en-IN" dirty="0"/>
          </a:p>
        </p:txBody>
      </p:sp>
      <p:sp>
        <p:nvSpPr>
          <p:cNvPr id="3" name="Content Placeholder 2"/>
          <p:cNvSpPr>
            <a:spLocks noGrp="1"/>
          </p:cNvSpPr>
          <p:nvPr>
            <p:ph idx="1"/>
          </p:nvPr>
        </p:nvSpPr>
        <p:spPr/>
        <p:txBody>
          <a:bodyPr/>
          <a:lstStyle/>
          <a:p>
            <a:pPr fontAlgn="ctr"/>
            <a:r>
              <a:rPr lang="en-US" b="1" dirty="0"/>
              <a:t>Search Ads:</a:t>
            </a:r>
            <a:r>
              <a:rPr lang="en-US" dirty="0"/>
              <a:t> Ads that appear on search engine results pages, like Google Ads. </a:t>
            </a:r>
          </a:p>
          <a:p>
            <a:pPr fontAlgn="ctr"/>
            <a:r>
              <a:rPr lang="en-US" b="1" dirty="0"/>
              <a:t>Display Ads:</a:t>
            </a:r>
            <a:r>
              <a:rPr lang="en-US" dirty="0"/>
              <a:t> Image or banner ads that appear on websites within a network. </a:t>
            </a:r>
          </a:p>
          <a:p>
            <a:r>
              <a:rPr lang="en-US" b="1" dirty="0"/>
              <a:t>Social Media Ads:</a:t>
            </a:r>
            <a:r>
              <a:rPr lang="en-US" dirty="0"/>
              <a:t> Ads on platforms like Facebook or Instagram. </a:t>
            </a:r>
          </a:p>
          <a:p>
            <a:pPr marL="0" indent="0">
              <a:buNone/>
            </a:pPr>
            <a:endParaRPr lang="en-IN" dirty="0"/>
          </a:p>
        </p:txBody>
      </p:sp>
    </p:spTree>
    <p:extLst>
      <p:ext uri="{BB962C8B-B14F-4D97-AF65-F5344CB8AC3E}">
        <p14:creationId xmlns:p14="http://schemas.microsoft.com/office/powerpoint/2010/main" val="2670467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Google AdWords</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Google Ads.</a:t>
            </a:r>
          </a:p>
          <a:p>
            <a:r>
              <a:rPr lang="en-US" dirty="0"/>
              <a:t>Google Ads is an online advertising platform</a:t>
            </a:r>
            <a:r>
              <a:rPr lang="en-US" dirty="0" smtClean="0"/>
              <a:t>,</a:t>
            </a:r>
            <a:r>
              <a:rPr lang="en-US" dirty="0"/>
              <a:t> where advertisers pay to display brief advertisements, service offerings, product listings, and video content within the Google </a:t>
            </a:r>
            <a:r>
              <a:rPr lang="en-US" dirty="0" smtClean="0"/>
              <a:t>network.</a:t>
            </a:r>
          </a:p>
          <a:p>
            <a:r>
              <a:rPr lang="en-US" dirty="0" smtClean="0"/>
              <a:t>Advantages:</a:t>
            </a:r>
          </a:p>
          <a:p>
            <a:pPr marL="514350" indent="-514350">
              <a:buFont typeface="+mj-lt"/>
              <a:buAutoNum type="arabicPeriod"/>
            </a:pPr>
            <a:r>
              <a:rPr lang="en-IN" dirty="0"/>
              <a:t>targeting specific </a:t>
            </a:r>
            <a:r>
              <a:rPr lang="en-IN" dirty="0" smtClean="0"/>
              <a:t>audiences</a:t>
            </a:r>
          </a:p>
          <a:p>
            <a:pPr marL="514350" indent="-514350">
              <a:buFont typeface="+mj-lt"/>
              <a:buAutoNum type="arabicPeriod"/>
            </a:pPr>
            <a:r>
              <a:rPr lang="en-IN" dirty="0"/>
              <a:t>controlling </a:t>
            </a:r>
            <a:r>
              <a:rPr lang="en-IN" dirty="0" smtClean="0"/>
              <a:t>costs</a:t>
            </a:r>
          </a:p>
          <a:p>
            <a:pPr marL="514350" indent="-514350">
              <a:buFont typeface="+mj-lt"/>
              <a:buAutoNum type="arabicPeriod"/>
            </a:pPr>
            <a:r>
              <a:rPr lang="en-US" dirty="0"/>
              <a:t>making it a popular choice for businesses</a:t>
            </a:r>
            <a:endParaRPr lang="en-IN" dirty="0"/>
          </a:p>
        </p:txBody>
      </p:sp>
    </p:spTree>
    <p:extLst>
      <p:ext uri="{BB962C8B-B14F-4D97-AF65-F5344CB8AC3E}">
        <p14:creationId xmlns:p14="http://schemas.microsoft.com/office/powerpoint/2010/main" val="1847130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Terminology</a:t>
            </a:r>
            <a:endParaRPr lang="en-IN" dirty="0"/>
          </a:p>
        </p:txBody>
      </p:sp>
      <p:sp>
        <p:nvSpPr>
          <p:cNvPr id="3" name="Content Placeholder 2"/>
          <p:cNvSpPr>
            <a:spLocks noGrp="1"/>
          </p:cNvSpPr>
          <p:nvPr>
            <p:ph idx="1"/>
          </p:nvPr>
        </p:nvSpPr>
        <p:spPr/>
        <p:txBody>
          <a:bodyPr>
            <a:normAutofit fontScale="92500"/>
          </a:bodyPr>
          <a:lstStyle/>
          <a:p>
            <a:r>
              <a:rPr lang="en-US" b="1" dirty="0"/>
              <a:t>Pay-Per-Click (PPC) </a:t>
            </a:r>
            <a:r>
              <a:rPr lang="en-US" b="1" dirty="0" smtClean="0"/>
              <a:t>Advertising:</a:t>
            </a:r>
            <a:r>
              <a:rPr lang="en-US" dirty="0"/>
              <a:t> </a:t>
            </a:r>
            <a:r>
              <a:rPr lang="en-US" dirty="0" smtClean="0"/>
              <a:t>Advertisers </a:t>
            </a:r>
            <a:r>
              <a:rPr lang="en-US" dirty="0"/>
              <a:t>pay only when a user clicks on their ad, making it a cost-effective way to reach potential customers</a:t>
            </a:r>
            <a:r>
              <a:rPr lang="en-US" dirty="0" smtClean="0"/>
              <a:t>. </a:t>
            </a:r>
          </a:p>
          <a:p>
            <a:r>
              <a:rPr lang="en-IN" b="1" dirty="0"/>
              <a:t>Search and Display </a:t>
            </a:r>
            <a:r>
              <a:rPr lang="en-IN" b="1" dirty="0" smtClean="0"/>
              <a:t>Networks:</a:t>
            </a:r>
            <a:r>
              <a:rPr lang="en-US" dirty="0"/>
              <a:t>Google Ads operates on both the Search Network </a:t>
            </a:r>
            <a:r>
              <a:rPr lang="en-US" dirty="0" smtClean="0"/>
              <a:t>and </a:t>
            </a:r>
            <a:r>
              <a:rPr lang="en-US" dirty="0"/>
              <a:t>the Display </a:t>
            </a:r>
            <a:r>
              <a:rPr lang="en-US" dirty="0" smtClean="0"/>
              <a:t>Network.</a:t>
            </a:r>
            <a:r>
              <a:rPr lang="en-US" dirty="0"/>
              <a:t> </a:t>
            </a:r>
            <a:endParaRPr lang="en-US" dirty="0" smtClean="0"/>
          </a:p>
          <a:p>
            <a:r>
              <a:rPr lang="en-US" b="1" dirty="0"/>
              <a:t>Campaign </a:t>
            </a:r>
            <a:r>
              <a:rPr lang="en-US" b="1" dirty="0" smtClean="0"/>
              <a:t>Types:</a:t>
            </a:r>
            <a:r>
              <a:rPr lang="en-US" dirty="0"/>
              <a:t> </a:t>
            </a:r>
            <a:r>
              <a:rPr lang="en-US" dirty="0" smtClean="0"/>
              <a:t>Google </a:t>
            </a:r>
            <a:r>
              <a:rPr lang="en-US" dirty="0"/>
              <a:t>Ads offers various campaign types, including Search, Display, Video, Shopping, and App </a:t>
            </a:r>
            <a:r>
              <a:rPr lang="en-US" dirty="0" smtClean="0"/>
              <a:t>campaigns.</a:t>
            </a:r>
          </a:p>
          <a:p>
            <a:pPr marL="0" indent="0">
              <a:buNone/>
            </a:pPr>
            <a:endParaRPr lang="en-IN" dirty="0"/>
          </a:p>
        </p:txBody>
      </p:sp>
    </p:spTree>
    <p:extLst>
      <p:ext uri="{BB962C8B-B14F-4D97-AF65-F5344CB8AC3E}">
        <p14:creationId xmlns:p14="http://schemas.microsoft.com/office/powerpoint/2010/main" val="3496705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92500"/>
          </a:bodyPr>
          <a:lstStyle/>
          <a:p>
            <a:r>
              <a:rPr lang="en-US" b="1" dirty="0"/>
              <a:t>Ad </a:t>
            </a:r>
            <a:r>
              <a:rPr lang="en-US" b="1" dirty="0" smtClean="0"/>
              <a:t>Formats:</a:t>
            </a:r>
            <a:r>
              <a:rPr lang="en-US" dirty="0"/>
              <a:t> </a:t>
            </a:r>
            <a:r>
              <a:rPr lang="en-US" dirty="0" smtClean="0"/>
              <a:t>Ads </a:t>
            </a:r>
            <a:r>
              <a:rPr lang="en-US" dirty="0"/>
              <a:t>can appear in various formats, including text, image, and video, and can be optimized for different devices and platforms. </a:t>
            </a:r>
            <a:endParaRPr lang="en-US" dirty="0" smtClean="0"/>
          </a:p>
          <a:p>
            <a:r>
              <a:rPr lang="en-US" b="1" dirty="0" smtClean="0"/>
              <a:t>Targeting:</a:t>
            </a:r>
            <a:r>
              <a:rPr lang="en-US" dirty="0"/>
              <a:t> </a:t>
            </a:r>
            <a:r>
              <a:rPr lang="en-US" dirty="0" smtClean="0"/>
              <a:t>Advertisers </a:t>
            </a:r>
            <a:r>
              <a:rPr lang="en-US" dirty="0"/>
              <a:t>can target specific demographics, interests, locations, and even keywords to reach the most relevant audience. </a:t>
            </a:r>
            <a:endParaRPr lang="en-US" dirty="0" smtClean="0"/>
          </a:p>
          <a:p>
            <a:r>
              <a:rPr lang="en-US" b="1" dirty="0"/>
              <a:t>Quality </a:t>
            </a:r>
            <a:r>
              <a:rPr lang="en-US" b="1" dirty="0" smtClean="0"/>
              <a:t>Score:</a:t>
            </a:r>
            <a:r>
              <a:rPr lang="en-US" dirty="0"/>
              <a:t> </a:t>
            </a:r>
            <a:r>
              <a:rPr lang="en-US" dirty="0" smtClean="0"/>
              <a:t>Google </a:t>
            </a:r>
            <a:r>
              <a:rPr lang="en-US" dirty="0"/>
              <a:t>evaluates the quality of ads based on relevance, landing page experience, and other factors, which can impact ad ranking and cost. </a:t>
            </a:r>
          </a:p>
          <a:p>
            <a:endParaRPr lang="en-US" dirty="0"/>
          </a:p>
          <a:p>
            <a:endParaRPr lang="en-IN" dirty="0"/>
          </a:p>
        </p:txBody>
      </p:sp>
    </p:spTree>
    <p:extLst>
      <p:ext uri="{BB962C8B-B14F-4D97-AF65-F5344CB8AC3E}">
        <p14:creationId xmlns:p14="http://schemas.microsoft.com/office/powerpoint/2010/main" val="1600496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AdSense</a:t>
            </a:r>
          </a:p>
        </p:txBody>
      </p:sp>
      <p:sp>
        <p:nvSpPr>
          <p:cNvPr id="3" name="Content Placeholder 2"/>
          <p:cNvSpPr>
            <a:spLocks noGrp="1"/>
          </p:cNvSpPr>
          <p:nvPr>
            <p:ph idx="1"/>
          </p:nvPr>
        </p:nvSpPr>
        <p:spPr/>
        <p:txBody>
          <a:bodyPr/>
          <a:lstStyle/>
          <a:p>
            <a:r>
              <a:rPr lang="en-US" dirty="0"/>
              <a:t>A</a:t>
            </a:r>
            <a:r>
              <a:rPr lang="en-US" dirty="0" smtClean="0"/>
              <a:t> </a:t>
            </a:r>
            <a:r>
              <a:rPr lang="en-US" dirty="0"/>
              <a:t>program that allows website publishers to earn money by displaying ads on their </a:t>
            </a:r>
            <a:r>
              <a:rPr lang="en-US" dirty="0" smtClean="0"/>
              <a:t>sites.</a:t>
            </a:r>
          </a:p>
          <a:p>
            <a:r>
              <a:rPr lang="en-US" dirty="0" smtClean="0"/>
              <a:t>Connect website owner with advertiser.</a:t>
            </a:r>
          </a:p>
          <a:p>
            <a:r>
              <a:rPr lang="en-US" dirty="0"/>
              <a:t> AdSense provides a way for publishers to monetize their content by displaying relevant and engaging ads that are automatically matched to their site's content and audience. </a:t>
            </a:r>
            <a:endParaRPr lang="en-US" dirty="0" smtClean="0"/>
          </a:p>
          <a:p>
            <a:endParaRPr lang="en-IN" dirty="0"/>
          </a:p>
        </p:txBody>
      </p:sp>
    </p:spTree>
    <p:extLst>
      <p:ext uri="{BB962C8B-B14F-4D97-AF65-F5344CB8AC3E}">
        <p14:creationId xmlns:p14="http://schemas.microsoft.com/office/powerpoint/2010/main" val="4053176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terminology</a:t>
            </a:r>
            <a:endParaRPr lang="en-IN" dirty="0"/>
          </a:p>
        </p:txBody>
      </p:sp>
      <p:sp>
        <p:nvSpPr>
          <p:cNvPr id="3" name="Content Placeholder 2"/>
          <p:cNvSpPr>
            <a:spLocks noGrp="1"/>
          </p:cNvSpPr>
          <p:nvPr>
            <p:ph idx="1"/>
          </p:nvPr>
        </p:nvSpPr>
        <p:spPr/>
        <p:txBody>
          <a:bodyPr>
            <a:normAutofit lnSpcReduction="10000"/>
          </a:bodyPr>
          <a:lstStyle/>
          <a:p>
            <a:r>
              <a:rPr lang="en-US" b="1" dirty="0"/>
              <a:t>Monetization for </a:t>
            </a:r>
            <a:r>
              <a:rPr lang="en-US" b="1" dirty="0" smtClean="0"/>
              <a:t>Publishers:</a:t>
            </a:r>
            <a:r>
              <a:rPr lang="en-US" dirty="0"/>
              <a:t> </a:t>
            </a:r>
            <a:r>
              <a:rPr lang="en-US" dirty="0" smtClean="0"/>
              <a:t>AdSense </a:t>
            </a:r>
            <a:r>
              <a:rPr lang="en-US" dirty="0"/>
              <a:t>is designed for website owners, bloggers, and content creators who want to generate revenue from their online presence. </a:t>
            </a:r>
            <a:endParaRPr lang="en-US" dirty="0" smtClean="0"/>
          </a:p>
          <a:p>
            <a:r>
              <a:rPr lang="en-US" b="1" dirty="0"/>
              <a:t>How it </a:t>
            </a:r>
            <a:r>
              <a:rPr lang="en-US" b="1" dirty="0" smtClean="0"/>
              <a:t>Works:</a:t>
            </a:r>
            <a:r>
              <a:rPr lang="en-US" dirty="0"/>
              <a:t> </a:t>
            </a:r>
            <a:r>
              <a:rPr lang="en-US" dirty="0" smtClean="0"/>
              <a:t>When </a:t>
            </a:r>
            <a:r>
              <a:rPr lang="en-US" dirty="0"/>
              <a:t>users visit a website that uses AdSense, they see ads displayed on the pages. Google serves these ads, and the publisher earns money based on user clicks or impressions, depending on the ad type. </a:t>
            </a:r>
          </a:p>
          <a:p>
            <a:pPr marL="0" indent="0">
              <a:buNone/>
            </a:pPr>
            <a:endParaRPr lang="en-US" dirty="0"/>
          </a:p>
          <a:p>
            <a:endParaRPr lang="en-IN" dirty="0"/>
          </a:p>
        </p:txBody>
      </p:sp>
    </p:spTree>
    <p:extLst>
      <p:ext uri="{BB962C8B-B14F-4D97-AF65-F5344CB8AC3E}">
        <p14:creationId xmlns:p14="http://schemas.microsoft.com/office/powerpoint/2010/main" val="1593731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US" b="1" dirty="0"/>
              <a:t>Ad </a:t>
            </a:r>
            <a:r>
              <a:rPr lang="en-US" b="1" dirty="0" smtClean="0"/>
              <a:t>Targeting:</a:t>
            </a:r>
            <a:r>
              <a:rPr lang="en-US" dirty="0"/>
              <a:t> </a:t>
            </a:r>
            <a:r>
              <a:rPr lang="en-US" dirty="0" smtClean="0"/>
              <a:t>AdSense </a:t>
            </a:r>
            <a:r>
              <a:rPr lang="en-US" dirty="0"/>
              <a:t>uses Google's AI and algorithms to match relevant ads to a website's content and audience, ensuring that the ads are engaging and likely to be clicked</a:t>
            </a:r>
            <a:r>
              <a:rPr lang="en-US" dirty="0" smtClean="0"/>
              <a:t>.</a:t>
            </a:r>
          </a:p>
          <a:p>
            <a:r>
              <a:rPr lang="en-US" b="1" dirty="0"/>
              <a:t>AdSense vs. Google </a:t>
            </a:r>
            <a:r>
              <a:rPr lang="en-US" b="1" dirty="0" smtClean="0"/>
              <a:t>Ads:</a:t>
            </a:r>
            <a:r>
              <a:rPr lang="en-US" dirty="0"/>
              <a:t> </a:t>
            </a:r>
            <a:r>
              <a:rPr lang="en-US" dirty="0" smtClean="0"/>
              <a:t>It's </a:t>
            </a:r>
            <a:r>
              <a:rPr lang="en-US" dirty="0"/>
              <a:t>important to distinguish AdSense from Google Ads. AdSense is for publishers (website owners), while Google Ads is for advertisers who want to promote their products or services.  </a:t>
            </a:r>
          </a:p>
          <a:p>
            <a:endParaRPr lang="en-IN" dirty="0"/>
          </a:p>
        </p:txBody>
      </p:sp>
    </p:spTree>
    <p:extLst>
      <p:ext uri="{BB962C8B-B14F-4D97-AF65-F5344CB8AC3E}">
        <p14:creationId xmlns:p14="http://schemas.microsoft.com/office/powerpoint/2010/main" val="2681925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r>
              <a:rPr lang="en-US" b="1" dirty="0"/>
              <a:t>Types of </a:t>
            </a:r>
            <a:r>
              <a:rPr lang="en-US" b="1" dirty="0" smtClean="0"/>
              <a:t>AdSense:</a:t>
            </a:r>
            <a:r>
              <a:rPr lang="en-US" dirty="0"/>
              <a:t> </a:t>
            </a:r>
            <a:r>
              <a:rPr lang="en-US" dirty="0" smtClean="0"/>
              <a:t>There </a:t>
            </a:r>
            <a:r>
              <a:rPr lang="en-US" dirty="0"/>
              <a:t>are different types of AdSense, including AdSense for Content (displaying ads on website pages) and AdSense for Search (AFS) (displaying ads on search results pages). </a:t>
            </a:r>
            <a:endParaRPr lang="en-US" dirty="0" smtClean="0"/>
          </a:p>
          <a:p>
            <a:r>
              <a:rPr lang="en-US" b="1" dirty="0"/>
              <a:t>AdSense for </a:t>
            </a:r>
            <a:r>
              <a:rPr lang="en-US" b="1" dirty="0" smtClean="0"/>
              <a:t>YouTube:</a:t>
            </a:r>
            <a:r>
              <a:rPr lang="en-US" dirty="0"/>
              <a:t> </a:t>
            </a:r>
            <a:r>
              <a:rPr lang="en-US" dirty="0" smtClean="0"/>
              <a:t>YouTube </a:t>
            </a:r>
            <a:r>
              <a:rPr lang="en-US" dirty="0"/>
              <a:t>creators also use AdSense to earn money from ads displayed on their videos. </a:t>
            </a:r>
            <a:endParaRPr lang="en-US" dirty="0" smtClean="0"/>
          </a:p>
          <a:p>
            <a:r>
              <a:rPr lang="en-US" b="1" dirty="0" smtClean="0"/>
              <a:t>Customization:</a:t>
            </a:r>
            <a:r>
              <a:rPr lang="en-US" dirty="0"/>
              <a:t> </a:t>
            </a:r>
            <a:r>
              <a:rPr lang="en-US" dirty="0" smtClean="0"/>
              <a:t>Publishers </a:t>
            </a:r>
            <a:r>
              <a:rPr lang="en-US" dirty="0"/>
              <a:t>can customize the look and feel of the ads to match their website's </a:t>
            </a:r>
            <a:r>
              <a:rPr lang="en-US" dirty="0" smtClean="0"/>
              <a:t>design.</a:t>
            </a:r>
          </a:p>
          <a:p>
            <a:r>
              <a:rPr lang="en-US" b="1" dirty="0" smtClean="0"/>
              <a:t>Payment:</a:t>
            </a:r>
            <a:r>
              <a:rPr lang="en-US" dirty="0"/>
              <a:t> </a:t>
            </a:r>
            <a:r>
              <a:rPr lang="en-US" dirty="0" smtClean="0"/>
              <a:t>Google </a:t>
            </a:r>
            <a:r>
              <a:rPr lang="en-US" dirty="0"/>
              <a:t>pays publishers based on the ad performance, and the payment process is managed through the AdSense account. </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388976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Marketing And Video Cast</a:t>
            </a:r>
            <a:endParaRPr lang="en-IN" dirty="0"/>
          </a:p>
        </p:txBody>
      </p:sp>
      <p:sp>
        <p:nvSpPr>
          <p:cNvPr id="3" name="Content Placeholder 2"/>
          <p:cNvSpPr>
            <a:spLocks noGrp="1"/>
          </p:cNvSpPr>
          <p:nvPr>
            <p:ph idx="1"/>
          </p:nvPr>
        </p:nvSpPr>
        <p:spPr/>
        <p:txBody>
          <a:bodyPr>
            <a:normAutofit fontScale="92500" lnSpcReduction="20000"/>
          </a:bodyPr>
          <a:lstStyle/>
          <a:p>
            <a:r>
              <a:rPr lang="en-US" dirty="0"/>
              <a:t>Video marketing utilizes videos to promote products, engage audiences, and drive actions, while </a:t>
            </a:r>
            <a:r>
              <a:rPr lang="en-US" dirty="0" smtClean="0"/>
              <a:t>video cast </a:t>
            </a:r>
            <a:r>
              <a:rPr lang="en-US" dirty="0"/>
              <a:t>refers to broadcasting video content, often live, through platforms like YouTube or </a:t>
            </a:r>
            <a:r>
              <a:rPr lang="en-US" dirty="0" smtClean="0"/>
              <a:t>Twitch.</a:t>
            </a:r>
          </a:p>
          <a:p>
            <a:r>
              <a:rPr lang="en-IN" dirty="0"/>
              <a:t>Video </a:t>
            </a:r>
            <a:r>
              <a:rPr lang="en-IN" dirty="0" smtClean="0"/>
              <a:t>Marketing: </a:t>
            </a:r>
            <a:r>
              <a:rPr lang="en-US" dirty="0" smtClean="0"/>
              <a:t>It </a:t>
            </a:r>
            <a:r>
              <a:rPr lang="en-US" dirty="0"/>
              <a:t>is the strategic use of video content to achieve various marketing objectives, such as increasing brand awareness, generating leads, and driving </a:t>
            </a:r>
            <a:r>
              <a:rPr lang="en-US" dirty="0" smtClean="0"/>
              <a:t>sales. e.g. </a:t>
            </a:r>
            <a:r>
              <a:rPr lang="en-US" dirty="0"/>
              <a:t>product demos, customer testimonials, explainer videos, and live streams</a:t>
            </a:r>
            <a:endParaRPr lang="en-IN" dirty="0"/>
          </a:p>
        </p:txBody>
      </p:sp>
    </p:spTree>
    <p:extLst>
      <p:ext uri="{BB962C8B-B14F-4D97-AF65-F5344CB8AC3E}">
        <p14:creationId xmlns:p14="http://schemas.microsoft.com/office/powerpoint/2010/main" val="3690529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r>
              <a:rPr lang="en-US" dirty="0" smtClean="0"/>
              <a:t>Advantages: </a:t>
            </a:r>
            <a:r>
              <a:rPr lang="en-US" dirty="0"/>
              <a:t>B</a:t>
            </a:r>
            <a:r>
              <a:rPr lang="en-US" dirty="0" smtClean="0"/>
              <a:t>oost </a:t>
            </a:r>
            <a:r>
              <a:rPr lang="en-US" dirty="0"/>
              <a:t>engagement, improve SEO, build trust, and influence purchasing decisions. </a:t>
            </a:r>
            <a:endParaRPr lang="en-US" dirty="0" smtClean="0"/>
          </a:p>
          <a:p>
            <a:r>
              <a:rPr lang="en-US" dirty="0" smtClean="0"/>
              <a:t>Tools</a:t>
            </a:r>
            <a:r>
              <a:rPr lang="en-US" dirty="0"/>
              <a:t>:  Adobe Express, </a:t>
            </a:r>
            <a:r>
              <a:rPr lang="en-US" dirty="0" err="1"/>
              <a:t>Filmora</a:t>
            </a:r>
            <a:r>
              <a:rPr lang="en-US" dirty="0"/>
              <a:t>, Vimeo, and Loom. </a:t>
            </a:r>
            <a:endParaRPr lang="en-US" dirty="0" smtClean="0"/>
          </a:p>
          <a:p>
            <a:r>
              <a:rPr lang="en-IN" dirty="0"/>
              <a:t>AI-Driven Tools</a:t>
            </a:r>
            <a:r>
              <a:rPr lang="en-IN" dirty="0" smtClean="0"/>
              <a:t>: </a:t>
            </a:r>
            <a:r>
              <a:rPr lang="en-US" dirty="0" err="1"/>
              <a:t>Goldcast</a:t>
            </a:r>
            <a:r>
              <a:rPr lang="en-US" dirty="0"/>
              <a:t> Content Lab and </a:t>
            </a:r>
            <a:r>
              <a:rPr lang="en-US" dirty="0" err="1" smtClean="0"/>
              <a:t>InVideo</a:t>
            </a:r>
            <a:endParaRPr lang="en-US" dirty="0" smtClean="0"/>
          </a:p>
          <a:p>
            <a:r>
              <a:rPr lang="en-US" dirty="0" smtClean="0"/>
              <a:t>Drawbacks: </a:t>
            </a:r>
            <a:r>
              <a:rPr lang="en-US" dirty="0"/>
              <a:t> high production costs, finding the right talent, and the need for ongoing optimization. </a:t>
            </a:r>
            <a:endParaRPr lang="en-IN" dirty="0"/>
          </a:p>
        </p:txBody>
      </p:sp>
    </p:spTree>
    <p:extLst>
      <p:ext uri="{BB962C8B-B14F-4D97-AF65-F5344CB8AC3E}">
        <p14:creationId xmlns:p14="http://schemas.microsoft.com/office/powerpoint/2010/main" val="1570357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IN" dirty="0" err="1"/>
              <a:t>Videocast</a:t>
            </a:r>
            <a:r>
              <a:rPr lang="en-IN" dirty="0" smtClean="0"/>
              <a:t>: </a:t>
            </a:r>
            <a:r>
              <a:rPr lang="en-US" dirty="0" smtClean="0"/>
              <a:t>It refers </a:t>
            </a:r>
            <a:r>
              <a:rPr lang="en-US" dirty="0"/>
              <a:t>to the process of broadcasting video content, often live, through platforms like YouTube or Twitch, and it can be a part of video marketing strategies. </a:t>
            </a:r>
            <a:endParaRPr lang="en-US" dirty="0" smtClean="0"/>
          </a:p>
          <a:p>
            <a:r>
              <a:rPr lang="en-US" dirty="0" smtClean="0"/>
              <a:t>Host </a:t>
            </a:r>
            <a:r>
              <a:rPr lang="en-US" dirty="0"/>
              <a:t>webinars, conduct live Q&amp;A sessions, or share behind-the-scenes footage. </a:t>
            </a:r>
            <a:endParaRPr lang="en-US" dirty="0" smtClean="0"/>
          </a:p>
          <a:p>
            <a:r>
              <a:rPr lang="en-US" dirty="0" smtClean="0"/>
              <a:t>Advantages: </a:t>
            </a:r>
            <a:r>
              <a:rPr lang="en-US" dirty="0"/>
              <a:t>foster a sense of community, provide real-time interaction with the audience, and offer valuable insights into brand operations. </a:t>
            </a:r>
            <a:endParaRPr lang="en-IN" dirty="0"/>
          </a:p>
        </p:txBody>
      </p:sp>
    </p:spTree>
    <p:extLst>
      <p:ext uri="{BB962C8B-B14F-4D97-AF65-F5344CB8AC3E}">
        <p14:creationId xmlns:p14="http://schemas.microsoft.com/office/powerpoint/2010/main" val="3837554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fontScale="92500" lnSpcReduction="20000"/>
          </a:bodyPr>
          <a:lstStyle/>
          <a:p>
            <a:r>
              <a:rPr lang="en-US" b="1" dirty="0" smtClean="0"/>
              <a:t>Tools: </a:t>
            </a:r>
            <a:r>
              <a:rPr lang="en-IN" dirty="0"/>
              <a:t> YouTube Live, </a:t>
            </a:r>
            <a:r>
              <a:rPr lang="en-IN" dirty="0" smtClean="0"/>
              <a:t>Twitch, </a:t>
            </a:r>
            <a:r>
              <a:rPr lang="en-US" dirty="0"/>
              <a:t>and other live streaming services. </a:t>
            </a:r>
            <a:endParaRPr lang="en-US" dirty="0" smtClean="0"/>
          </a:p>
          <a:p>
            <a:r>
              <a:rPr lang="en-US" b="1" dirty="0" smtClean="0"/>
              <a:t>Difference Between VM &amp; VC</a:t>
            </a:r>
            <a:r>
              <a:rPr lang="en-IN" b="1" dirty="0" smtClean="0"/>
              <a:t>: </a:t>
            </a:r>
            <a:r>
              <a:rPr lang="en-US" dirty="0"/>
              <a:t>Video marketing is a broader strategy focused on using video to promote a brand, products, or services, with goals like increasing awareness, generating leads, or driving sales. </a:t>
            </a:r>
            <a:endParaRPr lang="en-US" dirty="0" smtClean="0"/>
          </a:p>
          <a:p>
            <a:r>
              <a:rPr lang="en-US" dirty="0" smtClean="0"/>
              <a:t>Video casting, </a:t>
            </a:r>
            <a:r>
              <a:rPr lang="en-US" dirty="0"/>
              <a:t>on the other hand, specifically refers to the creation and distribution of </a:t>
            </a:r>
            <a:r>
              <a:rPr lang="en-US" dirty="0" smtClean="0"/>
              <a:t>video </a:t>
            </a:r>
            <a:r>
              <a:rPr lang="en-US" dirty="0"/>
              <a:t>content, often in the form of video podcasts, with the aim of building an audience and providing entertainment or information. </a:t>
            </a:r>
            <a:endParaRPr lang="en-IN" dirty="0" smtClean="0"/>
          </a:p>
        </p:txBody>
      </p:sp>
    </p:spTree>
    <p:extLst>
      <p:ext uri="{BB962C8B-B14F-4D97-AF65-F5344CB8AC3E}">
        <p14:creationId xmlns:p14="http://schemas.microsoft.com/office/powerpoint/2010/main" val="1192786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E-mail Marketing</a:t>
            </a:r>
            <a:endParaRPr lang="en-IN" dirty="0"/>
          </a:p>
        </p:txBody>
      </p:sp>
      <p:sp>
        <p:nvSpPr>
          <p:cNvPr id="3" name="Content Placeholder 2"/>
          <p:cNvSpPr>
            <a:spLocks noGrp="1"/>
          </p:cNvSpPr>
          <p:nvPr>
            <p:ph idx="1"/>
          </p:nvPr>
        </p:nvSpPr>
        <p:spPr/>
        <p:txBody>
          <a:bodyPr>
            <a:normAutofit lnSpcReduction="10000"/>
          </a:bodyPr>
          <a:lstStyle/>
          <a:p>
            <a:r>
              <a:rPr lang="en-US" dirty="0" smtClean="0"/>
              <a:t>It </a:t>
            </a:r>
            <a:r>
              <a:rPr lang="en-US" dirty="0"/>
              <a:t>is the use of email to promote a company's products or services, engage with customers, and build </a:t>
            </a:r>
            <a:r>
              <a:rPr lang="en-US" dirty="0" smtClean="0"/>
              <a:t>relationships.</a:t>
            </a:r>
          </a:p>
          <a:p>
            <a:r>
              <a:rPr lang="en-US" dirty="0"/>
              <a:t>It involves sending targeted messages to a list of subscribers, often through newsletters, promotional emails, or automated campaigns</a:t>
            </a:r>
            <a:r>
              <a:rPr lang="en-US" dirty="0" smtClean="0"/>
              <a:t>.</a:t>
            </a:r>
          </a:p>
          <a:p>
            <a:r>
              <a:rPr lang="en-US" dirty="0"/>
              <a:t>Effective email marketing can increase brand awareness, drive website traffic, and ultimately boost sales. </a:t>
            </a:r>
            <a:endParaRPr lang="en-US" dirty="0" smtClean="0"/>
          </a:p>
          <a:p>
            <a:endParaRPr lang="en-IN" dirty="0"/>
          </a:p>
        </p:txBody>
      </p:sp>
    </p:spTree>
    <p:extLst>
      <p:ext uri="{BB962C8B-B14F-4D97-AF65-F5344CB8AC3E}">
        <p14:creationId xmlns:p14="http://schemas.microsoft.com/office/powerpoint/2010/main" val="2992674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terminology</a:t>
            </a:r>
            <a:endParaRPr lang="en-IN" dirty="0"/>
          </a:p>
        </p:txBody>
      </p:sp>
      <p:sp>
        <p:nvSpPr>
          <p:cNvPr id="3" name="Content Placeholder 2"/>
          <p:cNvSpPr>
            <a:spLocks noGrp="1"/>
          </p:cNvSpPr>
          <p:nvPr>
            <p:ph idx="1"/>
          </p:nvPr>
        </p:nvSpPr>
        <p:spPr/>
        <p:txBody>
          <a:bodyPr>
            <a:normAutofit/>
          </a:bodyPr>
          <a:lstStyle/>
          <a:p>
            <a:r>
              <a:rPr lang="en-IN" b="1" dirty="0"/>
              <a:t>Promote products and </a:t>
            </a:r>
            <a:r>
              <a:rPr lang="en-IN" b="1" dirty="0" smtClean="0"/>
              <a:t>services:</a:t>
            </a:r>
            <a:r>
              <a:rPr lang="en-US" dirty="0"/>
              <a:t>Announce new offerings, highlight special deals, or showcase items that align with customer interests. </a:t>
            </a:r>
            <a:endParaRPr lang="en-US" dirty="0" smtClean="0"/>
          </a:p>
          <a:p>
            <a:r>
              <a:rPr lang="en-US" b="1" dirty="0"/>
              <a:t>Build </a:t>
            </a:r>
            <a:r>
              <a:rPr lang="en-US" b="1" dirty="0" smtClean="0"/>
              <a:t>relationships:</a:t>
            </a:r>
            <a:r>
              <a:rPr lang="en-US" dirty="0"/>
              <a:t> </a:t>
            </a:r>
            <a:r>
              <a:rPr lang="en-US" dirty="0" smtClean="0"/>
              <a:t>Engage </a:t>
            </a:r>
            <a:r>
              <a:rPr lang="en-US" dirty="0"/>
              <a:t>with customers through personalized content, share valuable information, and foster a sense of community around the brand. </a:t>
            </a:r>
          </a:p>
          <a:p>
            <a:endParaRPr lang="en-IN" dirty="0"/>
          </a:p>
        </p:txBody>
      </p:sp>
    </p:spTree>
    <p:extLst>
      <p:ext uri="{BB962C8B-B14F-4D97-AF65-F5344CB8AC3E}">
        <p14:creationId xmlns:p14="http://schemas.microsoft.com/office/powerpoint/2010/main" val="986520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r>
              <a:rPr lang="en-US" b="1" dirty="0"/>
              <a:t>Drive sales and </a:t>
            </a:r>
            <a:r>
              <a:rPr lang="en-US" b="1" dirty="0" smtClean="0"/>
              <a:t>conversions: </a:t>
            </a:r>
            <a:r>
              <a:rPr lang="en-US" dirty="0" smtClean="0"/>
              <a:t>Encourage </a:t>
            </a:r>
            <a:r>
              <a:rPr lang="en-US" dirty="0"/>
              <a:t>purchases, generate leads, and move customers further down the sales funnel. </a:t>
            </a:r>
            <a:endParaRPr lang="en-US" dirty="0" smtClean="0"/>
          </a:p>
          <a:p>
            <a:r>
              <a:rPr lang="en-US" b="1" dirty="0"/>
              <a:t>Increase brand </a:t>
            </a:r>
            <a:r>
              <a:rPr lang="en-US" b="1" dirty="0" smtClean="0"/>
              <a:t>awareness:</a:t>
            </a:r>
            <a:r>
              <a:rPr lang="en-US" dirty="0"/>
              <a:t> </a:t>
            </a:r>
            <a:r>
              <a:rPr lang="en-US" dirty="0" smtClean="0"/>
              <a:t>Keep </a:t>
            </a:r>
            <a:r>
              <a:rPr lang="en-US" dirty="0"/>
              <a:t>your brand top-of-mind and reinforce your message with regular, targeted communications. </a:t>
            </a:r>
            <a:endParaRPr lang="en-US" dirty="0" smtClean="0"/>
          </a:p>
          <a:p>
            <a:r>
              <a:rPr lang="en-US" b="1" dirty="0"/>
              <a:t>Nurture </a:t>
            </a:r>
            <a:r>
              <a:rPr lang="en-US" b="1" dirty="0" smtClean="0"/>
              <a:t>leads: </a:t>
            </a:r>
            <a:r>
              <a:rPr lang="en-US" dirty="0" smtClean="0"/>
              <a:t>Guide </a:t>
            </a:r>
            <a:r>
              <a:rPr lang="en-US" dirty="0"/>
              <a:t>potential customers through the sales process with targeted email sequences. </a:t>
            </a:r>
          </a:p>
          <a:p>
            <a:pPr marL="0" indent="0">
              <a:buNone/>
            </a:pPr>
            <a:endParaRPr lang="en-US" dirty="0"/>
          </a:p>
          <a:p>
            <a:endParaRPr lang="en-US" dirty="0" smtClean="0"/>
          </a:p>
          <a:p>
            <a:endParaRPr lang="en-US" dirty="0"/>
          </a:p>
          <a:p>
            <a:endParaRPr lang="en-IN" dirty="0"/>
          </a:p>
        </p:txBody>
      </p:sp>
    </p:spTree>
    <p:extLst>
      <p:ext uri="{BB962C8B-B14F-4D97-AF65-F5344CB8AC3E}">
        <p14:creationId xmlns:p14="http://schemas.microsoft.com/office/powerpoint/2010/main" val="2742154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components for successful E.M </a:t>
            </a:r>
            <a:endParaRPr lang="en-IN" dirty="0"/>
          </a:p>
        </p:txBody>
      </p:sp>
      <p:sp>
        <p:nvSpPr>
          <p:cNvPr id="3" name="Content Placeholder 2"/>
          <p:cNvSpPr>
            <a:spLocks noGrp="1"/>
          </p:cNvSpPr>
          <p:nvPr>
            <p:ph idx="1"/>
          </p:nvPr>
        </p:nvSpPr>
        <p:spPr/>
        <p:txBody>
          <a:bodyPr/>
          <a:lstStyle/>
          <a:p>
            <a:r>
              <a:rPr lang="en-US" b="1" dirty="0"/>
              <a:t>Building an Email </a:t>
            </a:r>
            <a:r>
              <a:rPr lang="en-US" b="1" dirty="0" smtClean="0"/>
              <a:t>List:</a:t>
            </a:r>
            <a:r>
              <a:rPr lang="en-US" dirty="0"/>
              <a:t> </a:t>
            </a:r>
            <a:r>
              <a:rPr lang="en-US" dirty="0" smtClean="0"/>
              <a:t>Grow </a:t>
            </a:r>
            <a:r>
              <a:rPr lang="en-US" dirty="0"/>
              <a:t>your subscriber base through opt-in forms, lead magnets, and other strategies that encourage people to share their email addresses. </a:t>
            </a:r>
            <a:endParaRPr lang="en-US" dirty="0" smtClean="0"/>
          </a:p>
          <a:p>
            <a:r>
              <a:rPr lang="en-US" b="1" dirty="0" smtClean="0"/>
              <a:t>Segmentation:</a:t>
            </a:r>
            <a:r>
              <a:rPr lang="en-US" dirty="0"/>
              <a:t> </a:t>
            </a:r>
            <a:r>
              <a:rPr lang="en-US" dirty="0" smtClean="0"/>
              <a:t>Divide </a:t>
            </a:r>
            <a:r>
              <a:rPr lang="en-US" dirty="0"/>
              <a:t>your subscribers into groups based on demographics, interests, or past behavior to send more relevant and personalized emails. </a:t>
            </a:r>
            <a:endParaRPr lang="en-US" dirty="0" smtClean="0"/>
          </a:p>
          <a:p>
            <a:pPr marL="0" indent="0">
              <a:buNone/>
            </a:pPr>
            <a:endParaRPr lang="en-US" dirty="0"/>
          </a:p>
          <a:p>
            <a:endParaRPr lang="en-US" dirty="0"/>
          </a:p>
          <a:p>
            <a:endParaRPr lang="en-IN" dirty="0"/>
          </a:p>
        </p:txBody>
      </p:sp>
    </p:spTree>
    <p:extLst>
      <p:ext uri="{BB962C8B-B14F-4D97-AF65-F5344CB8AC3E}">
        <p14:creationId xmlns:p14="http://schemas.microsoft.com/office/powerpoint/2010/main" val="280575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r>
              <a:rPr lang="en-US" b="1" dirty="0" smtClean="0"/>
              <a:t>Personalization:</a:t>
            </a:r>
            <a:r>
              <a:rPr lang="en-US" dirty="0"/>
              <a:t> </a:t>
            </a:r>
            <a:r>
              <a:rPr lang="en-US" dirty="0" smtClean="0"/>
              <a:t>Tailor </a:t>
            </a:r>
            <a:r>
              <a:rPr lang="en-US" dirty="0"/>
              <a:t>your email content to resonate with individual subscribers, using their names, past purchases, or other relevant information. </a:t>
            </a:r>
            <a:endParaRPr lang="en-US" dirty="0" smtClean="0"/>
          </a:p>
          <a:p>
            <a:r>
              <a:rPr lang="en-US" b="1" dirty="0"/>
              <a:t>Compelling Subject </a:t>
            </a:r>
            <a:r>
              <a:rPr lang="en-US" b="1" dirty="0" smtClean="0"/>
              <a:t>Lines:</a:t>
            </a:r>
            <a:r>
              <a:rPr lang="en-US" dirty="0"/>
              <a:t> </a:t>
            </a:r>
            <a:r>
              <a:rPr lang="en-US" dirty="0" smtClean="0"/>
              <a:t>Grab </a:t>
            </a:r>
            <a:r>
              <a:rPr lang="en-US" dirty="0"/>
              <a:t>attention and entice recipients to open your </a:t>
            </a:r>
            <a:r>
              <a:rPr lang="en-US" dirty="0" smtClean="0"/>
              <a:t>emails.</a:t>
            </a:r>
          </a:p>
          <a:p>
            <a:r>
              <a:rPr lang="en-US" b="1" dirty="0"/>
              <a:t>Clear Calls to </a:t>
            </a:r>
            <a:r>
              <a:rPr lang="en-US" b="1" dirty="0" smtClean="0"/>
              <a:t>Action:</a:t>
            </a:r>
            <a:r>
              <a:rPr lang="en-US" dirty="0"/>
              <a:t> </a:t>
            </a:r>
            <a:r>
              <a:rPr lang="en-US" dirty="0" smtClean="0"/>
              <a:t>Guide </a:t>
            </a:r>
            <a:r>
              <a:rPr lang="en-US" dirty="0"/>
              <a:t>subscribers to take the desired action, such as visiting your website, making a purchase, or downloading a resource. </a:t>
            </a:r>
          </a:p>
          <a:p>
            <a:endParaRPr lang="en-US" dirty="0"/>
          </a:p>
          <a:p>
            <a:endParaRPr lang="en-US" dirty="0"/>
          </a:p>
          <a:p>
            <a:endParaRPr lang="en-IN" dirty="0"/>
          </a:p>
        </p:txBody>
      </p:sp>
    </p:spTree>
    <p:extLst>
      <p:ext uri="{BB962C8B-B14F-4D97-AF65-F5344CB8AC3E}">
        <p14:creationId xmlns:p14="http://schemas.microsoft.com/office/powerpoint/2010/main" val="3456786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r>
              <a:rPr lang="en-US" b="1" dirty="0"/>
              <a:t>Mobile </a:t>
            </a:r>
            <a:r>
              <a:rPr lang="en-US" b="1" dirty="0" smtClean="0"/>
              <a:t>Optimization:</a:t>
            </a:r>
            <a:r>
              <a:rPr lang="en-US" dirty="0"/>
              <a:t> </a:t>
            </a:r>
            <a:r>
              <a:rPr lang="en-US" dirty="0" smtClean="0"/>
              <a:t>Ensure </a:t>
            </a:r>
            <a:r>
              <a:rPr lang="en-US" dirty="0"/>
              <a:t>your emails display correctly on all devices, including smartphones and </a:t>
            </a:r>
            <a:r>
              <a:rPr lang="en-US" dirty="0" smtClean="0"/>
              <a:t>tablets.</a:t>
            </a:r>
          </a:p>
          <a:p>
            <a:r>
              <a:rPr lang="en-US" b="1" dirty="0"/>
              <a:t>Email Marketing </a:t>
            </a:r>
            <a:r>
              <a:rPr lang="en-US" b="1" dirty="0" smtClean="0"/>
              <a:t>Software:</a:t>
            </a:r>
            <a:r>
              <a:rPr lang="en-US" dirty="0"/>
              <a:t> </a:t>
            </a:r>
            <a:r>
              <a:rPr lang="en-US" dirty="0" smtClean="0"/>
              <a:t>Utilize </a:t>
            </a:r>
            <a:r>
              <a:rPr lang="en-US" dirty="0"/>
              <a:t>tools to manage your email list, create campaigns, and track performance. </a:t>
            </a:r>
            <a:endParaRPr lang="en-US" dirty="0" smtClean="0"/>
          </a:p>
          <a:p>
            <a:r>
              <a:rPr lang="en-US" b="1" dirty="0"/>
              <a:t>Measure </a:t>
            </a:r>
            <a:r>
              <a:rPr lang="en-US" b="1" dirty="0" smtClean="0"/>
              <a:t>Results:</a:t>
            </a:r>
            <a:r>
              <a:rPr lang="en-US" dirty="0"/>
              <a:t> </a:t>
            </a:r>
            <a:r>
              <a:rPr lang="en-US" dirty="0" smtClean="0"/>
              <a:t>Track </a:t>
            </a:r>
            <a:r>
              <a:rPr lang="en-US" dirty="0"/>
              <a:t>key metrics like open rates, click-through rates, and conversion rates to optimize your campaigns. </a:t>
            </a:r>
          </a:p>
          <a:p>
            <a:endParaRPr lang="en-US" dirty="0"/>
          </a:p>
          <a:p>
            <a:endParaRPr lang="en-US" dirty="0"/>
          </a:p>
          <a:p>
            <a:endParaRPr lang="en-IN" dirty="0"/>
          </a:p>
        </p:txBody>
      </p:sp>
    </p:spTree>
    <p:extLst>
      <p:ext uri="{BB962C8B-B14F-4D97-AF65-F5344CB8AC3E}">
        <p14:creationId xmlns:p14="http://schemas.microsoft.com/office/powerpoint/2010/main" val="2366571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Benefits of Email </a:t>
            </a:r>
            <a:r>
              <a:rPr lang="en-IN" dirty="0" smtClean="0"/>
              <a:t>Marketing</a:t>
            </a:r>
            <a:endParaRPr lang="en-IN" dirty="0"/>
          </a:p>
        </p:txBody>
      </p:sp>
      <p:sp>
        <p:nvSpPr>
          <p:cNvPr id="3" name="Content Placeholder 2"/>
          <p:cNvSpPr>
            <a:spLocks noGrp="1"/>
          </p:cNvSpPr>
          <p:nvPr>
            <p:ph idx="1"/>
          </p:nvPr>
        </p:nvSpPr>
        <p:spPr/>
        <p:txBody>
          <a:bodyPr>
            <a:normAutofit fontScale="85000" lnSpcReduction="20000"/>
          </a:bodyPr>
          <a:lstStyle/>
          <a:p>
            <a:r>
              <a:rPr lang="en-US" b="1" dirty="0"/>
              <a:t>High </a:t>
            </a:r>
            <a:r>
              <a:rPr lang="en-US" b="1" dirty="0" smtClean="0"/>
              <a:t>ROI:</a:t>
            </a:r>
            <a:r>
              <a:rPr lang="en-US" dirty="0"/>
              <a:t> </a:t>
            </a:r>
            <a:r>
              <a:rPr lang="en-US" dirty="0" smtClean="0"/>
              <a:t>Email </a:t>
            </a:r>
            <a:r>
              <a:rPr lang="en-US" dirty="0"/>
              <a:t>marketing often provides a strong return on investment due to its affordability and effectiveness. </a:t>
            </a:r>
            <a:endParaRPr lang="en-US" dirty="0" smtClean="0"/>
          </a:p>
          <a:p>
            <a:r>
              <a:rPr lang="en-US" b="1" dirty="0"/>
              <a:t>Targeted </a:t>
            </a:r>
            <a:r>
              <a:rPr lang="en-US" b="1" dirty="0" smtClean="0"/>
              <a:t>Reach:</a:t>
            </a:r>
            <a:r>
              <a:rPr lang="en-US" dirty="0"/>
              <a:t> </a:t>
            </a:r>
            <a:r>
              <a:rPr lang="en-US" dirty="0" smtClean="0"/>
              <a:t>You </a:t>
            </a:r>
            <a:r>
              <a:rPr lang="en-US" dirty="0"/>
              <a:t>can precisely target your audience with personalized messages. </a:t>
            </a:r>
            <a:endParaRPr lang="en-US" dirty="0" smtClean="0"/>
          </a:p>
          <a:p>
            <a:r>
              <a:rPr lang="en-US" b="1" dirty="0"/>
              <a:t>Measurable </a:t>
            </a:r>
            <a:r>
              <a:rPr lang="en-US" b="1" dirty="0" smtClean="0"/>
              <a:t>Results:</a:t>
            </a:r>
            <a:r>
              <a:rPr lang="en-US" dirty="0"/>
              <a:t> </a:t>
            </a:r>
            <a:r>
              <a:rPr lang="en-US" dirty="0" smtClean="0"/>
              <a:t>Track </a:t>
            </a:r>
            <a:r>
              <a:rPr lang="en-US" dirty="0"/>
              <a:t>your progress and optimize your campaigns based on data and analytics. </a:t>
            </a:r>
            <a:endParaRPr lang="en-US" dirty="0" smtClean="0"/>
          </a:p>
          <a:p>
            <a:r>
              <a:rPr lang="en-US" b="1" dirty="0" smtClean="0"/>
              <a:t>Cost-Effective:</a:t>
            </a:r>
            <a:r>
              <a:rPr lang="en-US" dirty="0"/>
              <a:t> </a:t>
            </a:r>
            <a:r>
              <a:rPr lang="en-US" dirty="0" smtClean="0"/>
              <a:t>Compared </a:t>
            </a:r>
            <a:r>
              <a:rPr lang="en-US" dirty="0"/>
              <a:t>to other marketing channels, email marketing can be a relatively inexpensive way to reach a large audience. </a:t>
            </a:r>
            <a:endParaRPr lang="en-US" dirty="0" smtClean="0"/>
          </a:p>
          <a:p>
            <a:r>
              <a:rPr lang="en-US" b="1" dirty="0"/>
              <a:t>Direct </a:t>
            </a:r>
            <a:r>
              <a:rPr lang="en-US" b="1" dirty="0" smtClean="0"/>
              <a:t>Communication:</a:t>
            </a:r>
            <a:r>
              <a:rPr lang="en-US" dirty="0"/>
              <a:t> </a:t>
            </a:r>
            <a:r>
              <a:rPr lang="en-US" dirty="0" smtClean="0"/>
              <a:t>Establish </a:t>
            </a:r>
            <a:r>
              <a:rPr lang="en-US" dirty="0"/>
              <a:t>a direct line of communication with your customers and prospects. </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2881866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 Marketing</a:t>
            </a:r>
            <a:endParaRPr lang="en-IN" dirty="0"/>
          </a:p>
        </p:txBody>
      </p:sp>
      <p:sp>
        <p:nvSpPr>
          <p:cNvPr id="3" name="Content Placeholder 2"/>
          <p:cNvSpPr>
            <a:spLocks noGrp="1"/>
          </p:cNvSpPr>
          <p:nvPr>
            <p:ph idx="1"/>
          </p:nvPr>
        </p:nvSpPr>
        <p:spPr/>
        <p:txBody>
          <a:bodyPr>
            <a:normAutofit fontScale="92500"/>
          </a:bodyPr>
          <a:lstStyle/>
          <a:p>
            <a:r>
              <a:rPr lang="en-US" dirty="0" smtClean="0"/>
              <a:t>It </a:t>
            </a:r>
            <a:r>
              <a:rPr lang="en-US" dirty="0"/>
              <a:t>is a digital marketing strategy focused on reaching target audiences through their mobile </a:t>
            </a:r>
            <a:r>
              <a:rPr lang="en-US"/>
              <a:t>devices </a:t>
            </a:r>
            <a:r>
              <a:rPr lang="en-US" smtClean="0"/>
              <a:t>App like </a:t>
            </a:r>
            <a:r>
              <a:rPr lang="en-US" dirty="0"/>
              <a:t>smartphones and </a:t>
            </a:r>
            <a:r>
              <a:rPr lang="en-US" dirty="0" smtClean="0"/>
              <a:t>tablets.</a:t>
            </a:r>
          </a:p>
          <a:p>
            <a:r>
              <a:rPr lang="en-US" dirty="0" smtClean="0"/>
              <a:t>It </a:t>
            </a:r>
            <a:r>
              <a:rPr lang="en-US" dirty="0"/>
              <a:t>encompasses various channels and techniques, including SMS, mobile apps, mobile </a:t>
            </a:r>
            <a:r>
              <a:rPr lang="en-US" dirty="0" smtClean="0"/>
              <a:t>websites.</a:t>
            </a:r>
          </a:p>
          <a:p>
            <a:r>
              <a:rPr lang="en-US" dirty="0"/>
              <a:t>Mobile marketing is crucial for engaging consumers in </a:t>
            </a:r>
            <a:r>
              <a:rPr lang="en-US" dirty="0" smtClean="0"/>
              <a:t>real-time </a:t>
            </a:r>
            <a:r>
              <a:rPr lang="en-US" dirty="0"/>
              <a:t>especially as mobile usage continues to grow</a:t>
            </a:r>
            <a:endParaRPr lang="en-IN" dirty="0"/>
          </a:p>
        </p:txBody>
      </p:sp>
    </p:spTree>
    <p:extLst>
      <p:ext uri="{BB962C8B-B14F-4D97-AF65-F5344CB8AC3E}">
        <p14:creationId xmlns:p14="http://schemas.microsoft.com/office/powerpoint/2010/main" val="40294934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Aspect</a:t>
            </a:r>
            <a:endParaRPr lang="en-IN" dirty="0"/>
          </a:p>
        </p:txBody>
      </p:sp>
      <p:sp>
        <p:nvSpPr>
          <p:cNvPr id="3" name="Content Placeholder 2"/>
          <p:cNvSpPr>
            <a:spLocks noGrp="1"/>
          </p:cNvSpPr>
          <p:nvPr>
            <p:ph idx="1"/>
          </p:nvPr>
        </p:nvSpPr>
        <p:spPr/>
        <p:txBody>
          <a:bodyPr>
            <a:normAutofit fontScale="85000" lnSpcReduction="10000"/>
          </a:bodyPr>
          <a:lstStyle/>
          <a:p>
            <a:r>
              <a:rPr lang="en-US" b="1" dirty="0"/>
              <a:t>Mobile-Friendly </a:t>
            </a:r>
            <a:r>
              <a:rPr lang="en-US" b="1" dirty="0" smtClean="0"/>
              <a:t>Websites:</a:t>
            </a:r>
            <a:r>
              <a:rPr lang="en-US" dirty="0"/>
              <a:t> </a:t>
            </a:r>
            <a:r>
              <a:rPr lang="en-US" dirty="0" smtClean="0"/>
              <a:t>Websites </a:t>
            </a:r>
            <a:r>
              <a:rPr lang="en-US" dirty="0"/>
              <a:t>must be responsive and optimized for mobile viewing to provide a seamless user experience. </a:t>
            </a:r>
            <a:endParaRPr lang="en-US" dirty="0" smtClean="0"/>
          </a:p>
          <a:p>
            <a:r>
              <a:rPr lang="en-US" b="1" dirty="0"/>
              <a:t>Mobile </a:t>
            </a:r>
            <a:r>
              <a:rPr lang="en-US" b="1" dirty="0" smtClean="0"/>
              <a:t>Apps:</a:t>
            </a:r>
            <a:r>
              <a:rPr lang="en-US" dirty="0"/>
              <a:t> </a:t>
            </a:r>
            <a:r>
              <a:rPr lang="en-US" dirty="0" smtClean="0"/>
              <a:t>Apps </a:t>
            </a:r>
            <a:r>
              <a:rPr lang="en-US" dirty="0"/>
              <a:t>offer a direct channel for engaging with users, delivering personalized content, and promoting products or services</a:t>
            </a:r>
            <a:r>
              <a:rPr lang="en-US" dirty="0" smtClean="0"/>
              <a:t>.</a:t>
            </a:r>
          </a:p>
          <a:p>
            <a:r>
              <a:rPr lang="en-US" b="1" dirty="0"/>
              <a:t>SMS </a:t>
            </a:r>
            <a:r>
              <a:rPr lang="en-US" b="1" dirty="0" smtClean="0"/>
              <a:t>Marketing:</a:t>
            </a:r>
            <a:r>
              <a:rPr lang="en-US" dirty="0"/>
              <a:t> </a:t>
            </a:r>
            <a:r>
              <a:rPr lang="en-US" dirty="0" smtClean="0"/>
              <a:t>Text </a:t>
            </a:r>
            <a:r>
              <a:rPr lang="en-US" dirty="0"/>
              <a:t>message marketing can deliver timely updates, promotions, and offers directly to users' phones. </a:t>
            </a:r>
          </a:p>
          <a:p>
            <a:r>
              <a:rPr lang="en-US" b="1" dirty="0"/>
              <a:t>In-App </a:t>
            </a:r>
            <a:r>
              <a:rPr lang="en-US" b="1" dirty="0" smtClean="0"/>
              <a:t>Marketing:</a:t>
            </a:r>
            <a:r>
              <a:rPr lang="en-US" dirty="0"/>
              <a:t> </a:t>
            </a:r>
            <a:r>
              <a:rPr lang="en-US" dirty="0" smtClean="0"/>
              <a:t>Advertisements </a:t>
            </a:r>
            <a:r>
              <a:rPr lang="en-US" dirty="0"/>
              <a:t>and promotions within mobile apps can reach a captive audience.  </a:t>
            </a:r>
          </a:p>
          <a:p>
            <a:endParaRPr lang="en-US" dirty="0"/>
          </a:p>
          <a:p>
            <a:endParaRPr lang="en-IN" dirty="0"/>
          </a:p>
        </p:txBody>
      </p:sp>
    </p:spTree>
    <p:extLst>
      <p:ext uri="{BB962C8B-B14F-4D97-AF65-F5344CB8AC3E}">
        <p14:creationId xmlns:p14="http://schemas.microsoft.com/office/powerpoint/2010/main" val="3456807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983163"/>
          </a:xfrm>
        </p:spPr>
        <p:txBody>
          <a:bodyPr/>
          <a:lstStyle/>
          <a:p>
            <a:r>
              <a:rPr lang="en-US" b="1" dirty="0"/>
              <a:t>Location-Based </a:t>
            </a:r>
            <a:r>
              <a:rPr lang="en-US" b="1" dirty="0" smtClean="0"/>
              <a:t>Marketing:</a:t>
            </a:r>
            <a:r>
              <a:rPr lang="en-US" dirty="0"/>
              <a:t> </a:t>
            </a:r>
            <a:r>
              <a:rPr lang="en-US" dirty="0" smtClean="0"/>
              <a:t>Utilizing </a:t>
            </a:r>
            <a:r>
              <a:rPr lang="en-US" dirty="0"/>
              <a:t>location data allows for targeted campaigns based on user location, such as nearby stores or events. </a:t>
            </a:r>
            <a:endParaRPr lang="en-US" dirty="0" smtClean="0"/>
          </a:p>
          <a:p>
            <a:r>
              <a:rPr lang="en-US" b="1" dirty="0"/>
              <a:t>Push </a:t>
            </a:r>
            <a:r>
              <a:rPr lang="en-US" b="1" dirty="0" smtClean="0"/>
              <a:t>Notifications:</a:t>
            </a:r>
            <a:r>
              <a:rPr lang="en-US" dirty="0"/>
              <a:t> </a:t>
            </a:r>
            <a:r>
              <a:rPr lang="en-US" dirty="0" smtClean="0"/>
              <a:t>Timely </a:t>
            </a:r>
            <a:r>
              <a:rPr lang="en-US" dirty="0"/>
              <a:t>and relevant notifications can drive engagement and encourage desired actions. </a:t>
            </a:r>
          </a:p>
          <a:p>
            <a:endParaRPr lang="en-US" dirty="0"/>
          </a:p>
          <a:p>
            <a:endParaRPr lang="en-IN" dirty="0"/>
          </a:p>
        </p:txBody>
      </p:sp>
    </p:spTree>
    <p:extLst>
      <p:ext uri="{BB962C8B-B14F-4D97-AF65-F5344CB8AC3E}">
        <p14:creationId xmlns:p14="http://schemas.microsoft.com/office/powerpoint/2010/main" val="24450177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M.M</a:t>
            </a:r>
            <a:endParaRPr lang="en-IN" dirty="0"/>
          </a:p>
        </p:txBody>
      </p:sp>
      <p:sp>
        <p:nvSpPr>
          <p:cNvPr id="3" name="Content Placeholder 2"/>
          <p:cNvSpPr>
            <a:spLocks noGrp="1"/>
          </p:cNvSpPr>
          <p:nvPr>
            <p:ph idx="1"/>
          </p:nvPr>
        </p:nvSpPr>
        <p:spPr/>
        <p:txBody>
          <a:bodyPr>
            <a:normAutofit/>
          </a:bodyPr>
          <a:lstStyle/>
          <a:p>
            <a:r>
              <a:rPr lang="en-US" b="1" dirty="0"/>
              <a:t>Increased Mobile </a:t>
            </a:r>
            <a:r>
              <a:rPr lang="en-US" b="1" dirty="0" smtClean="0"/>
              <a:t>Usage:</a:t>
            </a:r>
            <a:r>
              <a:rPr lang="en-US" dirty="0"/>
              <a:t> </a:t>
            </a:r>
            <a:r>
              <a:rPr lang="en-US" dirty="0" smtClean="0"/>
              <a:t>Consumers </a:t>
            </a:r>
            <a:r>
              <a:rPr lang="en-US" dirty="0"/>
              <a:t>spend a significant amount of time on their mobile devices, making it a crucial channel for reaching them. </a:t>
            </a:r>
            <a:endParaRPr lang="en-US" dirty="0" smtClean="0"/>
          </a:p>
          <a:p>
            <a:r>
              <a:rPr lang="en-US" b="1" dirty="0"/>
              <a:t>Personalized </a:t>
            </a:r>
            <a:r>
              <a:rPr lang="en-US" b="1" dirty="0" smtClean="0"/>
              <a:t>Engagement:</a:t>
            </a:r>
            <a:r>
              <a:rPr lang="en-US" dirty="0"/>
              <a:t> </a:t>
            </a:r>
            <a:r>
              <a:rPr lang="en-US" dirty="0" smtClean="0"/>
              <a:t>Mobile </a:t>
            </a:r>
            <a:r>
              <a:rPr lang="en-US" dirty="0"/>
              <a:t>marketing allows for highly personalized and targeted campaigns, leading to increased engagement and conversion rates. </a:t>
            </a:r>
          </a:p>
          <a:p>
            <a:endParaRPr lang="en-US" dirty="0"/>
          </a:p>
          <a:p>
            <a:endParaRPr lang="en-IN" dirty="0"/>
          </a:p>
        </p:txBody>
      </p:sp>
    </p:spTree>
    <p:extLst>
      <p:ext uri="{BB962C8B-B14F-4D97-AF65-F5344CB8AC3E}">
        <p14:creationId xmlns:p14="http://schemas.microsoft.com/office/powerpoint/2010/main" val="6856295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lnSpcReduction="10000"/>
          </a:bodyPr>
          <a:lstStyle/>
          <a:p>
            <a:r>
              <a:rPr lang="en-US" b="1" dirty="0"/>
              <a:t>Real-time </a:t>
            </a:r>
            <a:r>
              <a:rPr lang="en-US" b="1" dirty="0" smtClean="0"/>
              <a:t>Interactions:</a:t>
            </a:r>
            <a:r>
              <a:rPr lang="en-US" dirty="0"/>
              <a:t> </a:t>
            </a:r>
            <a:r>
              <a:rPr lang="en-US" dirty="0" smtClean="0"/>
              <a:t>Mobile </a:t>
            </a:r>
            <a:r>
              <a:rPr lang="en-US" dirty="0"/>
              <a:t>devices enable real-time communication and interaction with customers, fostering a more immediate and personal connection. </a:t>
            </a:r>
            <a:endParaRPr lang="en-US" dirty="0" smtClean="0"/>
          </a:p>
          <a:p>
            <a:r>
              <a:rPr lang="en-US" b="1" dirty="0" smtClean="0"/>
              <a:t>Cost-Effective:</a:t>
            </a:r>
            <a:r>
              <a:rPr lang="en-US" dirty="0"/>
              <a:t> </a:t>
            </a:r>
            <a:r>
              <a:rPr lang="en-US" dirty="0" smtClean="0"/>
              <a:t>Mobile </a:t>
            </a:r>
            <a:r>
              <a:rPr lang="en-US" dirty="0"/>
              <a:t>marketing can be more cost-effective than traditional advertising methods. </a:t>
            </a:r>
            <a:endParaRPr lang="en-US" dirty="0" smtClean="0"/>
          </a:p>
          <a:p>
            <a:r>
              <a:rPr lang="en-US" b="1" dirty="0"/>
              <a:t>Data </a:t>
            </a:r>
            <a:r>
              <a:rPr lang="en-US" b="1" dirty="0" smtClean="0"/>
              <a:t>Insights:</a:t>
            </a:r>
            <a:r>
              <a:rPr lang="en-US" dirty="0"/>
              <a:t> </a:t>
            </a:r>
            <a:r>
              <a:rPr lang="en-US" dirty="0" smtClean="0"/>
              <a:t>Mobile </a:t>
            </a:r>
            <a:r>
              <a:rPr lang="en-US" dirty="0"/>
              <a:t>marketing provides valuable data and insights into customer behavior, allowing for optimization of marketing strategies. </a:t>
            </a:r>
          </a:p>
          <a:p>
            <a:endParaRPr lang="en-US" dirty="0"/>
          </a:p>
          <a:p>
            <a:endParaRPr lang="en-US" dirty="0"/>
          </a:p>
          <a:p>
            <a:endParaRPr lang="en-IN" dirty="0"/>
          </a:p>
        </p:txBody>
      </p:sp>
    </p:spTree>
    <p:extLst>
      <p:ext uri="{BB962C8B-B14F-4D97-AF65-F5344CB8AC3E}">
        <p14:creationId xmlns:p14="http://schemas.microsoft.com/office/powerpoint/2010/main" val="671028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normAutofit fontScale="92500"/>
          </a:bodyPr>
          <a:lstStyle/>
          <a:p>
            <a:pPr fontAlgn="ctr"/>
            <a:r>
              <a:rPr lang="en-US" b="1" dirty="0" err="1"/>
              <a:t>Zomato</a:t>
            </a:r>
            <a:r>
              <a:rPr lang="en-US" b="1" dirty="0"/>
              <a:t>:</a:t>
            </a:r>
            <a:r>
              <a:rPr lang="en-US" dirty="0"/>
              <a:t> Uses push notifications and location-based offers to promote restaurants and deals. </a:t>
            </a:r>
          </a:p>
          <a:p>
            <a:pPr fontAlgn="ctr"/>
            <a:r>
              <a:rPr lang="en-US" b="1" dirty="0" err="1"/>
              <a:t>Swiggy</a:t>
            </a:r>
            <a:r>
              <a:rPr lang="en-US" b="1" dirty="0"/>
              <a:t>:</a:t>
            </a:r>
            <a:r>
              <a:rPr lang="en-US" dirty="0"/>
              <a:t> Leverages mobile apps and in-app advertising to encourage food orders. </a:t>
            </a:r>
          </a:p>
          <a:p>
            <a:pPr fontAlgn="ctr"/>
            <a:r>
              <a:rPr lang="en-US" b="1" dirty="0"/>
              <a:t>IKEA:</a:t>
            </a:r>
            <a:r>
              <a:rPr lang="en-US" dirty="0"/>
              <a:t> Implements interactive mobile initiatives to engage customers with their products. </a:t>
            </a:r>
          </a:p>
          <a:p>
            <a:r>
              <a:rPr lang="en-US" b="1" dirty="0"/>
              <a:t>Burger King:</a:t>
            </a:r>
            <a:r>
              <a:rPr lang="en-US" dirty="0"/>
              <a:t> Uses mobile marketing to promote deals and offers to customers. </a:t>
            </a:r>
          </a:p>
        </p:txBody>
      </p:sp>
    </p:spTree>
    <p:extLst>
      <p:ext uri="{BB962C8B-B14F-4D97-AF65-F5344CB8AC3E}">
        <p14:creationId xmlns:p14="http://schemas.microsoft.com/office/powerpoint/2010/main" val="163045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TotalTime>
  <Words>975</Words>
  <Application>Microsoft Office PowerPoint</Application>
  <PresentationFormat>On-screen Show (4:3)</PresentationFormat>
  <Paragraphs>169</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Digital Marketing- A paradigm shift in marketing</vt:lpstr>
      <vt:lpstr>1.3 Understanding Law in DiM</vt:lpstr>
      <vt:lpstr>PowerPoint Presentation</vt:lpstr>
      <vt:lpstr>PowerPoint Presentation</vt:lpstr>
      <vt:lpstr>PowerPoint Presentation</vt:lpstr>
      <vt:lpstr>PowerPoint Presentation</vt:lpstr>
      <vt:lpstr>PowerPoint Presentation</vt:lpstr>
      <vt:lpstr>1.4 Digital marketing channel:</vt:lpstr>
      <vt:lpstr>PowerPoint Presentation</vt:lpstr>
      <vt:lpstr>PowerPoint Presentation</vt:lpstr>
      <vt:lpstr>How PPC Works</vt:lpstr>
      <vt:lpstr>Why Use PPC</vt:lpstr>
      <vt:lpstr>Example of PPC Ads</vt:lpstr>
      <vt:lpstr>Google AdWords</vt:lpstr>
      <vt:lpstr>Key Terminology</vt:lpstr>
      <vt:lpstr>PowerPoint Presentation</vt:lpstr>
      <vt:lpstr>Google AdSense</vt:lpstr>
      <vt:lpstr>Key terminology</vt:lpstr>
      <vt:lpstr>PowerPoint Presentation</vt:lpstr>
      <vt:lpstr>PowerPoint Presentation</vt:lpstr>
      <vt:lpstr>Video Marketing And Video Cast</vt:lpstr>
      <vt:lpstr>PowerPoint Presentation</vt:lpstr>
      <vt:lpstr>PowerPoint Presentation</vt:lpstr>
      <vt:lpstr>PowerPoint Presentation</vt:lpstr>
      <vt:lpstr>E-mail Marketing</vt:lpstr>
      <vt:lpstr>Key terminology</vt:lpstr>
      <vt:lpstr>PowerPoint Presentation</vt:lpstr>
      <vt:lpstr>Key components for successful E.M </vt:lpstr>
      <vt:lpstr>PowerPoint Presentation</vt:lpstr>
      <vt:lpstr>PowerPoint Presentation</vt:lpstr>
      <vt:lpstr>Benefits of Email Marketing</vt:lpstr>
      <vt:lpstr>Mobile Marketing</vt:lpstr>
      <vt:lpstr>Key Aspect</vt:lpstr>
      <vt:lpstr>PowerPoint Presentation</vt:lpstr>
      <vt:lpstr>Importance of M.M</vt:lpstr>
      <vt:lpstr>PowerPoint Presentation</vt:lpstr>
      <vt:lpstr>Example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Marketing- A paradigm shift in marketing</dc:title>
  <dc:creator>SSN</dc:creator>
  <cp:lastModifiedBy>Sangeeta Nagpure</cp:lastModifiedBy>
  <cp:revision>144</cp:revision>
  <dcterms:created xsi:type="dcterms:W3CDTF">2006-08-16T00:00:00Z</dcterms:created>
  <dcterms:modified xsi:type="dcterms:W3CDTF">2025-08-22T10:01:02Z</dcterms:modified>
</cp:coreProperties>
</file>