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erocket.com/" TargetMode="External"/><Relationship Id="rId7" Type="http://schemas.openxmlformats.org/officeDocument/2006/relationships/hyperlink" Target="http://www.linkedin.com/search" TargetMode="External"/><Relationship Id="rId2" Type="http://schemas.openxmlformats.org/officeDocument/2006/relationships/hyperlink" Target="http://www.socialsearch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search.yahoo.com/" TargetMode="External"/><Relationship Id="rId5" Type="http://schemas.openxmlformats.org/officeDocument/2006/relationships/hyperlink" Target="http://search.fb.com/" TargetMode="External"/><Relationship Id="rId4" Type="http://schemas.openxmlformats.org/officeDocument/2006/relationships/hyperlink" Target="http://search.twitter.com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Tools and Optimizing Social Media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0571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Discovering Helpful Tech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</a:rPr>
              <a:t>Keeping Track of the Social Media </a:t>
            </a:r>
            <a:r>
              <a:rPr lang="en-US" b="1" dirty="0" smtClean="0">
                <a:solidFill>
                  <a:srgbClr val="FF0000"/>
                </a:solidFill>
              </a:rPr>
              <a:t>Scene</a:t>
            </a:r>
          </a:p>
          <a:p>
            <a:r>
              <a:rPr lang="en-US" dirty="0"/>
              <a:t>The social media world changes constantly — new platforms, features, and trends appear every few </a:t>
            </a:r>
            <a:r>
              <a:rPr lang="en-US" dirty="0" smtClean="0"/>
              <a:t>months.</a:t>
            </a:r>
          </a:p>
          <a:p>
            <a:r>
              <a:rPr lang="en-US" dirty="0" smtClean="0"/>
              <a:t>To </a:t>
            </a:r>
            <a:r>
              <a:rPr lang="en-US" dirty="0"/>
              <a:t>stay updated, marketers must use </a:t>
            </a:r>
            <a:r>
              <a:rPr lang="en-US" b="1" dirty="0"/>
              <a:t>online tools and resources</a:t>
            </a:r>
            <a:r>
              <a:rPr lang="en-US" dirty="0"/>
              <a:t> that monitor social media activity, trends, and </a:t>
            </a:r>
            <a:r>
              <a:rPr lang="en-US" dirty="0" smtClean="0"/>
              <a:t>conversations.</a:t>
            </a:r>
          </a:p>
          <a:p>
            <a:r>
              <a:rPr lang="en-US" dirty="0" smtClean="0"/>
              <a:t>This </a:t>
            </a:r>
            <a:r>
              <a:rPr lang="en-US" dirty="0" smtClean="0"/>
              <a:t>introduces </a:t>
            </a:r>
            <a:r>
              <a:rPr lang="en-US" dirty="0"/>
              <a:t>several </a:t>
            </a:r>
            <a:r>
              <a:rPr lang="en-US" b="1" dirty="0"/>
              <a:t>reliable websites and tools</a:t>
            </a:r>
            <a:r>
              <a:rPr lang="en-US" dirty="0"/>
              <a:t> that help businesses </a:t>
            </a:r>
            <a:r>
              <a:rPr lang="en-US" b="1" dirty="0"/>
              <a:t>track, analyze, and respond</a:t>
            </a:r>
            <a:r>
              <a:rPr lang="en-US" dirty="0"/>
              <a:t> to changes in the digital landscape.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762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Importance of Keeping Track</a:t>
            </a:r>
          </a:p>
          <a:p>
            <a:r>
              <a:rPr lang="en-US" dirty="0"/>
              <a:t>The </a:t>
            </a:r>
            <a:r>
              <a:rPr lang="en-US" b="1" dirty="0"/>
              <a:t>social media environment is fast-moving</a:t>
            </a:r>
            <a:r>
              <a:rPr lang="en-US" dirty="0"/>
              <a:t>; what’s trending today might fade tomorrow.</a:t>
            </a:r>
          </a:p>
          <a:p>
            <a:r>
              <a:rPr lang="en-US" dirty="0"/>
              <a:t>Tracking helps marketers:</a:t>
            </a:r>
          </a:p>
          <a:p>
            <a:pPr lvl="1"/>
            <a:r>
              <a:rPr lang="en-US" dirty="0"/>
              <a:t>Stay aware of </a:t>
            </a:r>
            <a:r>
              <a:rPr lang="en-US" b="1" dirty="0"/>
              <a:t>new tools and networks</a:t>
            </a:r>
            <a:r>
              <a:rPr lang="en-US" dirty="0"/>
              <a:t>,</a:t>
            </a:r>
          </a:p>
          <a:p>
            <a:pPr lvl="1"/>
            <a:r>
              <a:rPr lang="en-US" dirty="0"/>
              <a:t>Follow </a:t>
            </a:r>
            <a:r>
              <a:rPr lang="en-US" b="1" dirty="0"/>
              <a:t>audience behavior and content preferences</a:t>
            </a:r>
            <a:r>
              <a:rPr lang="en-US" dirty="0"/>
              <a:t>, and</a:t>
            </a:r>
          </a:p>
          <a:p>
            <a:pPr lvl="1"/>
            <a:r>
              <a:rPr lang="en-US" dirty="0"/>
              <a:t>Detect </a:t>
            </a:r>
            <a:r>
              <a:rPr lang="en-US" b="1" dirty="0"/>
              <a:t>emerging competitors</a:t>
            </a:r>
            <a:r>
              <a:rPr lang="en-US" dirty="0"/>
              <a:t> or </a:t>
            </a:r>
            <a:r>
              <a:rPr lang="en-US" b="1" dirty="0"/>
              <a:t>influencers</a:t>
            </a:r>
            <a:r>
              <a:rPr lang="en-US" dirty="0"/>
              <a:t> early.</a:t>
            </a:r>
          </a:p>
          <a:p>
            <a:r>
              <a:rPr lang="en-US" dirty="0"/>
              <a:t>Being proactive ensures your brand remains </a:t>
            </a:r>
            <a:r>
              <a:rPr lang="en-US" b="1" dirty="0"/>
              <a:t>relevant and competitive</a:t>
            </a:r>
            <a:r>
              <a:rPr lang="en-US" dirty="0"/>
              <a:t> in the dynamic online space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67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Recommended Tech Tools and Resources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This </a:t>
            </a:r>
            <a:r>
              <a:rPr lang="en-US" dirty="0"/>
              <a:t>lists several </a:t>
            </a:r>
            <a:r>
              <a:rPr lang="en-US" b="1" dirty="0"/>
              <a:t>trusted online resources</a:t>
            </a:r>
            <a:r>
              <a:rPr lang="en-US" dirty="0"/>
              <a:t> for tracking the social media scene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b="1" dirty="0"/>
              <a:t>a) Social Media Examiner (socialmediaexaminer.com)</a:t>
            </a:r>
          </a:p>
          <a:p>
            <a:r>
              <a:rPr lang="en-US" dirty="0"/>
              <a:t>One of the best-known sources for </a:t>
            </a:r>
            <a:r>
              <a:rPr lang="en-US" b="1" dirty="0"/>
              <a:t>articles, research reports, podcasts, and webinars</a:t>
            </a:r>
            <a:r>
              <a:rPr lang="en-US" dirty="0"/>
              <a:t> about social media trends.</a:t>
            </a:r>
          </a:p>
          <a:p>
            <a:r>
              <a:rPr lang="en-US" dirty="0"/>
              <a:t>Provides </a:t>
            </a:r>
            <a:r>
              <a:rPr lang="en-US" b="1" dirty="0"/>
              <a:t>how-to guides</a:t>
            </a:r>
            <a:r>
              <a:rPr lang="en-US" dirty="0"/>
              <a:t>, tool updates, and case studies on major platforms (Facebook, Instagram, LinkedIn, etc.).</a:t>
            </a:r>
          </a:p>
          <a:p>
            <a:pPr marL="0" indent="0">
              <a:buNone/>
            </a:pPr>
            <a:r>
              <a:rPr lang="en-US" b="1" dirty="0"/>
              <a:t>b) Ragan (ragan.com)</a:t>
            </a:r>
          </a:p>
          <a:p>
            <a:r>
              <a:rPr lang="en-US" dirty="0"/>
              <a:t>Focuses on </a:t>
            </a:r>
            <a:r>
              <a:rPr lang="en-US" b="1" dirty="0"/>
              <a:t>communications, PR, and social media strategies</a:t>
            </a:r>
            <a:r>
              <a:rPr lang="en-US" dirty="0"/>
              <a:t>.</a:t>
            </a:r>
          </a:p>
          <a:p>
            <a:r>
              <a:rPr lang="en-US" dirty="0"/>
              <a:t>Features </a:t>
            </a:r>
            <a:r>
              <a:rPr lang="en-US" b="1" dirty="0"/>
              <a:t>industry news, white papers, and thought leadership</a:t>
            </a:r>
            <a:r>
              <a:rPr lang="en-US" dirty="0"/>
              <a:t> on corporate communication.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0901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5821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100" b="1" dirty="0"/>
              <a:t>c) MDG Advertising Reports</a:t>
            </a:r>
          </a:p>
          <a:p>
            <a:r>
              <a:rPr lang="en-US" sz="2100" dirty="0"/>
              <a:t>Known for </a:t>
            </a:r>
            <a:r>
              <a:rPr lang="en-US" sz="2100" b="1" dirty="0"/>
              <a:t>infographics and trend reports</a:t>
            </a:r>
            <a:r>
              <a:rPr lang="en-US" sz="2100" dirty="0"/>
              <a:t> on marketing topics like digital advertising, influencer marketing, and mobile behavior.</a:t>
            </a:r>
          </a:p>
          <a:p>
            <a:r>
              <a:rPr lang="en-US" sz="2100" dirty="0"/>
              <a:t>Useful for quick visual insights and statistics.</a:t>
            </a:r>
          </a:p>
          <a:p>
            <a:pPr marL="0" indent="0">
              <a:buNone/>
            </a:pPr>
            <a:r>
              <a:rPr lang="en-US" sz="2100" b="1" dirty="0"/>
              <a:t>d) </a:t>
            </a:r>
            <a:r>
              <a:rPr lang="en-US" sz="2100" b="1" dirty="0" err="1"/>
              <a:t>HubSpot</a:t>
            </a:r>
            <a:r>
              <a:rPr lang="en-US" sz="2100" b="1" dirty="0"/>
              <a:t> Blog (blog.hubspot.com)</a:t>
            </a:r>
          </a:p>
          <a:p>
            <a:r>
              <a:rPr lang="en-US" sz="2100" dirty="0"/>
              <a:t>Offers </a:t>
            </a:r>
            <a:r>
              <a:rPr lang="en-US" sz="2100" b="1" dirty="0"/>
              <a:t>in-depth posts on inbound marketing, SEO, and social media marketing tools</a:t>
            </a:r>
            <a:r>
              <a:rPr lang="en-US" sz="2100" dirty="0"/>
              <a:t>.</a:t>
            </a:r>
          </a:p>
          <a:p>
            <a:r>
              <a:rPr lang="en-US" sz="2100" dirty="0"/>
              <a:t>Provides templates and downloadable resources for campaign planning.</a:t>
            </a:r>
          </a:p>
          <a:p>
            <a:pPr marL="0" indent="0">
              <a:buNone/>
            </a:pPr>
            <a:r>
              <a:rPr lang="en-US" sz="2100" b="1" dirty="0"/>
              <a:t>e) Google Alerts</a:t>
            </a:r>
          </a:p>
          <a:p>
            <a:r>
              <a:rPr lang="en-US" sz="2100" dirty="0"/>
              <a:t>Simple but powerful tool to </a:t>
            </a:r>
            <a:r>
              <a:rPr lang="en-US" sz="2100" b="1" dirty="0"/>
              <a:t>track mentions of your brand, competitors, or topics</a:t>
            </a:r>
            <a:r>
              <a:rPr lang="en-US" sz="2100" dirty="0"/>
              <a:t> in real time.</a:t>
            </a:r>
          </a:p>
          <a:p>
            <a:r>
              <a:rPr lang="en-US" sz="2100" dirty="0"/>
              <a:t>Sends updates directly to your email whenever new relevant content appears online.</a:t>
            </a:r>
          </a:p>
          <a:p>
            <a:pPr marL="0" indent="0">
              <a:buNone/>
            </a:pPr>
            <a:r>
              <a:rPr lang="en-US" sz="2100" b="1" dirty="0"/>
              <a:t>f) </a:t>
            </a:r>
            <a:r>
              <a:rPr lang="en-US" sz="2100" b="1" dirty="0" err="1"/>
              <a:t>SimilarSites</a:t>
            </a:r>
            <a:r>
              <a:rPr lang="en-US" sz="2100" b="1" dirty="0"/>
              <a:t> and </a:t>
            </a:r>
            <a:r>
              <a:rPr lang="en-US" sz="2100" b="1" dirty="0" err="1"/>
              <a:t>Quantcast</a:t>
            </a:r>
            <a:endParaRPr lang="en-US" sz="2100" b="1" dirty="0"/>
          </a:p>
          <a:p>
            <a:r>
              <a:rPr lang="en-US" sz="2100" dirty="0"/>
              <a:t>Help discover </a:t>
            </a:r>
            <a:r>
              <a:rPr lang="en-US" sz="2100" b="1" dirty="0"/>
              <a:t>related websites</a:t>
            </a:r>
            <a:r>
              <a:rPr lang="en-US" sz="2100" dirty="0"/>
              <a:t> or </a:t>
            </a:r>
            <a:r>
              <a:rPr lang="en-US" sz="2100" b="1" dirty="0"/>
              <a:t>audience data</a:t>
            </a:r>
            <a:r>
              <a:rPr lang="en-US" sz="2100" dirty="0"/>
              <a:t> for competitive research and campaign targeting.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583035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b="1" dirty="0"/>
              <a:t>How These Tools Help Marketers</a:t>
            </a:r>
          </a:p>
          <a:p>
            <a:pPr marL="0" indent="0">
              <a:buNone/>
            </a:pPr>
            <a:r>
              <a:rPr lang="en-US" sz="2600" dirty="0"/>
              <a:t>These tools allow marketers to:</a:t>
            </a:r>
          </a:p>
          <a:p>
            <a:r>
              <a:rPr lang="en-US" sz="2600" b="1" dirty="0"/>
              <a:t>Monitor industry changes</a:t>
            </a:r>
            <a:r>
              <a:rPr lang="en-US" sz="2600" dirty="0"/>
              <a:t> and adapt strategies.</a:t>
            </a:r>
          </a:p>
          <a:p>
            <a:r>
              <a:rPr lang="en-US" sz="2600" b="1" dirty="0"/>
              <a:t>Identify influencers</a:t>
            </a:r>
            <a:r>
              <a:rPr lang="en-US" sz="2600" dirty="0"/>
              <a:t> and audience conversations.</a:t>
            </a:r>
          </a:p>
          <a:p>
            <a:r>
              <a:rPr lang="en-US" sz="2600" b="1" dirty="0"/>
              <a:t>Track brand mentions</a:t>
            </a:r>
            <a:r>
              <a:rPr lang="en-US" sz="2600" dirty="0"/>
              <a:t> and reputation online.</a:t>
            </a:r>
          </a:p>
          <a:p>
            <a:r>
              <a:rPr lang="en-US" sz="2600" b="1" dirty="0"/>
              <a:t>Measure engagement and trends</a:t>
            </a:r>
            <a:r>
              <a:rPr lang="en-US" sz="2600" dirty="0"/>
              <a:t> to make data-driven decisions.</a:t>
            </a:r>
          </a:p>
          <a:p>
            <a:r>
              <a:rPr lang="en-US" sz="2600" dirty="0"/>
              <a:t>For example, using </a:t>
            </a:r>
            <a:r>
              <a:rPr lang="en-US" sz="2600" b="1" dirty="0"/>
              <a:t>Google Alerts</a:t>
            </a:r>
            <a:r>
              <a:rPr lang="en-US" sz="2600" dirty="0"/>
              <a:t> helps a company track when customers talk about its products, while </a:t>
            </a:r>
            <a:r>
              <a:rPr lang="en-US" sz="2600" b="1" dirty="0" err="1"/>
              <a:t>HubSpot</a:t>
            </a:r>
            <a:r>
              <a:rPr lang="en-US" sz="2600" dirty="0"/>
              <a:t> can help analyze how effective a social campaign is.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364449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Continuous Learning</a:t>
            </a:r>
          </a:p>
          <a:p>
            <a:r>
              <a:rPr lang="en-US" sz="2800" dirty="0" smtClean="0"/>
              <a:t>This emphasizes </a:t>
            </a:r>
            <a:r>
              <a:rPr lang="en-US" sz="2800" dirty="0"/>
              <a:t>that successful marketers are </a:t>
            </a:r>
            <a:r>
              <a:rPr lang="en-US" sz="2800" b="1" dirty="0"/>
              <a:t>lifelong learners</a:t>
            </a:r>
            <a:r>
              <a:rPr lang="en-US" sz="2800" dirty="0"/>
              <a:t> who keep exploring new technologies and </a:t>
            </a:r>
            <a:r>
              <a:rPr lang="en-US" sz="2800" dirty="0" smtClean="0"/>
              <a:t>platforms.</a:t>
            </a:r>
          </a:p>
          <a:p>
            <a:r>
              <a:rPr lang="en-US" sz="2800" dirty="0" smtClean="0"/>
              <a:t>Scheduling </a:t>
            </a:r>
            <a:r>
              <a:rPr lang="en-US" sz="2800" dirty="0"/>
              <a:t>a regular “research time” — even 30 minutes a week — helps stay current with updates in algorithms, features, and audience behaviors.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08213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Saving Time with Content Distribution Tools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/>
              <a:t>This explains </a:t>
            </a:r>
            <a:r>
              <a:rPr lang="en-US" dirty="0"/>
              <a:t>that managing multiple social media platforms can be </a:t>
            </a:r>
            <a:r>
              <a:rPr lang="en-US" b="1" dirty="0"/>
              <a:t>time-consuming</a:t>
            </a:r>
            <a:r>
              <a:rPr lang="en-US" dirty="0"/>
              <a:t>, especially when you post content manually to each </a:t>
            </a:r>
            <a:r>
              <a:rPr lang="en-US" dirty="0" smtClean="0"/>
              <a:t>account.</a:t>
            </a:r>
          </a:p>
          <a:p>
            <a:pPr algn="just"/>
            <a:r>
              <a:rPr lang="en-US" dirty="0" smtClean="0"/>
              <a:t>To </a:t>
            </a:r>
            <a:r>
              <a:rPr lang="en-US" dirty="0"/>
              <a:t>solve this, marketers use </a:t>
            </a:r>
            <a:r>
              <a:rPr lang="en-US" b="1" dirty="0"/>
              <a:t>content distribution tools</a:t>
            </a:r>
            <a:r>
              <a:rPr lang="en-US" dirty="0"/>
              <a:t> — software that helps </a:t>
            </a:r>
            <a:r>
              <a:rPr lang="en-US" b="1" dirty="0"/>
              <a:t>schedule, publish, and manage posts</a:t>
            </a:r>
            <a:r>
              <a:rPr lang="en-US" dirty="0"/>
              <a:t> across different networks from one </a:t>
            </a:r>
            <a:r>
              <a:rPr lang="en-US" dirty="0" smtClean="0"/>
              <a:t>place.</a:t>
            </a:r>
          </a:p>
          <a:p>
            <a:pPr algn="just"/>
            <a:r>
              <a:rPr lang="en-US" dirty="0" smtClean="0"/>
              <a:t>These </a:t>
            </a:r>
            <a:r>
              <a:rPr lang="en-US" dirty="0"/>
              <a:t>tools </a:t>
            </a:r>
            <a:r>
              <a:rPr lang="en-US" b="1" dirty="0"/>
              <a:t>save time</a:t>
            </a:r>
            <a:r>
              <a:rPr lang="en-US" dirty="0"/>
              <a:t>, </a:t>
            </a:r>
            <a:r>
              <a:rPr lang="en-US" b="1" dirty="0"/>
              <a:t>ensure consistency</a:t>
            </a:r>
            <a:r>
              <a:rPr lang="en-US" dirty="0"/>
              <a:t>, and help maintain an </a:t>
            </a:r>
            <a:r>
              <a:rPr lang="en-US" b="1" dirty="0"/>
              <a:t>active social media presence</a:t>
            </a:r>
            <a:r>
              <a:rPr lang="en-US" dirty="0"/>
              <a:t> even when you’re busy.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0548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Why Use Content Distribution Tools?</a:t>
            </a:r>
          </a:p>
          <a:p>
            <a:r>
              <a:rPr lang="en-US" sz="2800" dirty="0"/>
              <a:t>To </a:t>
            </a:r>
            <a:r>
              <a:rPr lang="en-US" sz="2800" b="1" dirty="0"/>
              <a:t>save time</a:t>
            </a:r>
            <a:r>
              <a:rPr lang="en-US" sz="2800" dirty="0"/>
              <a:t> by automating posting schedules.</a:t>
            </a:r>
          </a:p>
          <a:p>
            <a:r>
              <a:rPr lang="en-US" sz="2800" dirty="0"/>
              <a:t>To </a:t>
            </a:r>
            <a:r>
              <a:rPr lang="en-US" sz="2800" b="1" dirty="0"/>
              <a:t>keep content consistent</a:t>
            </a:r>
            <a:r>
              <a:rPr lang="en-US" sz="2800" dirty="0"/>
              <a:t> across multiple social networks.</a:t>
            </a:r>
          </a:p>
          <a:p>
            <a:r>
              <a:rPr lang="en-US" sz="2800" dirty="0"/>
              <a:t>To </a:t>
            </a:r>
            <a:r>
              <a:rPr lang="en-US" sz="2800" b="1" dirty="0"/>
              <a:t>analyze engagement metrics</a:t>
            </a:r>
            <a:r>
              <a:rPr lang="en-US" sz="2800" dirty="0"/>
              <a:t> in one dashboard.</a:t>
            </a:r>
          </a:p>
          <a:p>
            <a:r>
              <a:rPr lang="en-US" sz="2800" dirty="0"/>
              <a:t>To </a:t>
            </a:r>
            <a:r>
              <a:rPr lang="en-US" sz="2800" b="1" dirty="0"/>
              <a:t>plan campaigns ahead</a:t>
            </a:r>
            <a:r>
              <a:rPr lang="en-US" sz="2800" dirty="0"/>
              <a:t> and maintain a regular posting routine.</a:t>
            </a:r>
          </a:p>
          <a:p>
            <a:r>
              <a:rPr lang="en-US" sz="2800" dirty="0"/>
              <a:t>To </a:t>
            </a:r>
            <a:r>
              <a:rPr lang="en-US" sz="2800" b="1" dirty="0"/>
              <a:t>collaborate easily</a:t>
            </a:r>
            <a:r>
              <a:rPr lang="en-US" sz="2800" dirty="0"/>
              <a:t> if multiple team members handle social media.</a:t>
            </a:r>
          </a:p>
          <a:p>
            <a:r>
              <a:rPr lang="en-US" sz="2800" dirty="0"/>
              <a:t>Without such tools, brands risk missing posts or losing track of performance across platforms.</a:t>
            </a:r>
          </a:p>
          <a:p>
            <a:pPr marL="0" indent="0">
              <a:buNone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004568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0"/>
            <a:ext cx="8229600" cy="6248400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Key Tools </a:t>
            </a:r>
          </a:p>
          <a:p>
            <a:pPr marL="0" indent="0">
              <a:buNone/>
            </a:pPr>
            <a:r>
              <a:rPr lang="en-US" sz="1700" b="1" dirty="0"/>
              <a:t>a) Hootsuite</a:t>
            </a:r>
          </a:p>
          <a:p>
            <a:r>
              <a:rPr lang="en-US" sz="1700" dirty="0"/>
              <a:t>A leading </a:t>
            </a:r>
            <a:r>
              <a:rPr lang="en-US" sz="1700" b="1" dirty="0"/>
              <a:t>social media management platform</a:t>
            </a:r>
            <a:r>
              <a:rPr lang="en-US" sz="1700" dirty="0"/>
              <a:t> that allows users to:</a:t>
            </a:r>
          </a:p>
          <a:p>
            <a:pPr lvl="1"/>
            <a:r>
              <a:rPr lang="en-US" sz="1700" dirty="0"/>
              <a:t>Manage multiple accounts from one dashboard.</a:t>
            </a:r>
          </a:p>
          <a:p>
            <a:pPr lvl="1"/>
            <a:r>
              <a:rPr lang="en-US" sz="1700" dirty="0"/>
              <a:t>Schedule posts in advance.</a:t>
            </a:r>
          </a:p>
          <a:p>
            <a:pPr lvl="1"/>
            <a:r>
              <a:rPr lang="en-US" sz="1700" dirty="0"/>
              <a:t>Monitor brand mentions and track engagement.</a:t>
            </a:r>
          </a:p>
          <a:p>
            <a:r>
              <a:rPr lang="en-US" sz="1700" smtClean="0"/>
              <a:t>This </a:t>
            </a:r>
            <a:r>
              <a:rPr lang="en-US" sz="1700" dirty="0"/>
              <a:t>notes that Hootsuite’s interface allows quick viewing of several streams (Twitter feeds, comments, mentions) side by side.</a:t>
            </a:r>
          </a:p>
          <a:p>
            <a:pPr marL="0" indent="0">
              <a:buNone/>
            </a:pPr>
            <a:r>
              <a:rPr lang="en-US" sz="1700" b="1" dirty="0"/>
              <a:t>b) Buffer</a:t>
            </a:r>
          </a:p>
          <a:p>
            <a:r>
              <a:rPr lang="en-US" sz="1700" dirty="0"/>
              <a:t>Focuses on </a:t>
            </a:r>
            <a:r>
              <a:rPr lang="en-US" sz="1700" b="1" dirty="0"/>
              <a:t>scheduling and automating content posting</a:t>
            </a:r>
            <a:r>
              <a:rPr lang="en-US" sz="1700" dirty="0"/>
              <a:t> across networks like Twitter, LinkedIn, and Facebook.</a:t>
            </a:r>
          </a:p>
          <a:p>
            <a:r>
              <a:rPr lang="en-US" sz="1700" dirty="0"/>
              <a:t>Offers browser extensions and mobile apps for easy sharing of articles or links.</a:t>
            </a:r>
          </a:p>
          <a:p>
            <a:r>
              <a:rPr lang="en-US" sz="1700" dirty="0"/>
              <a:t>Allows users to create a posting queue — ideal for maintaining regular posting frequency.</a:t>
            </a:r>
          </a:p>
          <a:p>
            <a:pPr marL="0" indent="0">
              <a:buNone/>
            </a:pPr>
            <a:r>
              <a:rPr lang="en-US" sz="1700" b="1" dirty="0"/>
              <a:t>c) IFTTT (If This Then That)</a:t>
            </a:r>
          </a:p>
          <a:p>
            <a:r>
              <a:rPr lang="en-US" sz="1700" dirty="0"/>
              <a:t>A </a:t>
            </a:r>
            <a:r>
              <a:rPr lang="en-US" sz="1700" b="1" dirty="0"/>
              <a:t>workflow automation tool</a:t>
            </a:r>
            <a:r>
              <a:rPr lang="en-US" sz="1700" dirty="0"/>
              <a:t> that connects different apps and platforms.</a:t>
            </a:r>
          </a:p>
          <a:p>
            <a:r>
              <a:rPr lang="en-US" sz="1700" dirty="0"/>
              <a:t>Example: You can set a rule like </a:t>
            </a:r>
            <a:r>
              <a:rPr lang="en-US" sz="1700" i="1" dirty="0"/>
              <a:t>“If I post a new blog article, then automatically share it on Facebook and Twitter.”</a:t>
            </a:r>
            <a:endParaRPr lang="en-US" sz="1700" dirty="0"/>
          </a:p>
          <a:p>
            <a:r>
              <a:rPr lang="en-US" sz="1700" dirty="0"/>
              <a:t>Saves manual effort and ensures simultaneous cross-platform sharing.</a:t>
            </a:r>
          </a:p>
          <a:p>
            <a:pPr marL="0" indent="0">
              <a:buNone/>
            </a:pPr>
            <a:r>
              <a:rPr lang="en-US" sz="1700" b="1" dirty="0"/>
              <a:t>d) </a:t>
            </a:r>
            <a:r>
              <a:rPr lang="en-US" sz="1700" b="1" dirty="0" err="1"/>
              <a:t>CoSchedule</a:t>
            </a:r>
            <a:r>
              <a:rPr lang="en-US" sz="1700" b="1" dirty="0"/>
              <a:t> and Sprout Social </a:t>
            </a:r>
            <a:r>
              <a:rPr lang="en-US" sz="1700" b="1" i="1" dirty="0"/>
              <a:t>(also mentioned)</a:t>
            </a:r>
            <a:endParaRPr lang="en-US" sz="1700" b="1" dirty="0"/>
          </a:p>
          <a:p>
            <a:r>
              <a:rPr lang="en-US" sz="1700" dirty="0"/>
              <a:t>Provide advanced </a:t>
            </a:r>
            <a:r>
              <a:rPr lang="en-US" sz="1700" b="1" dirty="0"/>
              <a:t>content calendars, analytics, and team collaboration tools</a:t>
            </a:r>
            <a:r>
              <a:rPr lang="en-US" sz="1700" dirty="0"/>
              <a:t> for larger marketing teams.</a:t>
            </a:r>
          </a:p>
          <a:p>
            <a:pPr marL="0" indent="0">
              <a:buNone/>
            </a:pPr>
            <a:endParaRPr lang="en-IN" sz="1700" dirty="0"/>
          </a:p>
        </p:txBody>
      </p:sp>
    </p:spTree>
    <p:extLst>
      <p:ext uri="{BB962C8B-B14F-4D97-AF65-F5344CB8AC3E}">
        <p14:creationId xmlns:p14="http://schemas.microsoft.com/office/powerpoint/2010/main" val="1576073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14400"/>
            <a:ext cx="8229600" cy="53340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500" b="1" dirty="0"/>
              <a:t>Benefits of Using These Tools</a:t>
            </a:r>
          </a:p>
          <a:p>
            <a:r>
              <a:rPr lang="en-US" sz="2500" b="1" dirty="0"/>
              <a:t>Time Efficiency:</a:t>
            </a:r>
            <a:r>
              <a:rPr lang="en-US" sz="2500" dirty="0"/>
              <a:t> You can plan an entire week or month of posts in one sitting.</a:t>
            </a:r>
          </a:p>
          <a:p>
            <a:r>
              <a:rPr lang="en-US" sz="2500" b="1" dirty="0"/>
              <a:t>Consistency:</a:t>
            </a:r>
            <a:r>
              <a:rPr lang="en-US" sz="2500" dirty="0"/>
              <a:t> Ensures steady communication with your audience.</a:t>
            </a:r>
          </a:p>
          <a:p>
            <a:r>
              <a:rPr lang="en-US" sz="2500" b="1" dirty="0"/>
              <a:t>Analytics and Insights:</a:t>
            </a:r>
            <a:r>
              <a:rPr lang="en-US" sz="2500" dirty="0"/>
              <a:t> Many tools track engagement, clicks, and impressions to refine future strategies.</a:t>
            </a:r>
          </a:p>
          <a:p>
            <a:r>
              <a:rPr lang="en-US" sz="2500" b="1" dirty="0"/>
              <a:t>Cross-Platform Integration:</a:t>
            </a:r>
            <a:r>
              <a:rPr lang="en-US" sz="2500" dirty="0"/>
              <a:t> One dashboard to manage Facebook, Instagram, X (Twitter), LinkedIn, and more.</a:t>
            </a:r>
          </a:p>
          <a:p>
            <a:r>
              <a:rPr lang="en-US" sz="2500" b="1" dirty="0"/>
              <a:t>Improved Productivity:</a:t>
            </a:r>
            <a:r>
              <a:rPr lang="en-US" sz="2500" dirty="0"/>
              <a:t> Teams can assign roles — one member creates content, another schedules, another monitors.</a:t>
            </a:r>
          </a:p>
          <a:p>
            <a:pPr marL="0" indent="0">
              <a:buNone/>
            </a:pP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3447401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Snipping Ugly URLs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/>
              <a:t>This </a:t>
            </a:r>
            <a:r>
              <a:rPr lang="en-US" dirty="0" smtClean="0"/>
              <a:t> </a:t>
            </a:r>
            <a:r>
              <a:rPr lang="en-US" dirty="0"/>
              <a:t>explains how </a:t>
            </a:r>
            <a:r>
              <a:rPr lang="en-US" b="1" dirty="0"/>
              <a:t>link-shortening tools</a:t>
            </a:r>
            <a:r>
              <a:rPr lang="en-US" dirty="0"/>
              <a:t> (also called </a:t>
            </a:r>
            <a:r>
              <a:rPr lang="en-US" b="1" dirty="0"/>
              <a:t>URL snippers</a:t>
            </a:r>
            <a:r>
              <a:rPr lang="en-US" dirty="0"/>
              <a:t>) help make long, unattractive web addresses more readable, shareable, and trackable on social </a:t>
            </a:r>
            <a:r>
              <a:rPr lang="en-US" dirty="0" smtClean="0"/>
              <a:t>media.</a:t>
            </a:r>
          </a:p>
          <a:p>
            <a:pPr algn="just"/>
            <a:r>
              <a:rPr lang="en-US" dirty="0" smtClean="0"/>
              <a:t>Long </a:t>
            </a:r>
            <a:r>
              <a:rPr lang="en-US" dirty="0"/>
              <a:t>URLs often look cluttered, can break when copied, and take up valuable space in posts — especially on platforms with character limits (like X/Twitter</a:t>
            </a:r>
            <a:r>
              <a:rPr lang="en-US" dirty="0" smtClean="0"/>
              <a:t>).</a:t>
            </a:r>
          </a:p>
          <a:p>
            <a:pPr algn="just"/>
            <a:r>
              <a:rPr lang="en-US" dirty="0" smtClean="0"/>
              <a:t>Using </a:t>
            </a:r>
            <a:r>
              <a:rPr lang="en-US" dirty="0"/>
              <a:t>a link-shortening service improves presentation, </a:t>
            </a:r>
            <a:r>
              <a:rPr lang="en-US" b="1" dirty="0"/>
              <a:t>boosts </a:t>
            </a:r>
            <a:r>
              <a:rPr lang="en-US" b="1" dirty="0" err="1"/>
              <a:t>clickability</a:t>
            </a:r>
            <a:r>
              <a:rPr lang="en-US" dirty="0"/>
              <a:t>, and allows marketers to </a:t>
            </a:r>
            <a:r>
              <a:rPr lang="en-US" b="1" dirty="0"/>
              <a:t>analyze audience engagement</a:t>
            </a:r>
            <a:r>
              <a:rPr lang="en-US" dirty="0"/>
              <a:t> through link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7216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867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300" b="1" dirty="0"/>
              <a:t>Why Shorten URLs?</a:t>
            </a:r>
          </a:p>
          <a:p>
            <a:r>
              <a:rPr lang="en-US" sz="2100" dirty="0" smtClean="0"/>
              <a:t>This highlights </a:t>
            </a:r>
            <a:r>
              <a:rPr lang="en-US" sz="2100" dirty="0"/>
              <a:t>several reasons why marketers use URL </a:t>
            </a:r>
            <a:r>
              <a:rPr lang="en-US" sz="2100" dirty="0" err="1"/>
              <a:t>shorteners</a:t>
            </a:r>
            <a:r>
              <a:rPr lang="en-US" sz="2100" dirty="0"/>
              <a:t>:</a:t>
            </a:r>
          </a:p>
          <a:p>
            <a:r>
              <a:rPr lang="en-US" sz="2100" b="1" dirty="0"/>
              <a:t>Clean Appearance: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Long URLs with tracking codes or parameters (like ?ref=</a:t>
            </a:r>
            <a:r>
              <a:rPr lang="en-US" sz="2100" dirty="0" err="1"/>
              <a:t>abc&amp;utm_source</a:t>
            </a:r>
            <a:r>
              <a:rPr lang="en-US" sz="2100" dirty="0"/>
              <a:t>=</a:t>
            </a:r>
            <a:r>
              <a:rPr lang="en-US" sz="2100" dirty="0" err="1"/>
              <a:t>facebook</a:t>
            </a:r>
            <a:r>
              <a:rPr lang="en-US" sz="2100" dirty="0"/>
              <a:t>) look messy. Shortened links appear neat and professional.</a:t>
            </a:r>
          </a:p>
          <a:p>
            <a:r>
              <a:rPr lang="en-US" sz="2100" b="1" dirty="0"/>
              <a:t>Save Space: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On microblogging platforms like Twitter (which limits post length), short URLs free up space for meaningful text or hashtags.</a:t>
            </a:r>
          </a:p>
          <a:p>
            <a:r>
              <a:rPr lang="en-US" sz="2100" b="1" dirty="0"/>
              <a:t>Track Performance: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Many URL-shortening tools provide analytics such as click counts, geographic data, and referring sites — helping marketers understand </a:t>
            </a:r>
            <a:r>
              <a:rPr lang="en-US" sz="2100" b="1" dirty="0"/>
              <a:t>what links attract engagement</a:t>
            </a:r>
            <a:r>
              <a:rPr lang="en-US" sz="2100" dirty="0"/>
              <a:t>.</a:t>
            </a:r>
          </a:p>
          <a:p>
            <a:r>
              <a:rPr lang="en-US" sz="2100" b="1" dirty="0"/>
              <a:t>Branding Advantage:</a:t>
            </a:r>
            <a:r>
              <a:rPr lang="en-US" sz="2100" dirty="0"/>
              <a:t/>
            </a:r>
            <a:br>
              <a:rPr lang="en-US" sz="2100" dirty="0"/>
            </a:br>
            <a:r>
              <a:rPr lang="en-US" sz="2100" dirty="0"/>
              <a:t>Custom-branded short links (like nyti.ms for </a:t>
            </a:r>
            <a:r>
              <a:rPr lang="en-US" sz="2100" i="1" dirty="0"/>
              <a:t>The New York Times</a:t>
            </a:r>
            <a:r>
              <a:rPr lang="en-US" sz="2100" dirty="0"/>
              <a:t>) increase credibility and brand recall.</a:t>
            </a:r>
          </a:p>
          <a:p>
            <a:pPr marL="0" indent="0">
              <a:buNone/>
            </a:pPr>
            <a:endParaRPr lang="en-IN" sz="2100" dirty="0"/>
          </a:p>
        </p:txBody>
      </p:sp>
    </p:spTree>
    <p:extLst>
      <p:ext uri="{BB962C8B-B14F-4D97-AF65-F5344CB8AC3E}">
        <p14:creationId xmlns:p14="http://schemas.microsoft.com/office/powerpoint/2010/main" val="2257353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867400"/>
          </a:xfrm>
        </p:spPr>
        <p:txBody>
          <a:bodyPr>
            <a:noAutofit/>
          </a:bodyPr>
          <a:lstStyle/>
          <a:p>
            <a:r>
              <a:rPr lang="en-IN" sz="2400" b="1" dirty="0"/>
              <a:t>Common URL Shortening Tools</a:t>
            </a:r>
          </a:p>
          <a:p>
            <a:pPr marL="0" indent="0">
              <a:buNone/>
            </a:pPr>
            <a:r>
              <a:rPr lang="en-IN" sz="2400" b="1" dirty="0"/>
              <a:t>a) </a:t>
            </a:r>
            <a:r>
              <a:rPr lang="en-IN" sz="2400" b="1" dirty="0" err="1"/>
              <a:t>Bitly</a:t>
            </a:r>
            <a:r>
              <a:rPr lang="en-IN" sz="2400" b="1" dirty="0"/>
              <a:t> (bitly.com)</a:t>
            </a:r>
          </a:p>
          <a:p>
            <a:r>
              <a:rPr lang="en-IN" sz="2400" dirty="0"/>
              <a:t>One of the most popular URL </a:t>
            </a:r>
            <a:r>
              <a:rPr lang="en-IN" sz="2400" dirty="0" err="1"/>
              <a:t>shorteners</a:t>
            </a:r>
            <a:r>
              <a:rPr lang="en-IN" sz="2400" dirty="0"/>
              <a:t>.</a:t>
            </a:r>
          </a:p>
          <a:p>
            <a:r>
              <a:rPr lang="en-IN" sz="2400" dirty="0"/>
              <a:t>Allows users to:</a:t>
            </a:r>
          </a:p>
          <a:p>
            <a:pPr lvl="1"/>
            <a:r>
              <a:rPr lang="en-IN" sz="2400" dirty="0"/>
              <a:t>Shorten URLs instantly.</a:t>
            </a:r>
          </a:p>
          <a:p>
            <a:pPr lvl="1"/>
            <a:r>
              <a:rPr lang="en-IN" sz="2400" dirty="0"/>
              <a:t>Track number of clicks, user locations, and traffic sources.</a:t>
            </a:r>
          </a:p>
          <a:p>
            <a:pPr lvl="1"/>
            <a:r>
              <a:rPr lang="en-IN" sz="2400" dirty="0"/>
              <a:t>Create </a:t>
            </a:r>
            <a:r>
              <a:rPr lang="en-IN" sz="2400" b="1" dirty="0"/>
              <a:t>custom-branded links</a:t>
            </a:r>
            <a:r>
              <a:rPr lang="en-IN" sz="2400" dirty="0"/>
              <a:t> (e.g., </a:t>
            </a:r>
            <a:r>
              <a:rPr lang="en-IN" sz="2400" dirty="0" err="1"/>
              <a:t>yourbrand.link</a:t>
            </a:r>
            <a:r>
              <a:rPr lang="en-IN" sz="2400" dirty="0"/>
              <a:t>/sale).</a:t>
            </a:r>
          </a:p>
          <a:p>
            <a:r>
              <a:rPr lang="en-IN" sz="2400" dirty="0"/>
              <a:t>Provides </a:t>
            </a:r>
            <a:r>
              <a:rPr lang="en-IN" sz="2400" b="1" dirty="0"/>
              <a:t>integrations</a:t>
            </a:r>
            <a:r>
              <a:rPr lang="en-IN" sz="2400" dirty="0"/>
              <a:t> with Hootsuite, Buffer, and other social media dashboards.</a:t>
            </a:r>
          </a:p>
          <a:p>
            <a:pPr marL="0" indent="0">
              <a:buNone/>
            </a:pPr>
            <a:r>
              <a:rPr lang="en-IN" sz="2400" b="1" dirty="0"/>
              <a:t>b) </a:t>
            </a:r>
            <a:r>
              <a:rPr lang="en-IN" sz="2400" b="1" dirty="0" err="1"/>
              <a:t>TinyURL</a:t>
            </a:r>
            <a:r>
              <a:rPr lang="en-IN" sz="2400" b="1" dirty="0"/>
              <a:t> (tinyurl.com)</a:t>
            </a:r>
          </a:p>
          <a:p>
            <a:r>
              <a:rPr lang="en-IN" sz="2400" dirty="0"/>
              <a:t>Simple, no-login tool for quick link shortening.</a:t>
            </a:r>
          </a:p>
          <a:p>
            <a:r>
              <a:rPr lang="en-IN" sz="2400" dirty="0"/>
              <a:t>Doesn’t offer detailed analytics, but useful for instant sharing.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9166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600" b="1" dirty="0"/>
              <a:t>c) Google’s Old URL </a:t>
            </a:r>
            <a:r>
              <a:rPr lang="en-US" sz="2600" b="1" dirty="0" err="1"/>
              <a:t>Shortener</a:t>
            </a:r>
            <a:r>
              <a:rPr lang="en-US" sz="2600" b="1" dirty="0"/>
              <a:t> (goo.gl)</a:t>
            </a:r>
          </a:p>
          <a:p>
            <a:r>
              <a:rPr lang="en-US" sz="2600" dirty="0"/>
              <a:t>Previously popular (now replaced by Firebase Dynamic Links).</a:t>
            </a:r>
          </a:p>
          <a:p>
            <a:r>
              <a:rPr lang="en-US" sz="2600" dirty="0"/>
              <a:t>Allowed tracking and link history, though phased out in recent years.</a:t>
            </a:r>
          </a:p>
          <a:p>
            <a:pPr marL="0" indent="0">
              <a:buNone/>
            </a:pPr>
            <a:r>
              <a:rPr lang="en-US" sz="2600" b="1" dirty="0"/>
              <a:t>d) Ow.ly (part of Hootsuite)</a:t>
            </a:r>
          </a:p>
          <a:p>
            <a:r>
              <a:rPr lang="en-US" sz="2600" dirty="0"/>
              <a:t>Built into Hootsuite’s platform for users who manage multiple social accounts.</a:t>
            </a:r>
          </a:p>
          <a:p>
            <a:r>
              <a:rPr lang="en-US" sz="2600" dirty="0"/>
              <a:t>Combines URL shortening with click analytics and reporting.</a:t>
            </a:r>
          </a:p>
          <a:p>
            <a:pPr marL="0" indent="0">
              <a:buNone/>
            </a:pPr>
            <a:r>
              <a:rPr lang="en-US" sz="2600" b="1" dirty="0"/>
              <a:t>e) </a:t>
            </a:r>
            <a:r>
              <a:rPr lang="en-US" sz="2600" b="1" dirty="0" err="1"/>
              <a:t>Rebrandly</a:t>
            </a:r>
            <a:endParaRPr lang="en-US" sz="2600" b="1" dirty="0"/>
          </a:p>
          <a:p>
            <a:r>
              <a:rPr lang="en-US" sz="2600" dirty="0"/>
              <a:t>Focused on </a:t>
            </a:r>
            <a:r>
              <a:rPr lang="en-US" sz="2600" b="1" dirty="0"/>
              <a:t>custom branded URLs</a:t>
            </a:r>
            <a:r>
              <a:rPr lang="en-US" sz="2600" dirty="0"/>
              <a:t> for companies.</a:t>
            </a:r>
          </a:p>
          <a:p>
            <a:r>
              <a:rPr lang="en-US" sz="2600" dirty="0"/>
              <a:t>Useful for maintaining brand identity in shared links.</a:t>
            </a:r>
          </a:p>
        </p:txBody>
      </p:sp>
    </p:spTree>
    <p:extLst>
      <p:ext uri="{BB962C8B-B14F-4D97-AF65-F5344CB8AC3E}">
        <p14:creationId xmlns:p14="http://schemas.microsoft.com/office/powerpoint/2010/main" val="2848361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86740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How Marketers Use Snipping Tools</a:t>
            </a:r>
          </a:p>
          <a:p>
            <a:r>
              <a:rPr lang="en-US" sz="2800" dirty="0"/>
              <a:t>Include shortened links in </a:t>
            </a:r>
            <a:r>
              <a:rPr lang="en-US" sz="2800" b="1" dirty="0"/>
              <a:t>tweets, posts, bios, and emails</a:t>
            </a:r>
            <a:r>
              <a:rPr lang="en-US" sz="2800" dirty="0"/>
              <a:t>.</a:t>
            </a:r>
          </a:p>
          <a:p>
            <a:r>
              <a:rPr lang="en-US" sz="2800" dirty="0"/>
              <a:t>Track performance of marketing campaigns or influencer collaborations.</a:t>
            </a:r>
          </a:p>
          <a:p>
            <a:r>
              <a:rPr lang="en-US" sz="2800" dirty="0"/>
              <a:t>Compare which platform drives the most clicks or conversions.</a:t>
            </a:r>
          </a:p>
          <a:p>
            <a:r>
              <a:rPr lang="en-US" sz="2800" dirty="0"/>
              <a:t>Quickly update or replace old links in dashboards rather than reposting them.</a:t>
            </a:r>
          </a:p>
          <a:p>
            <a:r>
              <a:rPr lang="en-US" sz="2800" b="1" dirty="0"/>
              <a:t>Example: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A marketer promoting a blog post could shorten the link via </a:t>
            </a:r>
            <a:r>
              <a:rPr lang="en-US" sz="2800" dirty="0" err="1"/>
              <a:t>Bitly</a:t>
            </a:r>
            <a:r>
              <a:rPr lang="en-US" sz="2800" dirty="0"/>
              <a:t> and share it on Twitter. Later, </a:t>
            </a:r>
            <a:r>
              <a:rPr lang="en-US" sz="2800" dirty="0" err="1"/>
              <a:t>Bitly’s</a:t>
            </a:r>
            <a:r>
              <a:rPr lang="en-US" sz="2800" dirty="0"/>
              <a:t> analytics reveal which tweet brought the highest engagement — helping refine future campaigns.</a:t>
            </a:r>
          </a:p>
        </p:txBody>
      </p:sp>
    </p:spTree>
    <p:extLst>
      <p:ext uri="{BB962C8B-B14F-4D97-AF65-F5344CB8AC3E}">
        <p14:creationId xmlns:p14="http://schemas.microsoft.com/office/powerpoint/2010/main" val="4158333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381000"/>
            <a:ext cx="8229600" cy="586740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944785"/>
              </p:ext>
            </p:extLst>
          </p:nvPr>
        </p:nvGraphicFramePr>
        <p:xfrm>
          <a:off x="533400" y="1143000"/>
          <a:ext cx="8153400" cy="4564220"/>
        </p:xfrm>
        <a:graphic>
          <a:graphicData uri="http://schemas.openxmlformats.org/drawingml/2006/table">
            <a:tbl>
              <a:tblPr/>
              <a:tblGrid>
                <a:gridCol w="4076700"/>
                <a:gridCol w="4076700"/>
              </a:tblGrid>
              <a:tr h="570528">
                <a:tc>
                  <a:txBody>
                    <a:bodyPr/>
                    <a:lstStyle/>
                    <a:p>
                      <a:r>
                        <a:rPr lang="en-IN" b="1" dirty="0"/>
                        <a:t>Benefit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423">
                <a:tc>
                  <a:txBody>
                    <a:bodyPr/>
                    <a:lstStyle/>
                    <a:p>
                      <a:r>
                        <a:rPr lang="en-IN" dirty="0"/>
                        <a:t>✂️ </a:t>
                      </a:r>
                      <a:r>
                        <a:rPr lang="en-IN" b="1" dirty="0"/>
                        <a:t>Shorter, Neater URLs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Makes posts look cleaner and more readable.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423">
                <a:tc>
                  <a:txBody>
                    <a:bodyPr/>
                    <a:lstStyle/>
                    <a:p>
                      <a:r>
                        <a:rPr lang="en-IN" dirty="0"/>
                        <a:t>📊 </a:t>
                      </a:r>
                      <a:r>
                        <a:rPr lang="en-IN" b="1" dirty="0"/>
                        <a:t>Track Click Data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Provides insight into audience interest and behavior.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423">
                <a:tc>
                  <a:txBody>
                    <a:bodyPr/>
                    <a:lstStyle/>
                    <a:p>
                      <a:r>
                        <a:rPr lang="en-IN"/>
                        <a:t>🌐 </a:t>
                      </a:r>
                      <a:r>
                        <a:rPr lang="en-IN" b="1"/>
                        <a:t>Cross-Platform Sharing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Works consistently across email, SMS, and social platforms.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998423">
                <a:tc>
                  <a:txBody>
                    <a:bodyPr/>
                    <a:lstStyle/>
                    <a:p>
                      <a:r>
                        <a:rPr lang="en-IN" dirty="0"/>
                        <a:t>🔗 </a:t>
                      </a:r>
                      <a:r>
                        <a:rPr lang="en-IN" b="1" dirty="0"/>
                        <a:t>Custom Branding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Adds trust and visibility with your own short domain.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801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E-Commerce </a:t>
            </a:r>
            <a:br>
              <a:rPr lang="en-US" b="1" dirty="0"/>
            </a:br>
            <a:r>
              <a:rPr lang="en-US" b="1" dirty="0"/>
              <a:t>Tools for Social Sites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This </a:t>
            </a:r>
            <a:r>
              <a:rPr lang="en-US" dirty="0" smtClean="0"/>
              <a:t> </a:t>
            </a:r>
            <a:r>
              <a:rPr lang="en-US" dirty="0"/>
              <a:t>explains how </a:t>
            </a:r>
            <a:r>
              <a:rPr lang="en-US" b="1" dirty="0"/>
              <a:t>social media and e-commerce have merged</a:t>
            </a:r>
            <a:r>
              <a:rPr lang="en-US" dirty="0"/>
              <a:t>, allowing businesses to sell products </a:t>
            </a:r>
            <a:r>
              <a:rPr lang="en-US" b="1" dirty="0"/>
              <a:t>directly through social platforms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Social networks like </a:t>
            </a:r>
            <a:r>
              <a:rPr lang="en-US" b="1" dirty="0"/>
              <a:t>Facebook, Instagram, Pinterest, and Twitter</a:t>
            </a:r>
            <a:r>
              <a:rPr lang="en-US" dirty="0"/>
              <a:t> now integrate shopping tools, letting users browse and purchase items without leaving the platform.</a:t>
            </a:r>
            <a:br>
              <a:rPr lang="en-US" dirty="0"/>
            </a:br>
            <a:r>
              <a:rPr lang="en-US" dirty="0"/>
              <a:t>These tools make it easier for small and large businesses to </a:t>
            </a:r>
            <a:r>
              <a:rPr lang="en-US" b="1" dirty="0"/>
              <a:t>connect, engage, and convert followers into customers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566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Importance of E-Commerce Tools on Social Media</a:t>
            </a:r>
          </a:p>
          <a:p>
            <a:r>
              <a:rPr lang="en-US" dirty="0"/>
              <a:t>The book highlights that integrating e-commerce into social media:</a:t>
            </a:r>
          </a:p>
          <a:p>
            <a:r>
              <a:rPr lang="en-US" dirty="0"/>
              <a:t>Simplifies the </a:t>
            </a:r>
            <a:r>
              <a:rPr lang="en-US" b="1" dirty="0"/>
              <a:t>buying process</a:t>
            </a:r>
            <a:r>
              <a:rPr lang="en-US" dirty="0"/>
              <a:t> for customers.</a:t>
            </a:r>
          </a:p>
          <a:p>
            <a:r>
              <a:rPr lang="en-US" dirty="0"/>
              <a:t>Turns social platforms into </a:t>
            </a:r>
            <a:r>
              <a:rPr lang="en-US" b="1" dirty="0"/>
              <a:t>direct sales channels</a:t>
            </a:r>
            <a:r>
              <a:rPr lang="en-US" dirty="0"/>
              <a:t>.</a:t>
            </a:r>
          </a:p>
          <a:p>
            <a:r>
              <a:rPr lang="en-US" dirty="0"/>
              <a:t>Builds brand credibility and customer convenience.</a:t>
            </a:r>
          </a:p>
          <a:p>
            <a:r>
              <a:rPr lang="en-US" dirty="0"/>
              <a:t>Allows for </a:t>
            </a:r>
            <a:r>
              <a:rPr lang="en-US" b="1" dirty="0"/>
              <a:t>real-time engagement and feedback</a:t>
            </a:r>
            <a:r>
              <a:rPr lang="en-US" dirty="0"/>
              <a:t> during the purchase journey.</a:t>
            </a:r>
          </a:p>
          <a:p>
            <a:r>
              <a:rPr lang="en-US" dirty="0"/>
              <a:t>Essentially, it transforms social media from just a communication tool into a </a:t>
            </a:r>
            <a:r>
              <a:rPr lang="en-US" b="1" dirty="0"/>
              <a:t>sales and marketing powerhouse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511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/>
              <a:t>Popular Social E-Commerce Tools</a:t>
            </a:r>
          </a:p>
          <a:p>
            <a:pPr marL="0" indent="0">
              <a:buNone/>
            </a:pPr>
            <a:r>
              <a:rPr lang="en-US" b="1" dirty="0"/>
              <a:t>a) Facebook Shops</a:t>
            </a:r>
          </a:p>
          <a:p>
            <a:r>
              <a:rPr lang="en-US" dirty="0"/>
              <a:t>Businesses can </a:t>
            </a:r>
            <a:r>
              <a:rPr lang="en-US" b="1" dirty="0"/>
              <a:t>create online storefronts</a:t>
            </a:r>
            <a:r>
              <a:rPr lang="en-US" dirty="0"/>
              <a:t> directly on Facebook Pages.</a:t>
            </a:r>
          </a:p>
          <a:p>
            <a:r>
              <a:rPr lang="en-US" dirty="0"/>
              <a:t>Customers can browse products, view descriptions, and make purchases within Facebook.</a:t>
            </a:r>
          </a:p>
          <a:p>
            <a:r>
              <a:rPr lang="en-US" dirty="0"/>
              <a:t>Integrates with platforms like </a:t>
            </a:r>
            <a:r>
              <a:rPr lang="en-US" b="1" dirty="0"/>
              <a:t>Shopify</a:t>
            </a:r>
            <a:r>
              <a:rPr lang="en-US" dirty="0"/>
              <a:t> or </a:t>
            </a:r>
            <a:r>
              <a:rPr lang="en-US" b="1" dirty="0" err="1"/>
              <a:t>BigCommerce</a:t>
            </a:r>
            <a:r>
              <a:rPr lang="en-US" dirty="0"/>
              <a:t> for inventory and order management.</a:t>
            </a:r>
          </a:p>
          <a:p>
            <a:r>
              <a:rPr lang="en-US" dirty="0"/>
              <a:t>Supports product tagging in posts and ads, driving visibility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b) Instagram </a:t>
            </a:r>
            <a:r>
              <a:rPr lang="en-US" b="1" dirty="0"/>
              <a:t>Shopping</a:t>
            </a:r>
          </a:p>
          <a:p>
            <a:r>
              <a:rPr lang="en-US" dirty="0"/>
              <a:t>Allows businesses to </a:t>
            </a:r>
            <a:r>
              <a:rPr lang="en-US" b="1" dirty="0"/>
              <a:t>tag products in photos and videos</a:t>
            </a:r>
            <a:r>
              <a:rPr lang="en-US" dirty="0"/>
              <a:t>.</a:t>
            </a:r>
          </a:p>
          <a:p>
            <a:r>
              <a:rPr lang="en-US" dirty="0"/>
              <a:t>When users tap on a tagged product, they can see details and purchase it instantly.</a:t>
            </a:r>
          </a:p>
          <a:p>
            <a:r>
              <a:rPr lang="en-US" dirty="0"/>
              <a:t>Instagram’s </a:t>
            </a:r>
            <a:r>
              <a:rPr lang="en-US" b="1" dirty="0"/>
              <a:t>visual focus</a:t>
            </a:r>
            <a:r>
              <a:rPr lang="en-US" dirty="0"/>
              <a:t> makes it ideal for lifestyle and fashion brands.</a:t>
            </a:r>
          </a:p>
          <a:p>
            <a:r>
              <a:rPr lang="en-US" dirty="0"/>
              <a:t>Works seamlessly with Facebook’s Commerce Manager.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691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c) Pinterest Buyable Pins</a:t>
            </a:r>
          </a:p>
          <a:p>
            <a:r>
              <a:rPr lang="en-US" sz="2200" dirty="0"/>
              <a:t>Enables users to purchase products directly from </a:t>
            </a:r>
            <a:r>
              <a:rPr lang="en-US" sz="2200" b="1" dirty="0"/>
              <a:t>Pins</a:t>
            </a:r>
            <a:r>
              <a:rPr lang="en-US" sz="2200" dirty="0"/>
              <a:t>.</a:t>
            </a:r>
          </a:p>
          <a:p>
            <a:r>
              <a:rPr lang="en-US" sz="2200" dirty="0"/>
              <a:t>Best suited for brands in </a:t>
            </a:r>
            <a:r>
              <a:rPr lang="en-US" sz="2200" b="1" dirty="0"/>
              <a:t>DIY, home décor, food, and fashion</a:t>
            </a:r>
            <a:r>
              <a:rPr lang="en-US" sz="2200" dirty="0"/>
              <a:t> industries.</a:t>
            </a:r>
          </a:p>
          <a:p>
            <a:r>
              <a:rPr lang="en-US" sz="2200" dirty="0"/>
              <a:t>Encourages inspiration-driven purchases (“I like this — I’ll buy it”).</a:t>
            </a:r>
          </a:p>
          <a:p>
            <a:pPr marL="0" indent="0">
              <a:buNone/>
            </a:pPr>
            <a:r>
              <a:rPr lang="en-US" sz="2200" b="1" dirty="0"/>
              <a:t>d) Twitter Cards (Legacy Feature)</a:t>
            </a:r>
          </a:p>
          <a:p>
            <a:r>
              <a:rPr lang="en-US" sz="2200" dirty="0"/>
              <a:t>Allowed sharing of </a:t>
            </a:r>
            <a:r>
              <a:rPr lang="en-US" sz="2200" b="1" dirty="0"/>
              <a:t>product info, pricing, and images</a:t>
            </a:r>
            <a:r>
              <a:rPr lang="en-US" sz="2200" dirty="0"/>
              <a:t> in tweets.</a:t>
            </a:r>
          </a:p>
          <a:p>
            <a:r>
              <a:rPr lang="en-US" sz="2200" dirty="0"/>
              <a:t>Enhanced engagement and direct linking to purchase pages</a:t>
            </a:r>
            <a:r>
              <a:rPr lang="en-US" sz="2200" dirty="0" smtClean="0"/>
              <a:t>.</a:t>
            </a:r>
          </a:p>
          <a:p>
            <a:pPr marL="0" indent="0">
              <a:buNone/>
            </a:pPr>
            <a:r>
              <a:rPr lang="en-US" sz="2200" b="1" dirty="0"/>
              <a:t>e) Shopify and </a:t>
            </a:r>
            <a:r>
              <a:rPr lang="en-US" sz="2200" b="1" dirty="0" err="1"/>
              <a:t>Ecwid</a:t>
            </a:r>
            <a:endParaRPr lang="en-US" sz="2200" b="1" dirty="0"/>
          </a:p>
          <a:p>
            <a:r>
              <a:rPr lang="en-US" sz="2200" dirty="0"/>
              <a:t>Third-party </a:t>
            </a:r>
            <a:r>
              <a:rPr lang="en-US" sz="2200" b="1" dirty="0"/>
              <a:t>e-commerce integrations</a:t>
            </a:r>
            <a:r>
              <a:rPr lang="en-US" sz="2200" dirty="0"/>
              <a:t> that sync social media stores with company websites.</a:t>
            </a:r>
          </a:p>
          <a:p>
            <a:r>
              <a:rPr lang="en-US" sz="2200" dirty="0"/>
              <a:t>Automate product listings, stock updates, and orders across platforms.</a:t>
            </a:r>
          </a:p>
          <a:p>
            <a:pPr marL="0" indent="0">
              <a:buNone/>
            </a:pPr>
            <a:endParaRPr lang="en-US" sz="2200" dirty="0"/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874166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Benefits </a:t>
            </a:r>
            <a:r>
              <a:rPr lang="en-US" sz="2400" b="1" dirty="0"/>
              <a:t>of Social E-Commerce Tools</a:t>
            </a:r>
            <a:endParaRPr lang="en-US" sz="2200" b="1" dirty="0"/>
          </a:p>
          <a:p>
            <a:endParaRPr lang="en-US" sz="22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2080101"/>
          <a:ext cx="8229600" cy="35661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Benefit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🛍️ </a:t>
                      </a:r>
                      <a:r>
                        <a:rPr lang="en-IN" b="1"/>
                        <a:t>Convenience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Customers can shop without leaving the app.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📣 </a:t>
                      </a:r>
                      <a:r>
                        <a:rPr lang="en-IN" b="1"/>
                        <a:t>Brand Exposure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Products are shared and discovered through social engagement.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💬 </a:t>
                      </a:r>
                      <a:r>
                        <a:rPr lang="en-IN" b="1"/>
                        <a:t>Instant Feedback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Users can comment, rate, and review products directly.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📈 </a:t>
                      </a:r>
                      <a:r>
                        <a:rPr lang="en-IN" b="1"/>
                        <a:t>Data and Analytics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Track what products or posts drive the most sales.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🔁 </a:t>
                      </a:r>
                      <a:r>
                        <a:rPr lang="en-IN" b="1"/>
                        <a:t>Cross-Platform Integration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Syncs with websites and other e-commerce systems.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4636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Optimizing Social Media for Search Engines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How </a:t>
            </a:r>
            <a:r>
              <a:rPr lang="en-US" dirty="0"/>
              <a:t>businesses can use </a:t>
            </a:r>
            <a:r>
              <a:rPr lang="en-US" b="1" dirty="0"/>
              <a:t>search engine optimization (SEO)</a:t>
            </a:r>
            <a:r>
              <a:rPr lang="en-US" dirty="0"/>
              <a:t> techniques to improve visibility </a:t>
            </a:r>
            <a:r>
              <a:rPr lang="en-US" b="1" dirty="0"/>
              <a:t>within social media platforms</a:t>
            </a:r>
            <a:r>
              <a:rPr lang="en-US" dirty="0"/>
              <a:t> and on </a:t>
            </a:r>
            <a:r>
              <a:rPr lang="en-US" b="1" dirty="0"/>
              <a:t>external search engines</a:t>
            </a:r>
            <a:r>
              <a:rPr lang="en-US" dirty="0"/>
              <a:t> like Google or Bing. It emphasizes that optimization helps a brand get discovered more easily, increases web traffic, and boosts ranking in both </a:t>
            </a:r>
            <a:r>
              <a:rPr lang="en-US" b="1" dirty="0"/>
              <a:t>organic</a:t>
            </a:r>
            <a:r>
              <a:rPr lang="en-US" dirty="0"/>
              <a:t> and </a:t>
            </a:r>
            <a:r>
              <a:rPr lang="en-US" b="1" dirty="0"/>
              <a:t>real-time searches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2291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/>
              <a:t>Dual Focus of Optimization</a:t>
            </a:r>
          </a:p>
          <a:p>
            <a:pPr algn="just"/>
            <a:r>
              <a:rPr lang="en-US" dirty="0"/>
              <a:t>There are </a:t>
            </a:r>
            <a:r>
              <a:rPr lang="en-US" b="1" dirty="0"/>
              <a:t>two primary goals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Internal Optimization:</a:t>
            </a:r>
            <a:r>
              <a:rPr lang="en-US" dirty="0"/>
              <a:t> Improving how easily users find your content </a:t>
            </a:r>
            <a:r>
              <a:rPr lang="en-US" i="1" dirty="0"/>
              <a:t>within</a:t>
            </a:r>
            <a:r>
              <a:rPr lang="en-US" dirty="0"/>
              <a:t> social platforms like Facebook, Twitter, LinkedIn, or Pinterest.</a:t>
            </a:r>
          </a:p>
          <a:p>
            <a:pPr algn="just"/>
            <a:r>
              <a:rPr lang="en-US" b="1" dirty="0"/>
              <a:t>External Optimization:</a:t>
            </a:r>
            <a:r>
              <a:rPr lang="en-US" dirty="0"/>
              <a:t> Enhancing how these same social media profiles and posts rank in </a:t>
            </a:r>
            <a:r>
              <a:rPr lang="en-US" i="1" dirty="0"/>
              <a:t>search engines</a:t>
            </a:r>
            <a:r>
              <a:rPr lang="en-US" dirty="0"/>
              <a:t> like Google and Yahoo/Bing.</a:t>
            </a:r>
          </a:p>
          <a:p>
            <a:pPr algn="just"/>
            <a:r>
              <a:rPr lang="en-US" dirty="0" smtClean="0"/>
              <a:t>In this traditional </a:t>
            </a:r>
            <a:r>
              <a:rPr lang="en-US" dirty="0"/>
              <a:t>SEO methods (keywords, meta tags, backlinks) are equally valuable when applied to social profiles, blogs, and multimedia posts.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2932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Placing Search Terms on Social Media</a:t>
            </a:r>
          </a:p>
          <a:p>
            <a:r>
              <a:rPr lang="en-US" dirty="0"/>
              <a:t>Use a </a:t>
            </a:r>
            <a:r>
              <a:rPr lang="en-US" b="1" dirty="0"/>
              <a:t>consistent set of core keywords</a:t>
            </a:r>
            <a:r>
              <a:rPr lang="en-US" dirty="0"/>
              <a:t> across all platforms.</a:t>
            </a:r>
          </a:p>
          <a:p>
            <a:r>
              <a:rPr lang="en-US" dirty="0"/>
              <a:t>Incorporate these keywords naturally into profile descriptions, posts, headlines, and URLs.</a:t>
            </a:r>
          </a:p>
          <a:p>
            <a:r>
              <a:rPr lang="en-US" dirty="0"/>
              <a:t>Limit each page or post to </a:t>
            </a:r>
            <a:r>
              <a:rPr lang="en-US" b="1" dirty="0"/>
              <a:t>3–5 keywords</a:t>
            </a:r>
            <a:r>
              <a:rPr lang="en-US" dirty="0"/>
              <a:t> with around </a:t>
            </a:r>
            <a:r>
              <a:rPr lang="en-US" b="1" dirty="0"/>
              <a:t>2–6% density</a:t>
            </a:r>
            <a:r>
              <a:rPr lang="en-US" dirty="0"/>
              <a:t> to maintain readability.</a:t>
            </a:r>
          </a:p>
          <a:p>
            <a:r>
              <a:rPr lang="en-US" dirty="0"/>
              <a:t>Place keywords in visible and </a:t>
            </a:r>
            <a:r>
              <a:rPr lang="en-US" dirty="0" err="1"/>
              <a:t>crawlable</a:t>
            </a:r>
            <a:r>
              <a:rPr lang="en-US" dirty="0"/>
              <a:t> areas—especially in the </a:t>
            </a:r>
            <a:r>
              <a:rPr lang="en-US" b="1" dirty="0"/>
              <a:t>first paragraph</a:t>
            </a:r>
            <a:r>
              <a:rPr lang="en-US" dirty="0"/>
              <a:t>, titles (&lt;h1&gt;), and metadata.</a:t>
            </a:r>
          </a:p>
        </p:txBody>
      </p:sp>
    </p:spTree>
    <p:extLst>
      <p:ext uri="{BB962C8B-B14F-4D97-AF65-F5344CB8AC3E}">
        <p14:creationId xmlns:p14="http://schemas.microsoft.com/office/powerpoint/2010/main" val="35427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Optimizing Blogs</a:t>
            </a:r>
          </a:p>
          <a:p>
            <a:r>
              <a:rPr lang="en-US" dirty="0"/>
              <a:t>Blogs behave like websites, so SEO principles apply directly.</a:t>
            </a:r>
          </a:p>
          <a:p>
            <a:r>
              <a:rPr lang="en-US" dirty="0"/>
              <a:t>Use your </a:t>
            </a:r>
            <a:r>
              <a:rPr lang="en-US" b="1" dirty="0"/>
              <a:t>own domain name</a:t>
            </a:r>
            <a:r>
              <a:rPr lang="en-US" dirty="0"/>
              <a:t> (e.g., yourblog.yourdomain.com), not a third-party hosted subdomain.</a:t>
            </a:r>
          </a:p>
          <a:p>
            <a:r>
              <a:rPr lang="en-US" dirty="0"/>
              <a:t>Include </a:t>
            </a:r>
            <a:r>
              <a:rPr lang="en-US" b="1" dirty="0"/>
              <a:t>keywords in titles, URLs, and headings</a:t>
            </a:r>
            <a:r>
              <a:rPr lang="en-US" dirty="0"/>
              <a:t>, and update content frequently to attract search engine crawlers.</a:t>
            </a:r>
          </a:p>
          <a:p>
            <a:r>
              <a:rPr lang="en-US" b="1" dirty="0"/>
              <a:t>Inbound links</a:t>
            </a:r>
            <a:r>
              <a:rPr lang="en-US" dirty="0"/>
              <a:t> and </a:t>
            </a:r>
            <a:r>
              <a:rPr lang="en-US" b="1" dirty="0"/>
              <a:t>blog rolls</a:t>
            </a:r>
            <a:r>
              <a:rPr lang="en-US" dirty="0"/>
              <a:t> increase link juice and search ranking.</a:t>
            </a:r>
          </a:p>
          <a:p>
            <a:r>
              <a:rPr lang="en-US" dirty="0"/>
              <a:t>Only exchange links with reputable, relevant sites.</a:t>
            </a:r>
          </a:p>
        </p:txBody>
      </p:sp>
    </p:spTree>
    <p:extLst>
      <p:ext uri="{BB962C8B-B14F-4D97-AF65-F5344CB8AC3E}">
        <p14:creationId xmlns:p14="http://schemas.microsoft.com/office/powerpoint/2010/main" val="1769551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Optimizing Images, Video, and Podcasts</a:t>
            </a:r>
          </a:p>
          <a:p>
            <a:r>
              <a:rPr lang="en-IN" dirty="0"/>
              <a:t>Use </a:t>
            </a:r>
            <a:r>
              <a:rPr lang="en-IN" b="1" dirty="0"/>
              <a:t>descriptive filenames</a:t>
            </a:r>
            <a:r>
              <a:rPr lang="en-IN" dirty="0"/>
              <a:t> and </a:t>
            </a:r>
            <a:r>
              <a:rPr lang="en-IN" b="1" dirty="0"/>
              <a:t>alt text</a:t>
            </a:r>
            <a:r>
              <a:rPr lang="en-IN" dirty="0"/>
              <a:t> for images and videos.</a:t>
            </a:r>
          </a:p>
          <a:p>
            <a:r>
              <a:rPr lang="en-IN" dirty="0"/>
              <a:t>Add captions, transcripts, and tags with keywords.</a:t>
            </a:r>
          </a:p>
          <a:p>
            <a:r>
              <a:rPr lang="en-IN" dirty="0"/>
              <a:t>Host media on multiple sites (YouTube, Vimeo, </a:t>
            </a:r>
            <a:r>
              <a:rPr lang="en-IN" dirty="0" err="1"/>
              <a:t>SoundCloud</a:t>
            </a:r>
            <a:r>
              <a:rPr lang="en-IN" dirty="0"/>
              <a:t>) with backlinks to your website.</a:t>
            </a:r>
          </a:p>
          <a:p>
            <a:r>
              <a:rPr lang="en-IN" dirty="0"/>
              <a:t>Visual and multimedia content improves engagement and ranking in </a:t>
            </a:r>
            <a:r>
              <a:rPr lang="en-IN" b="1" dirty="0"/>
              <a:t>Google Images</a:t>
            </a:r>
            <a:r>
              <a:rPr lang="en-IN" dirty="0"/>
              <a:t> and </a:t>
            </a:r>
            <a:r>
              <a:rPr lang="en-IN" b="1" dirty="0"/>
              <a:t>YouTube search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24643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500" b="1" dirty="0"/>
              <a:t>Optimizing Specific Social Media Platforms</a:t>
            </a:r>
          </a:p>
          <a:p>
            <a:r>
              <a:rPr lang="en-US" sz="2500" dirty="0"/>
              <a:t>Each platform offers different SEO opportunities:</a:t>
            </a:r>
          </a:p>
          <a:p>
            <a:r>
              <a:rPr lang="en-US" sz="2500" b="1" dirty="0"/>
              <a:t>Twitter:</a:t>
            </a:r>
            <a:r>
              <a:rPr lang="en-US" sz="2500" dirty="0"/>
              <a:t> Use relevant hashtags, keywords in bios, and link to your site.</a:t>
            </a:r>
          </a:p>
          <a:p>
            <a:r>
              <a:rPr lang="en-US" sz="2500" b="1" dirty="0"/>
              <a:t>LinkedIn:</a:t>
            </a:r>
            <a:r>
              <a:rPr lang="en-US" sz="2500" dirty="0"/>
              <a:t> Optimize company pages and profiles with industry-related keywords and link back to your blog or site.</a:t>
            </a:r>
          </a:p>
          <a:p>
            <a:r>
              <a:rPr lang="en-US" sz="2500" b="1" dirty="0"/>
              <a:t>Facebook:</a:t>
            </a:r>
            <a:r>
              <a:rPr lang="en-US" sz="2500" dirty="0"/>
              <a:t> Use keyword-rich descriptions and custom URLs.</a:t>
            </a:r>
          </a:p>
          <a:p>
            <a:r>
              <a:rPr lang="en-US" sz="2500" b="1" dirty="0"/>
              <a:t>Pinterest:</a:t>
            </a:r>
            <a:r>
              <a:rPr lang="en-US" sz="2500" dirty="0"/>
              <a:t> Optimize pin titles, descriptions, and boards with target search phrases.</a:t>
            </a:r>
          </a:p>
          <a:p>
            <a:r>
              <a:rPr lang="en-US" sz="2500" b="1" dirty="0"/>
              <a:t>Google+:</a:t>
            </a:r>
            <a:r>
              <a:rPr lang="en-US" sz="2500" dirty="0"/>
              <a:t> (when applicable) Utilize keywords in About sections and post titles.</a:t>
            </a:r>
          </a:p>
          <a:p>
            <a:r>
              <a:rPr lang="en-US" sz="2500" dirty="0"/>
              <a:t>Cross-link between these profiles to create a strong network of backlinks.</a:t>
            </a:r>
          </a:p>
        </p:txBody>
      </p:sp>
    </p:spTree>
    <p:extLst>
      <p:ext uri="{BB962C8B-B14F-4D97-AF65-F5344CB8AC3E}">
        <p14:creationId xmlns:p14="http://schemas.microsoft.com/office/powerpoint/2010/main" val="1124955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4403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/>
              <a:t>Optimizing for Mobile Search</a:t>
            </a:r>
          </a:p>
          <a:p>
            <a:r>
              <a:rPr lang="en-US" sz="2800" dirty="0"/>
              <a:t>Since 80% of adults use smartphones, </a:t>
            </a:r>
            <a:r>
              <a:rPr lang="en-US" sz="2800" b="1" dirty="0"/>
              <a:t>mobile SEO</a:t>
            </a:r>
            <a:r>
              <a:rPr lang="en-US" sz="2800" dirty="0"/>
              <a:t> is critical.</a:t>
            </a:r>
          </a:p>
          <a:p>
            <a:r>
              <a:rPr lang="en-US" sz="2800" dirty="0"/>
              <a:t>Ensure your site loads in </a:t>
            </a:r>
            <a:r>
              <a:rPr lang="en-US" sz="2800" b="1" dirty="0"/>
              <a:t>under one second</a:t>
            </a:r>
            <a:r>
              <a:rPr lang="en-US" sz="2800" dirty="0"/>
              <a:t> and displays well across devices.</a:t>
            </a:r>
          </a:p>
          <a:p>
            <a:r>
              <a:rPr lang="en-US" sz="2800" dirty="0"/>
              <a:t>Use </a:t>
            </a:r>
            <a:r>
              <a:rPr lang="en-US" sz="2800" b="1" dirty="0"/>
              <a:t>responsive design</a:t>
            </a:r>
            <a:r>
              <a:rPr lang="en-US" sz="2800" dirty="0"/>
              <a:t> or </a:t>
            </a:r>
            <a:r>
              <a:rPr lang="en-US" sz="2800" b="1" dirty="0"/>
              <a:t>HTML5</a:t>
            </a:r>
            <a:r>
              <a:rPr lang="en-US" sz="2800" dirty="0"/>
              <a:t> for better performance.</a:t>
            </a:r>
          </a:p>
          <a:p>
            <a:r>
              <a:rPr lang="en-US" sz="2800" dirty="0"/>
              <a:t>Include </a:t>
            </a:r>
            <a:r>
              <a:rPr lang="en-US" sz="2800" b="1" dirty="0"/>
              <a:t>local keywords</a:t>
            </a:r>
            <a:r>
              <a:rPr lang="en-US" sz="2800" dirty="0"/>
              <a:t> (city, ZIP code, neighborhood) to enhance visibility in </a:t>
            </a:r>
            <a:r>
              <a:rPr lang="en-US" sz="2800" b="1" dirty="0"/>
              <a:t>location-based searches</a:t>
            </a:r>
            <a:r>
              <a:rPr lang="en-US" sz="2800" dirty="0"/>
              <a:t>.</a:t>
            </a:r>
          </a:p>
          <a:p>
            <a:r>
              <a:rPr lang="en-US" sz="2800" dirty="0"/>
              <a:t>Mobile results often show fewer entries, so local optimization is essential.</a:t>
            </a:r>
          </a:p>
        </p:txBody>
      </p:sp>
    </p:spTree>
    <p:extLst>
      <p:ext uri="{BB962C8B-B14F-4D97-AF65-F5344CB8AC3E}">
        <p14:creationId xmlns:p14="http://schemas.microsoft.com/office/powerpoint/2010/main" val="1503176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Gaining </a:t>
            </a:r>
            <a:r>
              <a:rPr lang="en-US" b="1" dirty="0" smtClean="0"/>
              <a:t>Visibility </a:t>
            </a:r>
            <a:r>
              <a:rPr lang="en-US" b="1" dirty="0"/>
              <a:t>in Real-Time Search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</a:t>
            </a:r>
            <a:r>
              <a:rPr lang="en-US" dirty="0"/>
              <a:t>businesses can </a:t>
            </a:r>
            <a:r>
              <a:rPr lang="en-US" b="1" dirty="0"/>
              <a:t>increase their visibility in real-time search results</a:t>
            </a:r>
            <a:r>
              <a:rPr lang="en-US" dirty="0"/>
              <a:t> — that is, in search results that show </a:t>
            </a:r>
            <a:r>
              <a:rPr lang="en-US" b="1" dirty="0"/>
              <a:t>the most recent posts or updates from social media</a:t>
            </a:r>
            <a:r>
              <a:rPr lang="en-US" dirty="0"/>
              <a:t> platforms like Twitter, Instagram, and Facebook. As search engines evolve, they increasingly take </a:t>
            </a:r>
            <a:r>
              <a:rPr lang="en-US" b="1" dirty="0"/>
              <a:t>social media activity</a:t>
            </a:r>
            <a:r>
              <a:rPr lang="en-US" dirty="0"/>
              <a:t> into account, but they vary in how much of this content is indexed or displayed.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706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How Search Engines Handle Social Media</a:t>
            </a:r>
          </a:p>
          <a:p>
            <a:r>
              <a:rPr lang="en-US" b="1" dirty="0"/>
              <a:t>Search engines such as Google and Yahoo!</a:t>
            </a:r>
            <a:r>
              <a:rPr lang="en-US" dirty="0"/>
              <a:t> recognize a business’s </a:t>
            </a:r>
            <a:r>
              <a:rPr lang="en-US" i="1" dirty="0"/>
              <a:t>social media presence</a:t>
            </a:r>
            <a:r>
              <a:rPr lang="en-US" dirty="0"/>
              <a:t> but generally </a:t>
            </a:r>
            <a:r>
              <a:rPr lang="en-US" b="1" dirty="0"/>
              <a:t>do not include individual tweets or posts</a:t>
            </a:r>
            <a:r>
              <a:rPr lang="en-US" dirty="0"/>
              <a:t> in regular search results because most posts are </a:t>
            </a:r>
            <a:r>
              <a:rPr lang="en-US" b="1" dirty="0"/>
              <a:t>private or protected</a:t>
            </a:r>
            <a:r>
              <a:rPr lang="en-US" dirty="0"/>
              <a:t>.</a:t>
            </a:r>
          </a:p>
          <a:p>
            <a:r>
              <a:rPr lang="en-US" dirty="0"/>
              <a:t>To see </a:t>
            </a:r>
            <a:r>
              <a:rPr lang="en-US" b="1" dirty="0"/>
              <a:t>live or near real-time results</a:t>
            </a:r>
            <a:r>
              <a:rPr lang="en-US" dirty="0"/>
              <a:t>, marketers can use </a:t>
            </a:r>
            <a:r>
              <a:rPr lang="en-US" b="1" dirty="0"/>
              <a:t>specialized search sites</a:t>
            </a:r>
            <a:r>
              <a:rPr lang="en-US" dirty="0"/>
              <a:t> like:</a:t>
            </a:r>
          </a:p>
          <a:p>
            <a:pPr lvl="1"/>
            <a:r>
              <a:rPr lang="en-US" dirty="0">
                <a:hlinkClick r:id="rId2"/>
              </a:rPr>
              <a:t>SocialSearch.com</a:t>
            </a:r>
            <a:endParaRPr lang="en-US" dirty="0"/>
          </a:p>
          <a:p>
            <a:pPr lvl="1"/>
            <a:r>
              <a:rPr lang="en-US" dirty="0" err="1">
                <a:hlinkClick r:id="rId3"/>
              </a:rPr>
              <a:t>IceRocket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Twitter Search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Facebook Search</a:t>
            </a:r>
            <a:endParaRPr lang="en-US" dirty="0"/>
          </a:p>
          <a:p>
            <a:pPr lvl="1"/>
            <a:r>
              <a:rPr lang="en-US" dirty="0">
                <a:hlinkClick r:id="rId6"/>
              </a:rPr>
              <a:t>Yahoo! Search</a:t>
            </a:r>
            <a:endParaRPr lang="en-US" dirty="0"/>
          </a:p>
          <a:p>
            <a:pPr lvl="1"/>
            <a:r>
              <a:rPr lang="en-US" dirty="0">
                <a:hlinkClick r:id="rId7"/>
              </a:rPr>
              <a:t>LinkedIn Search</a:t>
            </a:r>
            <a:endParaRPr lang="en-US" dirty="0"/>
          </a:p>
          <a:p>
            <a:r>
              <a:rPr lang="en-US" b="1" dirty="0"/>
              <a:t>Bing</a:t>
            </a:r>
            <a:r>
              <a:rPr lang="en-US" dirty="0"/>
              <a:t> is more flexible — it displays </a:t>
            </a:r>
            <a:r>
              <a:rPr lang="en-US" b="1" dirty="0"/>
              <a:t>recent posts by public figures or influencers</a:t>
            </a:r>
            <a:r>
              <a:rPr lang="en-US" dirty="0"/>
              <a:t> directly in its main results without requiring users to log into their social media accounts.</a:t>
            </a:r>
          </a:p>
        </p:txBody>
      </p:sp>
    </p:spTree>
    <p:extLst>
      <p:ext uri="{BB962C8B-B14F-4D97-AF65-F5344CB8AC3E}">
        <p14:creationId xmlns:p14="http://schemas.microsoft.com/office/powerpoint/2010/main" val="26998073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Real-Time </a:t>
            </a:r>
            <a:r>
              <a:rPr lang="en-US" dirty="0"/>
              <a:t>and Specialty </a:t>
            </a:r>
            <a:r>
              <a:rPr lang="en-US" dirty="0" smtClean="0"/>
              <a:t>Search Engines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5302" y="1600201"/>
          <a:ext cx="7833396" cy="4525961"/>
        </p:xfrm>
        <a:graphic>
          <a:graphicData uri="http://schemas.openxmlformats.org/drawingml/2006/table">
            <a:tbl>
              <a:tblPr/>
              <a:tblGrid>
                <a:gridCol w="2611132"/>
                <a:gridCol w="2611132"/>
                <a:gridCol w="2611132"/>
              </a:tblGrid>
              <a:tr h="348151">
                <a:tc>
                  <a:txBody>
                    <a:bodyPr/>
                    <a:lstStyle/>
                    <a:p>
                      <a:r>
                        <a:rPr lang="en-IN" sz="1700"/>
                        <a:t>Platform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URL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b="1"/>
                        <a:t>Facebook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search.fb.com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Search people, pages, groups, events, and places.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b="1"/>
                        <a:t>Google+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plus.google.com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Search for posts and people on Google+.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0377">
                <a:tc>
                  <a:txBody>
                    <a:bodyPr/>
                    <a:lstStyle/>
                    <a:p>
                      <a:r>
                        <a:rPr lang="en-IN" sz="1700" b="1"/>
                        <a:t>IceRocket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icerocket.com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Real-time search across blogs, Twitter, and Facebook.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70377">
                <a:tc>
                  <a:txBody>
                    <a:bodyPr/>
                    <a:lstStyle/>
                    <a:p>
                      <a:r>
                        <a:rPr lang="en-IN" sz="1700" b="1"/>
                        <a:t>LinkedIn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linkedin.com/search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Real-time search for jobs, groups, and company posts.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b="1"/>
                        <a:t>Twitter Search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search.twitter.com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Tracks live tweets and hashtags.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09264">
                <a:tc>
                  <a:txBody>
                    <a:bodyPr/>
                    <a:lstStyle/>
                    <a:p>
                      <a:r>
                        <a:rPr lang="en-IN" sz="1700" b="1"/>
                        <a:t>Yahoo! Search</a:t>
                      </a:r>
                      <a:endParaRPr lang="en-IN" sz="1700"/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search.yahoo.com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Shows real-time posts from multiple networks.</a:t>
                      </a:r>
                    </a:p>
                  </a:txBody>
                  <a:tcPr marL="87038" marR="87038" marT="43519" marB="435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38198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Key Takeaways</a:t>
            </a:r>
          </a:p>
          <a:p>
            <a:r>
              <a:rPr lang="en-US" b="1" dirty="0"/>
              <a:t>Search engines adapt</a:t>
            </a:r>
            <a:r>
              <a:rPr lang="en-US" dirty="0"/>
              <a:t> to the fast pace of social media, but not all index every platform equally.</a:t>
            </a:r>
          </a:p>
          <a:p>
            <a:r>
              <a:rPr lang="en-US" b="1" dirty="0"/>
              <a:t>Specialized real-time search tools</a:t>
            </a:r>
            <a:r>
              <a:rPr lang="en-US" dirty="0"/>
              <a:t> are necessary to view the most current results.</a:t>
            </a:r>
          </a:p>
          <a:p>
            <a:r>
              <a:rPr lang="en-US" b="1" dirty="0"/>
              <a:t>Bing</a:t>
            </a:r>
            <a:r>
              <a:rPr lang="en-US" dirty="0"/>
              <a:t> is ahead in showing public social posts within its regular results.</a:t>
            </a:r>
          </a:p>
          <a:p>
            <a:r>
              <a:rPr lang="en-US" dirty="0"/>
              <a:t>To rank in real-time searches:</a:t>
            </a:r>
          </a:p>
          <a:p>
            <a:pPr lvl="1"/>
            <a:r>
              <a:rPr lang="en-US" dirty="0"/>
              <a:t>Stay </a:t>
            </a:r>
            <a:r>
              <a:rPr lang="en-US" b="1" dirty="0"/>
              <a:t>active</a:t>
            </a:r>
            <a:r>
              <a:rPr lang="en-US" dirty="0"/>
              <a:t> and </a:t>
            </a:r>
            <a:r>
              <a:rPr lang="en-US" b="1" dirty="0"/>
              <a:t>consistent</a:t>
            </a:r>
            <a:r>
              <a:rPr lang="en-US" dirty="0"/>
              <a:t> on multiple platforms.</a:t>
            </a:r>
          </a:p>
          <a:p>
            <a:pPr lvl="1"/>
            <a:r>
              <a:rPr lang="en-US" dirty="0"/>
              <a:t>Use </a:t>
            </a:r>
            <a:r>
              <a:rPr lang="en-US" b="1" dirty="0"/>
              <a:t>trending hashtags</a:t>
            </a:r>
            <a:r>
              <a:rPr lang="en-US" dirty="0"/>
              <a:t> and </a:t>
            </a:r>
            <a:r>
              <a:rPr lang="en-US" b="1" dirty="0"/>
              <a:t>relevant keywords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Monitor trends with </a:t>
            </a:r>
            <a:r>
              <a:rPr lang="en-US" b="1" dirty="0"/>
              <a:t>Google Trends</a:t>
            </a:r>
            <a:r>
              <a:rPr lang="en-US" dirty="0"/>
              <a:t> or similar tools.</a:t>
            </a:r>
          </a:p>
          <a:p>
            <a:r>
              <a:rPr lang="en-US" dirty="0"/>
              <a:t>Real-time visibility can improve </a:t>
            </a:r>
            <a:r>
              <a:rPr lang="en-US" b="1" dirty="0"/>
              <a:t>brand recognition</a:t>
            </a:r>
            <a:r>
              <a:rPr lang="en-US" dirty="0"/>
              <a:t>, </a:t>
            </a:r>
            <a:r>
              <a:rPr lang="en-US" b="1" dirty="0"/>
              <a:t>engagement</a:t>
            </a:r>
            <a:r>
              <a:rPr lang="en-US" dirty="0"/>
              <a:t>, and </a:t>
            </a:r>
            <a:r>
              <a:rPr lang="en-US" b="1" dirty="0"/>
              <a:t>traffic</a:t>
            </a:r>
            <a:r>
              <a:rPr lang="en-US" dirty="0"/>
              <a:t>—especially for </a:t>
            </a:r>
            <a:r>
              <a:rPr lang="en-US" b="1" dirty="0"/>
              <a:t>news, events, or fast-moving industries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2476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2484</Words>
  <Application>Microsoft Office PowerPoint</Application>
  <PresentationFormat>On-screen Show (4:3)</PresentationFormat>
  <Paragraphs>245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Tools and Optimizing Social Media</vt:lpstr>
      <vt:lpstr>Discovering Helpful Tech Tools</vt:lpstr>
      <vt:lpstr>PowerPoint Presentation</vt:lpstr>
      <vt:lpstr>Recommended Tech Tools and Resources</vt:lpstr>
      <vt:lpstr>PowerPoint Presentation</vt:lpstr>
      <vt:lpstr>PowerPoint Presentation</vt:lpstr>
      <vt:lpstr>PowerPoint Presentation</vt:lpstr>
      <vt:lpstr>Saving Time with Content Distribution Tools</vt:lpstr>
      <vt:lpstr>PowerPoint Presentation</vt:lpstr>
      <vt:lpstr>PowerPoint Presentation</vt:lpstr>
      <vt:lpstr>PowerPoint Presentation</vt:lpstr>
      <vt:lpstr>Snipping Ugly URLs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Using E-Commerce  Tools for Social Sites</vt:lpstr>
      <vt:lpstr>PowerPoint Presentation</vt:lpstr>
      <vt:lpstr>PowerPoint Presentation</vt:lpstr>
      <vt:lpstr>PowerPoint Presentation</vt:lpstr>
      <vt:lpstr>PowerPoint Presentation</vt:lpstr>
      <vt:lpstr>Optimizing Social Media for Search Engines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Gaining Visibility in Real-Time Search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PHN</dc:creator>
  <cp:lastModifiedBy>Sangeeta Nagpure</cp:lastModifiedBy>
  <cp:revision>46</cp:revision>
  <dcterms:created xsi:type="dcterms:W3CDTF">2006-08-16T00:00:00Z</dcterms:created>
  <dcterms:modified xsi:type="dcterms:W3CDTF">2025-10-28T06:52:15Z</dcterms:modified>
</cp:coreProperties>
</file>