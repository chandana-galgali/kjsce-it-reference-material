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299" r:id="rId66"/>
    <p:sldId id="300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-1456" y="-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Social-Media-Marketing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Social-Media-Marketing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Social-Media-Marketing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Social-Media-Marketing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Social-Media-Marketing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Social-Media-Marketing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Social-Media-Marketing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Social-Media-Marketing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593805" y="1031358"/>
            <a:ext cx="1998921" cy="5741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Social-Media-Marketing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Social-Media-Marketing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Social-Media-Marketing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Social-Media-Marketing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Social-Media-Marketing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Social-Media-Marketing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Social-Media-Marketing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Social-Media-Marketing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Social-Media-Marketing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Social-Media-Marketing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Social-Media-Marketing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Social-Media-Marketing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Social-Media-Marketing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Social-Media-Marketing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Social-Media-Marketing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Social-Media-Marketing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Social-Media-Marketing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Social-Media-Marketing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Social-Media-Marketing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Social-Media-Marketing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Social-Media-Marketing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Social-Media-Marketing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Social-Media-Marketing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Social-Media-Marketing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Social-Media-Marketing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Social-Media-Marketing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Social-Media-Marketing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Social-Media-Marketing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Social-Media-Marketing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Social-Media-Marketing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Social-Media-Marketing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Social-Media-Marketing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Social-Media-Marketing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Social-Media-Marketing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Social-Media-Marketing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Segmenting B2C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Market segmentation</a:t>
            </a:r>
            <a:r>
              <a:rPr lang="en-US" dirty="0"/>
              <a:t> is a key process in marketing where a large consumer market is divided into smaller, manageable groups that share similar characteristics, behaviors, or </a:t>
            </a:r>
            <a:r>
              <a:rPr lang="en-US" dirty="0" smtClean="0"/>
              <a:t>needs.</a:t>
            </a:r>
          </a:p>
          <a:p>
            <a:pPr algn="just"/>
            <a:r>
              <a:rPr lang="en-US" dirty="0" smtClean="0"/>
              <a:t>In </a:t>
            </a:r>
            <a:r>
              <a:rPr lang="en-US" b="1" dirty="0"/>
              <a:t>B2C (Business-to-Consumer)</a:t>
            </a:r>
            <a:r>
              <a:rPr lang="en-US" dirty="0"/>
              <a:t> marketing, segmentation helps companies identify and understand different types of consumers so that social media and promotional messages can be customized for each segment.</a:t>
            </a:r>
          </a:p>
          <a:p>
            <a:pPr algn="just"/>
            <a:r>
              <a:rPr lang="en-US" dirty="0"/>
              <a:t>The goal is to </a:t>
            </a:r>
            <a:r>
              <a:rPr lang="en-US" b="1" dirty="0"/>
              <a:t>reach the right people, with the right message, at the right time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5233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Types of B2C Segmentation</a:t>
            </a:r>
            <a:endParaRPr lang="en-IN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06423"/>
            <a:ext cx="8229600" cy="3513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51180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7834"/>
            <a:ext cx="8229600" cy="565833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</a:t>
            </a:r>
            <a:r>
              <a:rPr lang="en-US" b="1" dirty="0"/>
              <a:t>Demographic Segmentation</a:t>
            </a:r>
          </a:p>
          <a:p>
            <a:r>
              <a:rPr lang="en-US" dirty="0"/>
              <a:t>This is the </a:t>
            </a:r>
            <a:r>
              <a:rPr lang="en-US" b="1" dirty="0"/>
              <a:t>most common and simplest</a:t>
            </a:r>
            <a:r>
              <a:rPr lang="en-US" dirty="0"/>
              <a:t> form of segmentation. It divides consumers based on </a:t>
            </a:r>
            <a:r>
              <a:rPr lang="en-US" b="1" dirty="0"/>
              <a:t>quantifiable characteristics</a:t>
            </a:r>
            <a:r>
              <a:rPr lang="en-US" dirty="0"/>
              <a:t>, such as:</a:t>
            </a:r>
          </a:p>
          <a:p>
            <a:r>
              <a:rPr lang="en-US" b="1" dirty="0"/>
              <a:t>Age</a:t>
            </a:r>
            <a:r>
              <a:rPr lang="en-US" dirty="0"/>
              <a:t> (teens, adults, seniors)</a:t>
            </a:r>
          </a:p>
          <a:p>
            <a:r>
              <a:rPr lang="en-US" b="1" dirty="0"/>
              <a:t>Gender</a:t>
            </a:r>
            <a:r>
              <a:rPr lang="en-US" dirty="0"/>
              <a:t> (male, female, non-binary)</a:t>
            </a:r>
          </a:p>
          <a:p>
            <a:r>
              <a:rPr lang="en-US" b="1" dirty="0"/>
              <a:t>Income level</a:t>
            </a:r>
            <a:r>
              <a:rPr lang="en-US" dirty="0"/>
              <a:t> (low, middle, high)</a:t>
            </a:r>
          </a:p>
          <a:p>
            <a:r>
              <a:rPr lang="en-US" b="1" dirty="0"/>
              <a:t>Occupation and education</a:t>
            </a:r>
            <a:endParaRPr lang="en-US" dirty="0"/>
          </a:p>
          <a:p>
            <a:r>
              <a:rPr lang="en-US" b="1" dirty="0"/>
              <a:t>Family size and marital status</a:t>
            </a:r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cosmetics brand may target women aged 25–45 with higher income; a gaming company may focus on males aged 18–30.</a:t>
            </a:r>
          </a:p>
          <a:p>
            <a:r>
              <a:rPr lang="en-US" dirty="0" smtClean="0"/>
              <a:t> </a:t>
            </a:r>
            <a:r>
              <a:rPr lang="en-US" i="1" dirty="0"/>
              <a:t>Social Media Use:</a:t>
            </a:r>
            <a:r>
              <a:rPr lang="en-US" dirty="0"/>
              <a:t> Platforms like </a:t>
            </a:r>
            <a:r>
              <a:rPr lang="en-US" b="1" dirty="0"/>
              <a:t>Facebook Ads</a:t>
            </a:r>
            <a:r>
              <a:rPr lang="en-US" dirty="0"/>
              <a:t> or </a:t>
            </a:r>
            <a:r>
              <a:rPr lang="en-US" b="1" dirty="0"/>
              <a:t>Instagram Ads</a:t>
            </a:r>
            <a:r>
              <a:rPr lang="en-US" dirty="0"/>
              <a:t> allow targeting based on these demographics.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5846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7834"/>
            <a:ext cx="8229600" cy="565833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 Geographic Segmentation</a:t>
            </a:r>
          </a:p>
          <a:p>
            <a:r>
              <a:rPr lang="en-US" dirty="0"/>
              <a:t>This segmentation divides the market based on </a:t>
            </a:r>
            <a:r>
              <a:rPr lang="en-US" b="1" dirty="0"/>
              <a:t>location</a:t>
            </a:r>
            <a:r>
              <a:rPr lang="en-US" dirty="0"/>
              <a:t> such as:</a:t>
            </a:r>
          </a:p>
          <a:p>
            <a:r>
              <a:rPr lang="en-US" b="1" dirty="0"/>
              <a:t>Country, region, city, postal code, or climate zone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sunscreen brand targets tropical regions; a winter apparel company focuses on colder regions.</a:t>
            </a:r>
          </a:p>
          <a:p>
            <a:r>
              <a:rPr lang="en-US" i="1" dirty="0" smtClean="0"/>
              <a:t>Social </a:t>
            </a:r>
            <a:r>
              <a:rPr lang="en-US" i="1" dirty="0"/>
              <a:t>Media Use:</a:t>
            </a:r>
            <a:r>
              <a:rPr lang="en-US" dirty="0"/>
              <a:t> Marketers can target users by </a:t>
            </a:r>
            <a:r>
              <a:rPr lang="en-US" b="1" dirty="0"/>
              <a:t>geolocation</a:t>
            </a:r>
            <a:r>
              <a:rPr lang="en-US" dirty="0"/>
              <a:t>, </a:t>
            </a:r>
            <a:r>
              <a:rPr lang="en-US" b="1" dirty="0"/>
              <a:t>local hashtags</a:t>
            </a:r>
            <a:r>
              <a:rPr lang="en-US" dirty="0"/>
              <a:t>, or </a:t>
            </a:r>
            <a:r>
              <a:rPr lang="en-US" b="1" dirty="0"/>
              <a:t>location-based ads</a:t>
            </a:r>
            <a:r>
              <a:rPr lang="en-US" dirty="0"/>
              <a:t> (for example, “near me” searches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12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7834"/>
            <a:ext cx="8229600" cy="56583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500" b="1" dirty="0"/>
              <a:t> Geographic Segmentation</a:t>
            </a:r>
          </a:p>
          <a:p>
            <a:r>
              <a:rPr lang="en-US" sz="2500" b="1" dirty="0"/>
              <a:t>Life-Stage or Behavioral Segmentation</a:t>
            </a:r>
          </a:p>
          <a:p>
            <a:r>
              <a:rPr lang="en-US" sz="2500" dirty="0"/>
              <a:t>This approach focuses on </a:t>
            </a:r>
            <a:r>
              <a:rPr lang="en-US" sz="2500" b="1" dirty="0"/>
              <a:t>consumer behavior patterns</a:t>
            </a:r>
            <a:r>
              <a:rPr lang="en-US" sz="2500" dirty="0"/>
              <a:t> or </a:t>
            </a:r>
            <a:r>
              <a:rPr lang="en-US" sz="2500" b="1" dirty="0"/>
              <a:t>life stages</a:t>
            </a:r>
            <a:r>
              <a:rPr lang="en-US" sz="2500" dirty="0"/>
              <a:t> that affect buying habits.</a:t>
            </a:r>
            <a:br>
              <a:rPr lang="en-US" sz="2500" dirty="0"/>
            </a:br>
            <a:r>
              <a:rPr lang="en-US" sz="2500" dirty="0"/>
              <a:t>It includes:</a:t>
            </a:r>
          </a:p>
          <a:p>
            <a:r>
              <a:rPr lang="en-US" sz="2500" b="1" dirty="0"/>
              <a:t>Life events:</a:t>
            </a:r>
            <a:r>
              <a:rPr lang="en-US" sz="2500" dirty="0"/>
              <a:t> graduation, marriage, parenthood, retirement</a:t>
            </a:r>
          </a:p>
          <a:p>
            <a:r>
              <a:rPr lang="en-US" sz="2500" b="1" dirty="0"/>
              <a:t>Usage rate:</a:t>
            </a:r>
            <a:r>
              <a:rPr lang="en-US" sz="2500" dirty="0"/>
              <a:t> heavy, medium, or light users</a:t>
            </a:r>
          </a:p>
          <a:p>
            <a:r>
              <a:rPr lang="en-US" sz="2500" b="1" dirty="0"/>
              <a:t>Brand loyalty:</a:t>
            </a:r>
            <a:r>
              <a:rPr lang="en-US" sz="2500" dirty="0"/>
              <a:t> loyal vs. switchers</a:t>
            </a:r>
          </a:p>
          <a:p>
            <a:r>
              <a:rPr lang="en-US" sz="2500" b="1" dirty="0"/>
              <a:t>Example: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en-US" sz="2500" dirty="0"/>
              <a:t>Parents of toddlers often buy educational toys and baby care products, while retirees may seek travel offers.</a:t>
            </a:r>
          </a:p>
          <a:p>
            <a:r>
              <a:rPr lang="en-US" sz="2500" dirty="0"/>
              <a:t>📍 </a:t>
            </a:r>
            <a:r>
              <a:rPr lang="en-US" sz="2500" i="1" dirty="0"/>
              <a:t>Social Media Use:</a:t>
            </a:r>
            <a:r>
              <a:rPr lang="en-US" sz="2500" dirty="0"/>
              <a:t> Facebook segments audiences based on </a:t>
            </a:r>
            <a:r>
              <a:rPr lang="en-US" sz="2500" b="1" dirty="0"/>
              <a:t>life events</a:t>
            </a:r>
            <a:r>
              <a:rPr lang="en-US" sz="2500" dirty="0"/>
              <a:t> (such as “newly engaged” or “just moved”).</a:t>
            </a:r>
          </a:p>
        </p:txBody>
      </p:sp>
    </p:spTree>
    <p:extLst>
      <p:ext uri="{BB962C8B-B14F-4D97-AF65-F5344CB8AC3E}">
        <p14:creationId xmlns:p14="http://schemas.microsoft.com/office/powerpoint/2010/main" val="9072610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7834"/>
            <a:ext cx="8229600" cy="56583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500" b="1" dirty="0"/>
              <a:t> Psychographic Segmentation</a:t>
            </a:r>
          </a:p>
          <a:p>
            <a:r>
              <a:rPr lang="en-US" sz="2500" dirty="0"/>
              <a:t>This focuses on </a:t>
            </a:r>
            <a:r>
              <a:rPr lang="en-US" sz="2500" b="1" dirty="0"/>
              <a:t>values, attitudes, interests, and lifestyles (AIOs)</a:t>
            </a:r>
            <a:r>
              <a:rPr lang="en-US" sz="2500" dirty="0"/>
              <a:t> — understanding </a:t>
            </a:r>
            <a:r>
              <a:rPr lang="en-US" sz="2500" b="1" dirty="0"/>
              <a:t>why</a:t>
            </a:r>
            <a:r>
              <a:rPr lang="en-US" sz="2500" dirty="0"/>
              <a:t> people buy.</a:t>
            </a:r>
            <a:br>
              <a:rPr lang="en-US" sz="2500" dirty="0"/>
            </a:br>
            <a:r>
              <a:rPr lang="en-US" sz="2500" dirty="0"/>
              <a:t>It involves classifying people by:</a:t>
            </a:r>
          </a:p>
          <a:p>
            <a:r>
              <a:rPr lang="en-US" sz="2500" b="1" dirty="0"/>
              <a:t>Personality traits</a:t>
            </a:r>
            <a:r>
              <a:rPr lang="en-US" sz="2500" dirty="0"/>
              <a:t> (adventurous, practical, ambitious)</a:t>
            </a:r>
          </a:p>
          <a:p>
            <a:r>
              <a:rPr lang="en-US" sz="2500" b="1" dirty="0"/>
              <a:t>Motives and aspirations</a:t>
            </a:r>
            <a:endParaRPr lang="en-US" sz="2500" dirty="0"/>
          </a:p>
          <a:p>
            <a:r>
              <a:rPr lang="en-US" sz="2500" b="1" dirty="0"/>
              <a:t>Social class and lifestyle choices</a:t>
            </a:r>
            <a:endParaRPr lang="en-US" sz="2500" dirty="0"/>
          </a:p>
          <a:p>
            <a:r>
              <a:rPr lang="en-US" sz="2500" b="1" dirty="0"/>
              <a:t>Example: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en-US" sz="2500" dirty="0"/>
              <a:t>Adventure travelers look for outdoor gear and experiences, while eco-conscious buyers prefer sustainable brands.</a:t>
            </a:r>
          </a:p>
          <a:p>
            <a:r>
              <a:rPr lang="en-US" sz="2500" dirty="0"/>
              <a:t>📍 </a:t>
            </a:r>
            <a:r>
              <a:rPr lang="en-US" sz="2500" i="1" dirty="0"/>
              <a:t>Social Media Use:</a:t>
            </a:r>
            <a:r>
              <a:rPr lang="en-US" sz="2500" dirty="0"/>
              <a:t> Psychographic targeting is used to align content tone — e.g., inspirational posts for achievers, humorous ones for trendsetters.</a:t>
            </a:r>
          </a:p>
        </p:txBody>
      </p:sp>
    </p:spTree>
    <p:extLst>
      <p:ext uri="{BB962C8B-B14F-4D97-AF65-F5344CB8AC3E}">
        <p14:creationId xmlns:p14="http://schemas.microsoft.com/office/powerpoint/2010/main" val="2263590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7834"/>
            <a:ext cx="8229600" cy="56583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500" b="1" dirty="0"/>
              <a:t> </a:t>
            </a:r>
            <a:r>
              <a:rPr lang="en-US" sz="2800" b="1" dirty="0"/>
              <a:t>Affinity or Interest Group Segmentation</a:t>
            </a:r>
          </a:p>
          <a:p>
            <a:r>
              <a:rPr lang="en-US" sz="2800" dirty="0"/>
              <a:t>This segmentation focuses on </a:t>
            </a:r>
            <a:r>
              <a:rPr lang="en-US" sz="2800" b="1" dirty="0"/>
              <a:t>shared passions, hobbies, and communities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People naturally cluster into online groups or networks around similar interests — sports, reading, fitness, gaming, etc.</a:t>
            </a:r>
          </a:p>
          <a:p>
            <a:r>
              <a:rPr lang="en-US" sz="2800" b="1" dirty="0"/>
              <a:t>Example: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A fitness brand targets “yoga lovers” or “cyclists” on Instagram or Facebook groups.</a:t>
            </a:r>
          </a:p>
          <a:p>
            <a:r>
              <a:rPr lang="en-US" sz="2800" i="1" dirty="0" smtClean="0"/>
              <a:t>Social </a:t>
            </a:r>
            <a:r>
              <a:rPr lang="en-US" sz="2800" i="1" dirty="0"/>
              <a:t>Media Use:</a:t>
            </a:r>
            <a:r>
              <a:rPr lang="en-US" sz="2800" dirty="0"/>
              <a:t> Platforms like </a:t>
            </a:r>
            <a:r>
              <a:rPr lang="en-US" sz="2800" b="1" dirty="0"/>
              <a:t>LinkedIn Groups</a:t>
            </a:r>
            <a:r>
              <a:rPr lang="en-US" sz="2800" dirty="0"/>
              <a:t>, </a:t>
            </a:r>
            <a:r>
              <a:rPr lang="en-US" sz="2800" b="1" dirty="0"/>
              <a:t>Facebook Groups</a:t>
            </a:r>
            <a:r>
              <a:rPr lang="en-US" sz="2800" dirty="0"/>
              <a:t>, and </a:t>
            </a:r>
            <a:r>
              <a:rPr lang="en-US" sz="2800" b="1" dirty="0"/>
              <a:t>Reddit communities</a:t>
            </a:r>
            <a:r>
              <a:rPr lang="en-US" sz="2800" dirty="0"/>
              <a:t> are valuable for affinity targeting.</a:t>
            </a:r>
          </a:p>
        </p:txBody>
      </p:sp>
    </p:spTree>
    <p:extLst>
      <p:ext uri="{BB962C8B-B14F-4D97-AF65-F5344CB8AC3E}">
        <p14:creationId xmlns:p14="http://schemas.microsoft.com/office/powerpoint/2010/main" val="41426255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7834"/>
            <a:ext cx="8229600" cy="56583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b="1" dirty="0"/>
              <a:t> </a:t>
            </a:r>
            <a:r>
              <a:rPr lang="en-US" sz="2600" b="1" dirty="0" smtClean="0"/>
              <a:t>Advantages:</a:t>
            </a:r>
            <a:endParaRPr lang="en-US" sz="2600" b="1" dirty="0"/>
          </a:p>
          <a:p>
            <a:r>
              <a:rPr lang="en-US" sz="2600" dirty="0"/>
              <a:t>Helps identify </a:t>
            </a:r>
            <a:r>
              <a:rPr lang="en-US" sz="2600" b="1" dirty="0"/>
              <a:t>niche markets</a:t>
            </a:r>
            <a:r>
              <a:rPr lang="en-US" sz="2600" dirty="0"/>
              <a:t> within the broader audience.</a:t>
            </a:r>
          </a:p>
          <a:p>
            <a:r>
              <a:rPr lang="en-US" sz="2600" dirty="0"/>
              <a:t>Allows </a:t>
            </a:r>
            <a:r>
              <a:rPr lang="en-US" sz="2600" b="1" dirty="0"/>
              <a:t>personalized marketing</a:t>
            </a:r>
            <a:r>
              <a:rPr lang="en-US" sz="2600" dirty="0"/>
              <a:t> and improved </a:t>
            </a:r>
            <a:r>
              <a:rPr lang="en-US" sz="2600" b="1" dirty="0"/>
              <a:t>customer engagement</a:t>
            </a:r>
            <a:r>
              <a:rPr lang="en-US" sz="2600" dirty="0"/>
              <a:t>.</a:t>
            </a:r>
          </a:p>
          <a:p>
            <a:r>
              <a:rPr lang="en-US" sz="2600" dirty="0"/>
              <a:t>Improves </a:t>
            </a:r>
            <a:r>
              <a:rPr lang="en-US" sz="2600" b="1" dirty="0"/>
              <a:t>ad performance</a:t>
            </a:r>
            <a:r>
              <a:rPr lang="en-US" sz="2600" dirty="0"/>
              <a:t> and </a:t>
            </a:r>
            <a:r>
              <a:rPr lang="en-US" sz="2600" b="1" dirty="0"/>
              <a:t>ROI</a:t>
            </a:r>
            <a:r>
              <a:rPr lang="en-US" sz="2600" dirty="0"/>
              <a:t> by targeting precise consumer clusters.</a:t>
            </a:r>
          </a:p>
          <a:p>
            <a:r>
              <a:rPr lang="en-US" sz="2600" dirty="0"/>
              <a:t>Supports </a:t>
            </a:r>
            <a:r>
              <a:rPr lang="en-US" sz="2600" b="1" dirty="0"/>
              <a:t>better content creation</a:t>
            </a:r>
            <a:r>
              <a:rPr lang="en-US" sz="2600" dirty="0"/>
              <a:t> — tone, style, and platform use differ for each segment.</a:t>
            </a:r>
          </a:p>
          <a:p>
            <a:r>
              <a:rPr lang="en-US" sz="2600" b="1" dirty="0"/>
              <a:t>Example: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>A luxury brand will use elegant imagery and exclusive offers, while a youth-focused brand uses humor and trending challenges.</a:t>
            </a:r>
          </a:p>
        </p:txBody>
      </p:sp>
    </p:spTree>
    <p:extLst>
      <p:ext uri="{BB962C8B-B14F-4D97-AF65-F5344CB8AC3E}">
        <p14:creationId xmlns:p14="http://schemas.microsoft.com/office/powerpoint/2010/main" val="2555794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Researching B2B Markets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b="1" dirty="0" smtClean="0"/>
              <a:t>Business-to-Business </a:t>
            </a:r>
            <a:r>
              <a:rPr lang="en-US" sz="2700" b="1" dirty="0"/>
              <a:t>(B2B) market research</a:t>
            </a:r>
            <a:r>
              <a:rPr lang="en-US" sz="2700" dirty="0"/>
              <a:t> focuses on understanding how companies buy products or services from other </a:t>
            </a:r>
            <a:r>
              <a:rPr lang="en-US" sz="2700" dirty="0" smtClean="0"/>
              <a:t>companies.</a:t>
            </a:r>
          </a:p>
          <a:p>
            <a:r>
              <a:rPr lang="en-US" sz="2700" dirty="0" smtClean="0"/>
              <a:t>Unlike </a:t>
            </a:r>
            <a:r>
              <a:rPr lang="en-US" sz="2700" b="1" dirty="0"/>
              <a:t>B2C (Business-to-Consumer)</a:t>
            </a:r>
            <a:r>
              <a:rPr lang="en-US" sz="2700" dirty="0"/>
              <a:t> markets — where individuals make purchase decisions — </a:t>
            </a:r>
            <a:r>
              <a:rPr lang="en-US" sz="2700" b="1" dirty="0"/>
              <a:t>B2B buying involves multiple decision-makers, longer sales cycles, and higher-value transactions.</a:t>
            </a:r>
            <a:endParaRPr lang="en-US" sz="2700" dirty="0"/>
          </a:p>
          <a:p>
            <a:r>
              <a:rPr lang="en-US" sz="2700" dirty="0"/>
              <a:t>Therefore, </a:t>
            </a:r>
            <a:r>
              <a:rPr lang="en-US" sz="2700" b="1" dirty="0"/>
              <a:t>social media strategies for B2B marketing</a:t>
            </a:r>
            <a:r>
              <a:rPr lang="en-US" sz="2700" dirty="0"/>
              <a:t> must focus more on </a:t>
            </a:r>
            <a:r>
              <a:rPr lang="en-US" sz="2700" b="1" dirty="0"/>
              <a:t>relationships, trust, credibility, and expertise</a:t>
            </a:r>
            <a:r>
              <a:rPr lang="en-US" sz="2700" dirty="0"/>
              <a:t> rather than direct selling</a:t>
            </a:r>
            <a:r>
              <a:rPr lang="en-US" sz="2700" dirty="0" smtClean="0"/>
              <a:t>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6035985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8586"/>
            <a:ext cx="8229600" cy="547757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Key Characteristics of B2B Marketing</a:t>
            </a:r>
            <a:endParaRPr lang="en-US" sz="2500" b="1" dirty="0" smtClean="0"/>
          </a:p>
          <a:p>
            <a:r>
              <a:rPr lang="en-US" sz="2500" b="1" dirty="0" smtClean="0"/>
              <a:t>Longer </a:t>
            </a:r>
            <a:r>
              <a:rPr lang="en-US" sz="2500" b="1" dirty="0"/>
              <a:t>Sales Cycle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en-US" sz="2500" dirty="0"/>
              <a:t>Purchases often take weeks or months and involve </a:t>
            </a:r>
            <a:r>
              <a:rPr lang="en-US" sz="2500" b="1" dirty="0"/>
              <a:t>evaluation, approval, and negotiation</a:t>
            </a:r>
            <a:r>
              <a:rPr lang="en-US" sz="2500" dirty="0"/>
              <a:t> steps.</a:t>
            </a:r>
          </a:p>
          <a:p>
            <a:r>
              <a:rPr lang="en-US" sz="2500" b="1" dirty="0"/>
              <a:t>Multiple Decision-Makers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en-US" sz="2500" dirty="0"/>
              <a:t>Buying decisions are made by a </a:t>
            </a:r>
            <a:r>
              <a:rPr lang="en-US" sz="2500" b="1" dirty="0"/>
              <a:t>team</a:t>
            </a:r>
            <a:r>
              <a:rPr lang="en-US" sz="2500" dirty="0"/>
              <a:t> — such as executives, managers, and technical staff — not just one person.</a:t>
            </a:r>
          </a:p>
          <a:p>
            <a:r>
              <a:rPr lang="en-US" sz="2500" b="1" dirty="0"/>
              <a:t>High-Value Purchases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en-US" sz="2500" dirty="0"/>
              <a:t>Products or services often represent </a:t>
            </a:r>
            <a:r>
              <a:rPr lang="en-US" sz="2500" b="1" dirty="0"/>
              <a:t>significant financial investment</a:t>
            </a:r>
            <a:r>
              <a:rPr lang="en-US" sz="2500" dirty="0"/>
              <a:t> (e.g., software systems, machinery, consulting).</a:t>
            </a:r>
          </a:p>
          <a:p>
            <a:r>
              <a:rPr lang="en-US" sz="2500" b="1" dirty="0"/>
              <a:t>Focus on Relationships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en-US" sz="2500" dirty="0"/>
              <a:t>Companies value </a:t>
            </a:r>
            <a:r>
              <a:rPr lang="en-US" sz="2500" b="1" dirty="0"/>
              <a:t>trust, credibility, and problem-solving ability</a:t>
            </a:r>
            <a:r>
              <a:rPr lang="en-US" sz="2500" dirty="0"/>
              <a:t> more than flashy ads.</a:t>
            </a:r>
          </a:p>
        </p:txBody>
      </p:sp>
    </p:spTree>
    <p:extLst>
      <p:ext uri="{BB962C8B-B14F-4D97-AF65-F5344CB8AC3E}">
        <p14:creationId xmlns:p14="http://schemas.microsoft.com/office/powerpoint/2010/main" val="11530536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0606"/>
            <a:ext cx="8229600" cy="527555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b="1" dirty="0"/>
              <a:t>B2B Research Objectives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goal of researching B2B markets is to:</a:t>
            </a:r>
          </a:p>
          <a:p>
            <a:r>
              <a:rPr lang="en-US" sz="2800" dirty="0"/>
              <a:t>Identify </a:t>
            </a:r>
            <a:r>
              <a:rPr lang="en-US" sz="2800" b="1" dirty="0"/>
              <a:t>who</a:t>
            </a:r>
            <a:r>
              <a:rPr lang="en-US" sz="2800" dirty="0"/>
              <a:t> the decision-makers are,</a:t>
            </a:r>
          </a:p>
          <a:p>
            <a:r>
              <a:rPr lang="en-US" sz="2800" dirty="0"/>
              <a:t>Understand </a:t>
            </a:r>
            <a:r>
              <a:rPr lang="en-US" sz="2800" b="1" dirty="0"/>
              <a:t>what influences their buying process</a:t>
            </a:r>
            <a:r>
              <a:rPr lang="en-US" sz="2800" dirty="0"/>
              <a:t>, and</a:t>
            </a:r>
          </a:p>
          <a:p>
            <a:r>
              <a:rPr lang="en-US" sz="2800" dirty="0"/>
              <a:t>Find </a:t>
            </a:r>
            <a:r>
              <a:rPr lang="en-US" sz="2800" b="1" dirty="0"/>
              <a:t>which social media platforms</a:t>
            </a:r>
            <a:r>
              <a:rPr lang="en-US" sz="2800" dirty="0"/>
              <a:t> they use most frequently.</a:t>
            </a:r>
          </a:p>
        </p:txBody>
      </p:sp>
    </p:spTree>
    <p:extLst>
      <p:ext uri="{BB962C8B-B14F-4D97-AF65-F5344CB8AC3E}">
        <p14:creationId xmlns:p14="http://schemas.microsoft.com/office/powerpoint/2010/main" val="39652910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3647"/>
            <a:ext cx="8229600" cy="576284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/>
              <a:t>Using Social Media for B2B Research</a:t>
            </a:r>
            <a:endParaRPr lang="en-US" sz="2300" b="1" dirty="0" smtClean="0"/>
          </a:p>
          <a:p>
            <a:r>
              <a:rPr lang="en-US" sz="2300" b="1" dirty="0" smtClean="0"/>
              <a:t>LinkedIn</a:t>
            </a:r>
            <a:r>
              <a:rPr lang="en-US" sz="2300" dirty="0" smtClean="0"/>
              <a:t> </a:t>
            </a:r>
            <a:r>
              <a:rPr lang="en-US" sz="2300" dirty="0"/>
              <a:t>– The most powerful professional platform for identifying key decision-makers, company pages, and networking groups.</a:t>
            </a:r>
          </a:p>
          <a:p>
            <a:r>
              <a:rPr lang="en-US" sz="2300" b="1" dirty="0"/>
              <a:t>Networking for Professionals (NFP)</a:t>
            </a:r>
            <a:r>
              <a:rPr lang="en-US" sz="2300" dirty="0"/>
              <a:t> – A site for connecting business professionals in specific industries.</a:t>
            </a:r>
          </a:p>
          <a:p>
            <a:r>
              <a:rPr lang="en-US" sz="2300" b="1" dirty="0" err="1"/>
              <a:t>SitePoint</a:t>
            </a:r>
            <a:r>
              <a:rPr lang="en-US" sz="2300" b="1" dirty="0"/>
              <a:t> and other B2B directories</a:t>
            </a:r>
            <a:r>
              <a:rPr lang="en-US" sz="2300" dirty="0"/>
              <a:t> – Useful for researching niche industries and company networks.</a:t>
            </a:r>
          </a:p>
          <a:p>
            <a:r>
              <a:rPr lang="en-US" sz="2300" b="1" dirty="0" err="1"/>
              <a:t>Quantcast</a:t>
            </a:r>
            <a:r>
              <a:rPr lang="en-US" sz="2300" b="1" dirty="0"/>
              <a:t>, Alexa, and Google Trends</a:t>
            </a:r>
            <a:r>
              <a:rPr lang="en-US" sz="2300" dirty="0"/>
              <a:t> – Tools that provide data on </a:t>
            </a:r>
            <a:r>
              <a:rPr lang="en-US" sz="2300" b="1" dirty="0"/>
              <a:t>audience demographics, traffic, and engagement trends</a:t>
            </a:r>
            <a:r>
              <a:rPr lang="en-US" sz="2300" dirty="0"/>
              <a:t> for B2B-focused websites.</a:t>
            </a:r>
          </a:p>
          <a:p>
            <a:r>
              <a:rPr lang="en-US" sz="2300" b="1" dirty="0"/>
              <a:t>Content Marketing Institute Reports</a:t>
            </a:r>
            <a:r>
              <a:rPr lang="en-US" sz="2300" dirty="0"/>
              <a:t> – Highlight how more than </a:t>
            </a:r>
            <a:r>
              <a:rPr lang="en-US" sz="2300" b="1" dirty="0"/>
              <a:t>93% of B2B marketers</a:t>
            </a:r>
            <a:r>
              <a:rPr lang="en-US" sz="2300" dirty="0"/>
              <a:t> use social media to promote their products or services.</a:t>
            </a:r>
          </a:p>
        </p:txBody>
      </p:sp>
    </p:spTree>
    <p:extLst>
      <p:ext uri="{BB962C8B-B14F-4D97-AF65-F5344CB8AC3E}">
        <p14:creationId xmlns:p14="http://schemas.microsoft.com/office/powerpoint/2010/main" val="24259503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2382"/>
            <a:ext cx="8229600" cy="523122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600" b="1" dirty="0"/>
              <a:t>Social Media Focus for B2B</a:t>
            </a:r>
            <a:endParaRPr lang="en-US" sz="2600" b="1" dirty="0" smtClean="0"/>
          </a:p>
          <a:p>
            <a:r>
              <a:rPr lang="en-US" sz="2600" dirty="0"/>
              <a:t>B2B companies use social media mainly for:</a:t>
            </a:r>
          </a:p>
          <a:p>
            <a:r>
              <a:rPr lang="en-US" sz="2600" b="1" dirty="0"/>
              <a:t>Branding</a:t>
            </a:r>
            <a:r>
              <a:rPr lang="en-US" sz="2600" dirty="0"/>
              <a:t> and </a:t>
            </a:r>
            <a:r>
              <a:rPr lang="en-US" sz="2600" b="1" dirty="0"/>
              <a:t>top-of-mind visibility</a:t>
            </a:r>
            <a:endParaRPr lang="en-US" sz="2600" dirty="0"/>
          </a:p>
          <a:p>
            <a:r>
              <a:rPr lang="en-US" sz="2600" b="1" dirty="0"/>
              <a:t>Customer support and loyalty</a:t>
            </a:r>
            <a:endParaRPr lang="en-US" sz="2600" dirty="0"/>
          </a:p>
          <a:p>
            <a:r>
              <a:rPr lang="en-US" sz="2600" b="1" dirty="0"/>
              <a:t>Thought leadership</a:t>
            </a:r>
            <a:r>
              <a:rPr lang="en-US" sz="2600" dirty="0"/>
              <a:t> (e.g., publishing industry insights)</a:t>
            </a:r>
          </a:p>
          <a:p>
            <a:r>
              <a:rPr lang="en-US" sz="2600" b="1" dirty="0"/>
              <a:t>Problem-solving</a:t>
            </a:r>
            <a:r>
              <a:rPr lang="en-US" sz="2600" dirty="0"/>
              <a:t> through content (e.g., case studies, how-to guides)</a:t>
            </a:r>
          </a:p>
          <a:p>
            <a:r>
              <a:rPr lang="en-US" sz="2600" i="1" dirty="0"/>
              <a:t>Unlike B2C marketing — which is often sales-driven — B2B marketing builds authority and long-term trust</a:t>
            </a:r>
            <a:r>
              <a:rPr lang="en-US" sz="2600" i="1" dirty="0" smtClean="0"/>
              <a:t>.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6596485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2382"/>
            <a:ext cx="8229600" cy="523122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600" b="1" dirty="0" smtClean="0"/>
              <a:t>Example:</a:t>
            </a:r>
            <a:endParaRPr lang="en-US" sz="2600" i="1" dirty="0" smtClean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1265274"/>
            <a:ext cx="4250144" cy="501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316279" y="1397675"/>
            <a:ext cx="344494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B2B companies</a:t>
            </a:r>
            <a:r>
              <a:rPr lang="en-US" sz="2400" dirty="0"/>
              <a:t> tend to use </a:t>
            </a:r>
            <a:r>
              <a:rPr lang="en-US" sz="2400" b="1" dirty="0"/>
              <a:t>LinkedIn, Twitter, and blogs</a:t>
            </a:r>
            <a:r>
              <a:rPr lang="en-US" sz="2400" dirty="0"/>
              <a:t> more,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While </a:t>
            </a:r>
            <a:r>
              <a:rPr lang="en-US" sz="2400" b="1" dirty="0"/>
              <a:t>B2C companies</a:t>
            </a:r>
            <a:r>
              <a:rPr lang="en-US" sz="2400" dirty="0"/>
              <a:t> prefer </a:t>
            </a:r>
            <a:r>
              <a:rPr lang="en-US" sz="2400" b="1" dirty="0"/>
              <a:t>Facebook, Instagram, and YouTube.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demonstrates how social media channel selection depends on </a:t>
            </a:r>
            <a:r>
              <a:rPr lang="en-US" sz="2400" b="1" dirty="0"/>
              <a:t>target audience, industry type, and business goals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4001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Conducting Other </a:t>
            </a:r>
            <a:br>
              <a:rPr lang="en-US" b="1" dirty="0"/>
            </a:br>
            <a:r>
              <a:rPr lang="en-US" b="1" dirty="0"/>
              <a:t>Types of Market Research Online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book explains that online research is </a:t>
            </a:r>
            <a:r>
              <a:rPr lang="en-US" b="1" dirty="0"/>
              <a:t>essential for understanding audience behavior</a:t>
            </a:r>
            <a:r>
              <a:rPr lang="en-US" dirty="0"/>
              <a:t>, </a:t>
            </a:r>
            <a:r>
              <a:rPr lang="en-US" b="1" dirty="0"/>
              <a:t>identifying influencers</a:t>
            </a:r>
            <a:r>
              <a:rPr lang="en-US" dirty="0"/>
              <a:t>, and </a:t>
            </a:r>
            <a:r>
              <a:rPr lang="en-US" b="1" dirty="0"/>
              <a:t>choosing the best social media </a:t>
            </a:r>
            <a:r>
              <a:rPr lang="en-US" b="1" dirty="0" smtClean="0"/>
              <a:t>strategies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With </a:t>
            </a:r>
            <a:r>
              <a:rPr lang="en-US" dirty="0"/>
              <a:t>the vast amount of data available online, marketers must </a:t>
            </a:r>
            <a:r>
              <a:rPr lang="en-US" b="1" dirty="0"/>
              <a:t>focus their efforts efficiently</a:t>
            </a:r>
            <a:r>
              <a:rPr lang="en-US" dirty="0"/>
              <a:t> rather than getting lost in excessive information.</a:t>
            </a:r>
          </a:p>
          <a:p>
            <a:r>
              <a:rPr lang="en-US" dirty="0"/>
              <a:t>You don’t need to perform academic-level research; instead, focus on </a:t>
            </a:r>
            <a:r>
              <a:rPr lang="en-US" b="1" dirty="0"/>
              <a:t>practical, business-oriented research</a:t>
            </a:r>
            <a:r>
              <a:rPr lang="en-US" dirty="0"/>
              <a:t> that supports decision-making and marketing execution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209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0364"/>
            <a:ext cx="8229600" cy="561580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 Start </a:t>
            </a:r>
            <a:r>
              <a:rPr lang="en-US" b="1" dirty="0"/>
              <a:t>with a Strategic Plan</a:t>
            </a:r>
          </a:p>
          <a:p>
            <a:r>
              <a:rPr lang="en-US" dirty="0"/>
              <a:t>Before diving into online research, set clear goals:</a:t>
            </a:r>
          </a:p>
          <a:p>
            <a:r>
              <a:rPr lang="en-US" dirty="0"/>
              <a:t>What information do you need (e.g., audience, competitors, influencers)?</a:t>
            </a:r>
          </a:p>
          <a:p>
            <a:r>
              <a:rPr lang="en-US" dirty="0"/>
              <a:t>How will this information improve your marketing strategy?</a:t>
            </a:r>
          </a:p>
          <a:p>
            <a:r>
              <a:rPr lang="en-US" dirty="0"/>
              <a:t>What online platforms or tools best serve your purpose?</a:t>
            </a:r>
          </a:p>
          <a:p>
            <a:r>
              <a:rPr lang="en-US" dirty="0"/>
              <a:t>Set aside a specific time (a week or two) for focused research before launching your campaigns.</a:t>
            </a:r>
          </a:p>
        </p:txBody>
      </p:sp>
    </p:spTree>
    <p:extLst>
      <p:ext uri="{BB962C8B-B14F-4D97-AF65-F5344CB8AC3E}">
        <p14:creationId xmlns:p14="http://schemas.microsoft.com/office/powerpoint/2010/main" val="2853682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0364"/>
            <a:ext cx="8229600" cy="5615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500" b="1" dirty="0"/>
              <a:t> Practical Market Research </a:t>
            </a:r>
            <a:r>
              <a:rPr lang="en-US" sz="2500" b="1" dirty="0" smtClean="0"/>
              <a:t>Focus</a:t>
            </a:r>
          </a:p>
          <a:p>
            <a:pPr marL="0" indent="0">
              <a:buNone/>
            </a:pPr>
            <a:r>
              <a:rPr lang="en-US" sz="2500" dirty="0" smtClean="0"/>
              <a:t>This emphasizes </a:t>
            </a:r>
            <a:r>
              <a:rPr lang="en-US" sz="2500" dirty="0"/>
              <a:t>two key research areas:</a:t>
            </a:r>
          </a:p>
          <a:p>
            <a:pPr marL="0" indent="0">
              <a:buNone/>
            </a:pPr>
            <a:r>
              <a:rPr lang="en-US" sz="2500" b="1" dirty="0"/>
              <a:t>a) Identifying Influential Sites and Users</a:t>
            </a:r>
          </a:p>
          <a:p>
            <a:r>
              <a:rPr lang="en-US" sz="2500" dirty="0"/>
              <a:t>Identify </a:t>
            </a:r>
            <a:r>
              <a:rPr lang="en-US" sz="2500" b="1" dirty="0"/>
              <a:t>top influencers</a:t>
            </a:r>
            <a:r>
              <a:rPr lang="en-US" sz="2500" dirty="0"/>
              <a:t>—individuals or companies who drive conversations in your industry.</a:t>
            </a:r>
          </a:p>
          <a:p>
            <a:r>
              <a:rPr lang="en-US" sz="2500" dirty="0"/>
              <a:t>Study their </a:t>
            </a:r>
            <a:r>
              <a:rPr lang="en-US" sz="2500" b="1" dirty="0"/>
              <a:t>content type</a:t>
            </a:r>
            <a:r>
              <a:rPr lang="en-US" sz="2500" dirty="0"/>
              <a:t>, </a:t>
            </a:r>
            <a:r>
              <a:rPr lang="en-US" sz="2500" b="1" dirty="0"/>
              <a:t>frequency of posting</a:t>
            </a:r>
            <a:r>
              <a:rPr lang="en-US" sz="2500" dirty="0"/>
              <a:t>, </a:t>
            </a:r>
            <a:r>
              <a:rPr lang="en-US" sz="2500" b="1" dirty="0"/>
              <a:t>engagement rate</a:t>
            </a:r>
            <a:r>
              <a:rPr lang="en-US" sz="2500" dirty="0"/>
              <a:t>, and </a:t>
            </a:r>
            <a:r>
              <a:rPr lang="en-US" sz="2500" b="1" dirty="0"/>
              <a:t>follower base</a:t>
            </a:r>
            <a:r>
              <a:rPr lang="en-US" sz="2500" dirty="0"/>
              <a:t>.</a:t>
            </a:r>
          </a:p>
          <a:p>
            <a:r>
              <a:rPr lang="en-US" sz="2500" dirty="0"/>
              <a:t>Use tools like:</a:t>
            </a:r>
          </a:p>
          <a:p>
            <a:pPr lvl="1"/>
            <a:r>
              <a:rPr lang="en-US" sz="2500" b="1" dirty="0" err="1"/>
              <a:t>Twitaholic</a:t>
            </a:r>
            <a:r>
              <a:rPr lang="en-US" sz="2500" b="1" dirty="0"/>
              <a:t> (twitaholic.com)</a:t>
            </a:r>
            <a:r>
              <a:rPr lang="en-US" sz="2500" dirty="0"/>
              <a:t> — ranks Twitter users by followers and activity.</a:t>
            </a:r>
          </a:p>
          <a:p>
            <a:pPr lvl="1"/>
            <a:r>
              <a:rPr lang="en-US" sz="2500" b="1" dirty="0" err="1"/>
              <a:t>Brandwatch</a:t>
            </a:r>
            <a:r>
              <a:rPr lang="en-US" sz="2500" dirty="0"/>
              <a:t> and </a:t>
            </a:r>
            <a:r>
              <a:rPr lang="en-US" sz="2500" b="1" dirty="0"/>
              <a:t>Ragan</a:t>
            </a:r>
            <a:r>
              <a:rPr lang="en-US" sz="2500" dirty="0"/>
              <a:t> — help find industry influencers.</a:t>
            </a:r>
          </a:p>
          <a:p>
            <a:r>
              <a:rPr lang="en-US" sz="2500" b="1" dirty="0"/>
              <a:t>Insight:</a:t>
            </a:r>
            <a:r>
              <a:rPr lang="en-US" sz="2500" dirty="0"/>
              <a:t> The most frequent posters are not always the most influential; influence comes from engagement, not volume</a:t>
            </a:r>
            <a:r>
              <a:rPr lang="en-US" sz="2500" dirty="0" smtClean="0"/>
              <a:t>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373646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0364"/>
            <a:ext cx="8229600" cy="561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/>
              <a:t>b) Understanding Audience Motivation</a:t>
            </a:r>
          </a:p>
          <a:p>
            <a:r>
              <a:rPr lang="en-US" sz="2500" dirty="0"/>
              <a:t>Analyze </a:t>
            </a:r>
            <a:r>
              <a:rPr lang="en-US" sz="2500" b="1" dirty="0"/>
              <a:t>why people use certain platforms</a:t>
            </a:r>
            <a:r>
              <a:rPr lang="en-US" sz="2500" dirty="0"/>
              <a:t> — entertainment, information, community, or self-promotion.</a:t>
            </a:r>
          </a:p>
          <a:p>
            <a:r>
              <a:rPr lang="en-US" sz="2500" dirty="0"/>
              <a:t>Align your brand’s tone and content with audience motivation.</a:t>
            </a:r>
          </a:p>
          <a:p>
            <a:pPr lvl="1"/>
            <a:r>
              <a:rPr lang="en-US" sz="2500" dirty="0"/>
              <a:t>Example: Users on LinkedIn seek professional content, while Instagram users prefer visuals and creativity.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1252135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0364"/>
            <a:ext cx="8229600" cy="5615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 smtClean="0"/>
              <a:t> Experiment </a:t>
            </a:r>
            <a:r>
              <a:rPr lang="en-US" sz="2800" b="1" dirty="0"/>
              <a:t>and Learn</a:t>
            </a:r>
          </a:p>
          <a:p>
            <a:r>
              <a:rPr lang="en-US" sz="2800" dirty="0"/>
              <a:t>Test strategies on a </a:t>
            </a:r>
            <a:r>
              <a:rPr lang="en-US" sz="2800" b="1" dirty="0"/>
              <a:t>small scale first</a:t>
            </a:r>
            <a:r>
              <a:rPr lang="en-US" sz="2800" dirty="0"/>
              <a:t> — observe what works best for your brand.</a:t>
            </a:r>
          </a:p>
          <a:p>
            <a:r>
              <a:rPr lang="en-US" sz="2800" dirty="0"/>
              <a:t>The book stresses that </a:t>
            </a:r>
            <a:r>
              <a:rPr lang="en-US" sz="2800" b="1" dirty="0"/>
              <a:t>what works for others may not work for you</a:t>
            </a:r>
            <a:r>
              <a:rPr lang="en-US" sz="2800" dirty="0"/>
              <a:t>, so base conclusions on your own business results.</a:t>
            </a:r>
          </a:p>
          <a:p>
            <a:r>
              <a:rPr lang="en-US" sz="2800" dirty="0"/>
              <a:t>Monitor engagement metrics such as shares, likes, clicks, and comments to evaluate success.</a:t>
            </a:r>
          </a:p>
        </p:txBody>
      </p:sp>
    </p:spTree>
    <p:extLst>
      <p:ext uri="{BB962C8B-B14F-4D97-AF65-F5344CB8AC3E}">
        <p14:creationId xmlns:p14="http://schemas.microsoft.com/office/powerpoint/2010/main" val="31614940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0364"/>
            <a:ext cx="8229600" cy="5615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 smtClean="0"/>
              <a:t> </a:t>
            </a:r>
            <a:r>
              <a:rPr lang="en-IN" sz="2800" b="1" dirty="0"/>
              <a:t>Useful Tools for Online Market Research</a:t>
            </a:r>
          </a:p>
          <a:p>
            <a:r>
              <a:rPr lang="en-IN" sz="2800" dirty="0"/>
              <a:t>Some reliable online resources mentioned include:</a:t>
            </a:r>
          </a:p>
          <a:p>
            <a:r>
              <a:rPr lang="en-IN" sz="2800" b="1" dirty="0" err="1"/>
              <a:t>Quantcast</a:t>
            </a:r>
            <a:r>
              <a:rPr lang="en-IN" sz="2800" b="1" dirty="0"/>
              <a:t>, Alexa, Google Trends</a:t>
            </a:r>
            <a:r>
              <a:rPr lang="en-IN" sz="2800" dirty="0"/>
              <a:t> → </a:t>
            </a:r>
            <a:r>
              <a:rPr lang="en-IN" sz="2800" dirty="0" err="1"/>
              <a:t>analyze</a:t>
            </a:r>
            <a:r>
              <a:rPr lang="en-IN" sz="2800" dirty="0"/>
              <a:t> audience demographics and site traffic.</a:t>
            </a:r>
          </a:p>
          <a:p>
            <a:r>
              <a:rPr lang="en-IN" sz="2800" b="1" dirty="0" err="1"/>
              <a:t>HubSpot</a:t>
            </a:r>
            <a:r>
              <a:rPr lang="en-IN" sz="2800" b="1" dirty="0"/>
              <a:t> and </a:t>
            </a:r>
            <a:r>
              <a:rPr lang="en-IN" sz="2800" b="1" dirty="0" err="1"/>
              <a:t>SimilarSites</a:t>
            </a:r>
            <a:r>
              <a:rPr lang="en-IN" sz="2800" dirty="0"/>
              <a:t> → identify competing websites and industry statistics.</a:t>
            </a:r>
          </a:p>
          <a:p>
            <a:r>
              <a:rPr lang="en-IN" sz="2800" b="1" dirty="0"/>
              <a:t>Social Media Examiner and MDG Advertising reports</a:t>
            </a:r>
            <a:r>
              <a:rPr lang="en-IN" sz="2800" dirty="0"/>
              <a:t> → provide updated social media trends.</a:t>
            </a:r>
          </a:p>
        </p:txBody>
      </p:sp>
    </p:spTree>
    <p:extLst>
      <p:ext uri="{BB962C8B-B14F-4D97-AF65-F5344CB8AC3E}">
        <p14:creationId xmlns:p14="http://schemas.microsoft.com/office/powerpoint/2010/main" val="7273302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0364"/>
            <a:ext cx="8229600" cy="5615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 Outcome of Online Market Research</a:t>
            </a:r>
          </a:p>
          <a:p>
            <a:r>
              <a:rPr lang="en-US" sz="2800" dirty="0"/>
              <a:t>After completing online research, you should be able to:</a:t>
            </a:r>
          </a:p>
          <a:p>
            <a:r>
              <a:rPr lang="en-US" sz="2800" dirty="0"/>
              <a:t>Recognize </a:t>
            </a:r>
            <a:r>
              <a:rPr lang="en-US" sz="2800" b="1" dirty="0"/>
              <a:t>key influencers</a:t>
            </a:r>
            <a:r>
              <a:rPr lang="en-US" sz="2800" dirty="0"/>
              <a:t> in your market.</a:t>
            </a:r>
          </a:p>
          <a:p>
            <a:r>
              <a:rPr lang="en-US" sz="2800" dirty="0"/>
              <a:t>Understand </a:t>
            </a:r>
            <a:r>
              <a:rPr lang="en-US" sz="2800" b="1" dirty="0"/>
              <a:t>audience interests, behaviors, and needs</a:t>
            </a:r>
            <a:r>
              <a:rPr lang="en-US" sz="2800" dirty="0"/>
              <a:t>.</a:t>
            </a:r>
          </a:p>
          <a:p>
            <a:r>
              <a:rPr lang="en-US" sz="2800" dirty="0"/>
              <a:t>Determine </a:t>
            </a:r>
            <a:r>
              <a:rPr lang="en-US" sz="2800" b="1" dirty="0"/>
              <a:t>the most suitable social media platforms</a:t>
            </a:r>
            <a:r>
              <a:rPr lang="en-US" sz="2800" dirty="0"/>
              <a:t> for your brand.</a:t>
            </a:r>
          </a:p>
          <a:p>
            <a:r>
              <a:rPr lang="en-US" sz="2800" dirty="0"/>
              <a:t>Build a </a:t>
            </a:r>
            <a:r>
              <a:rPr lang="en-US" sz="2800" b="1" dirty="0"/>
              <a:t>data-driven marketing plan</a:t>
            </a:r>
            <a:r>
              <a:rPr lang="en-US" sz="2800" dirty="0"/>
              <a:t> with measurable goals.</a:t>
            </a:r>
          </a:p>
        </p:txBody>
      </p:sp>
    </p:spTree>
    <p:extLst>
      <p:ext uri="{BB962C8B-B14F-4D97-AF65-F5344CB8AC3E}">
        <p14:creationId xmlns:p14="http://schemas.microsoft.com/office/powerpoint/2010/main" val="23761229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Social-Media-Marketing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Social-Media-Marketing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1066</Words>
  <Application>Microsoft Office PowerPoint</Application>
  <PresentationFormat>On-screen Show (4:3)</PresentationFormat>
  <Paragraphs>113</Paragraphs>
  <Slides>66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Segmenting B2C Market</vt:lpstr>
      <vt:lpstr>Main Types of B2C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Researching B2B Markets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Conducting Other  Types of Market Research Online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Sangeeta Nagpure</cp:lastModifiedBy>
  <cp:revision>34</cp:revision>
  <dcterms:created xsi:type="dcterms:W3CDTF">2013-01-27T09:14:16Z</dcterms:created>
  <dcterms:modified xsi:type="dcterms:W3CDTF">2025-10-10T11:38:34Z</dcterms:modified>
  <cp:category/>
</cp:coreProperties>
</file>