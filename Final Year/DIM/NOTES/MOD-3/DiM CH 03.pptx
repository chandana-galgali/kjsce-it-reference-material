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883" autoAdjust="0"/>
  </p:normalViewPr>
  <p:slideViewPr>
    <p:cSldViewPr>
      <p:cViewPr>
        <p:scale>
          <a:sx n="68" d="100"/>
          <a:sy n="68" d="100"/>
        </p:scale>
        <p:origin x="12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5A5CE-BA50-4F3D-98A9-F71092ED3B61}" type="datetimeFigureOut">
              <a:rPr lang="en-IN" smtClean="0"/>
              <a:t>18-11-2025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5B9750-1CFE-43BF-8471-3AEC68635743}" type="slidenum">
              <a:rPr lang="en-IN" smtClean="0"/>
              <a:t>‹#›</a:t>
            </a:fld>
            <a:endParaRPr lang="en-IN"/>
          </a:p>
        </p:txBody>
      </p:sp>
    </p:spTree>
    <p:extLst>
      <p:ext uri="{BB962C8B-B14F-4D97-AF65-F5344CB8AC3E}">
        <p14:creationId xmlns:p14="http://schemas.microsoft.com/office/powerpoint/2010/main" val="2208249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LCP, Largest </a:t>
            </a:r>
            <a:r>
              <a:rPr lang="en-US" sz="1200" b="1" i="0" kern="1200" dirty="0" err="1" smtClean="0">
                <a:solidFill>
                  <a:schemeClr val="tx1"/>
                </a:solidFill>
                <a:effectLst/>
                <a:latin typeface="+mn-lt"/>
                <a:ea typeface="+mn-ea"/>
                <a:cs typeface="+mn-cs"/>
              </a:rPr>
              <a:t>Contentful</a:t>
            </a:r>
            <a:r>
              <a:rPr lang="en-US" sz="1200" b="1" i="0" kern="1200" dirty="0" smtClean="0">
                <a:solidFill>
                  <a:schemeClr val="tx1"/>
                </a:solidFill>
                <a:effectLst/>
                <a:latin typeface="+mn-lt"/>
                <a:ea typeface="+mn-ea"/>
                <a:cs typeface="+mn-cs"/>
              </a:rPr>
              <a:t> Paint:</a:t>
            </a:r>
            <a:r>
              <a:rPr lang="en-US" sz="1200" b="0" i="0" kern="1200" dirty="0" smtClean="0">
                <a:solidFill>
                  <a:schemeClr val="tx1"/>
                </a:solidFill>
                <a:effectLst/>
                <a:latin typeface="+mn-lt"/>
                <a:ea typeface="+mn-ea"/>
                <a:cs typeface="+mn-cs"/>
              </a:rPr>
              <a:t> This measures how long it takes for the largest piece of content to appear on the screen. This could be an image or a block of text. A good grade gives users the feeling that the site loads fast. A slow site can lead to frustration.</a:t>
            </a:r>
          </a:p>
          <a:p>
            <a:r>
              <a:rPr lang="en-US" sz="1200" b="1" i="0" kern="1200" dirty="0" smtClean="0">
                <a:solidFill>
                  <a:schemeClr val="tx1"/>
                </a:solidFill>
                <a:effectLst/>
                <a:latin typeface="+mn-lt"/>
                <a:ea typeface="+mn-ea"/>
                <a:cs typeface="+mn-cs"/>
              </a:rPr>
              <a:t>FID, or First Input Delay:</a:t>
            </a:r>
            <a:r>
              <a:rPr lang="en-US" sz="1200" b="0" i="0" kern="1200" dirty="0" smtClean="0">
                <a:solidFill>
                  <a:schemeClr val="tx1"/>
                </a:solidFill>
                <a:effectLst/>
                <a:latin typeface="+mn-lt"/>
                <a:ea typeface="+mn-ea"/>
                <a:cs typeface="+mn-cs"/>
              </a:rPr>
              <a:t> This measures how long it takes for the site to react to the first interaction. This could be a tap on a button, for instance. A good grade here gives the user a sense that a site is quick to react to input and, therefore, responsive. Slow, again, leads to frustration.</a:t>
            </a:r>
          </a:p>
          <a:p>
            <a:r>
              <a:rPr lang="en-US" sz="1200" b="1" i="0" kern="1200" dirty="0" smtClean="0">
                <a:solidFill>
                  <a:schemeClr val="tx1"/>
                </a:solidFill>
                <a:effectLst/>
                <a:latin typeface="+mn-lt"/>
                <a:ea typeface="+mn-ea"/>
                <a:cs typeface="+mn-cs"/>
              </a:rPr>
              <a:t>CLS, or Cumulative Layout Shift:</a:t>
            </a:r>
            <a:r>
              <a:rPr lang="en-US" sz="1200" b="0" i="0" kern="1200" dirty="0" smtClean="0">
                <a:solidFill>
                  <a:schemeClr val="tx1"/>
                </a:solidFill>
                <a:effectLst/>
                <a:latin typeface="+mn-lt"/>
                <a:ea typeface="+mn-ea"/>
                <a:cs typeface="+mn-cs"/>
              </a:rPr>
              <a:t> This measures the visual stability of your site. In other words, does stuff move around on the screen while it is loading — and how often does that happen? Nothing more frustrating than trying to click a button when a slow-loading ad appears in that spot.</a:t>
            </a:r>
          </a:p>
        </p:txBody>
      </p:sp>
      <p:sp>
        <p:nvSpPr>
          <p:cNvPr id="4" name="Slide Number Placeholder 3"/>
          <p:cNvSpPr>
            <a:spLocks noGrp="1"/>
          </p:cNvSpPr>
          <p:nvPr>
            <p:ph type="sldNum" sz="quarter" idx="10"/>
          </p:nvPr>
        </p:nvSpPr>
        <p:spPr/>
        <p:txBody>
          <a:bodyPr/>
          <a:lstStyle/>
          <a:p>
            <a:fld id="{0E5B9750-1CFE-43BF-8471-3AEC68635743}" type="slidenum">
              <a:rPr lang="en-IN" smtClean="0"/>
              <a:t>33</a:t>
            </a:fld>
            <a:endParaRPr lang="en-IN"/>
          </a:p>
        </p:txBody>
      </p:sp>
    </p:spTree>
    <p:extLst>
      <p:ext uri="{BB962C8B-B14F-4D97-AF65-F5344CB8AC3E}">
        <p14:creationId xmlns:p14="http://schemas.microsoft.com/office/powerpoint/2010/main" val="1659394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google.com/search?sca_esv=6181e4a68536525f&amp;rlz=1C1UEAD_enIN1059IN1059&amp;cs=0&amp;q=Page+Load+Time&amp;sa=X&amp;ved=2ahUKEwj24vrAtPiOAxXbzjgGHYCmMkgQxccNegQIERAB&amp;mstk=AUtExfC_UD_1qPUxGCRgpvan8BMrw2n6VaxrSC7sHfjYZ3yc80LUYXJK0ALjkAqWzyC_MUqwt8mH6-PK0rpMubYSwDMS6eiC6E43MLaCfYJgbTp8ZFdpFcrpA2JkBxUTmV43bfg&amp;csui=3" TargetMode="External"/><Relationship Id="rId2" Type="http://schemas.openxmlformats.org/officeDocument/2006/relationships/hyperlink" Target="https://www.google.com/search?sca_esv=6181e4a68536525f&amp;rlz=1C1UEAD_enIN1059IN1059&amp;cs=0&amp;q=Time+on+Page&amp;sa=X&amp;ved=2ahUKEwj24vrAtPiOAxXbzjgGHYCmMkgQxccNegQIFBAB&amp;mstk=AUtExfC_UD_1qPUxGCRgpvan8BMrw2n6VaxrSC7sHfjYZ3yc80LUYXJK0ALjkAqWzyC_MUqwt8mH6-PK0rpMubYSwDMS6eiC6E43MLaCfYJgbTp8ZFdpFcrpA2JkBxUTmV43bfg&amp;csui=3" TargetMode="External"/><Relationship Id="rId1" Type="http://schemas.openxmlformats.org/officeDocument/2006/relationships/slideLayout" Target="../slideLayouts/slideLayout2.xml"/><Relationship Id="rId4" Type="http://schemas.openxmlformats.org/officeDocument/2006/relationships/hyperlink" Target="https://www.google.com/search?sca_esv=6181e4a68536525f&amp;rlz=1C1UEAD_enIN1059IN1059&amp;cs=0&amp;q=Traffic+Sources&amp;sa=X&amp;ved=2ahUKEwj24vrAtPiOAxXbzjgGHYCmMkgQxccNegQIDxAB&amp;mstk=AUtExfC_UD_1qPUxGCRgpvan8BMrw2n6VaxrSC7sHfjYZ3yc80LUYXJK0ALjkAqWzyC_MUqwt8mH6-PK0rpMubYSwDMS6eiC6E43MLaCfYJgbTp8ZFdpFcrpA2JkBxUTmV43bfg&amp;csui=3"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Link Building and SEO Analytics </a:t>
            </a:r>
            <a:endParaRPr lang="en-IN" dirty="0"/>
          </a:p>
        </p:txBody>
      </p:sp>
    </p:spTree>
    <p:extLst>
      <p:ext uri="{BB962C8B-B14F-4D97-AF65-F5344CB8AC3E}">
        <p14:creationId xmlns:p14="http://schemas.microsoft.com/office/powerpoint/2010/main" val="1576942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a:t>
            </a:r>
            <a:r>
              <a:rPr lang="en-US" dirty="0" smtClean="0"/>
              <a:t>Building</a:t>
            </a:r>
            <a:endParaRPr lang="en-IN" dirty="0"/>
          </a:p>
        </p:txBody>
      </p:sp>
      <p:sp>
        <p:nvSpPr>
          <p:cNvPr id="3" name="Content Placeholder 2"/>
          <p:cNvSpPr>
            <a:spLocks noGrp="1"/>
          </p:cNvSpPr>
          <p:nvPr>
            <p:ph idx="1"/>
          </p:nvPr>
        </p:nvSpPr>
        <p:spPr/>
        <p:txBody>
          <a:bodyPr>
            <a:normAutofit lnSpcReduction="10000"/>
          </a:bodyPr>
          <a:lstStyle/>
          <a:p>
            <a:r>
              <a:rPr lang="en-US" dirty="0" smtClean="0"/>
              <a:t>It is</a:t>
            </a:r>
            <a:r>
              <a:rPr lang="en-US" dirty="0"/>
              <a:t> the process of getting other websites to link to your </a:t>
            </a:r>
            <a:r>
              <a:rPr lang="en-US" dirty="0" smtClean="0"/>
              <a:t>website.</a:t>
            </a:r>
          </a:p>
          <a:p>
            <a:r>
              <a:rPr lang="en-US" dirty="0"/>
              <a:t>These inbound links, also known as backlinks, are a crucial factor in search engine rankings because search engines like Google see them as votes of confidence for your </a:t>
            </a:r>
            <a:r>
              <a:rPr lang="en-US" dirty="0" smtClean="0"/>
              <a:t>content.</a:t>
            </a:r>
          </a:p>
          <a:p>
            <a:r>
              <a:rPr lang="en-US" dirty="0"/>
              <a:t>By acquiring high-quality backlinks, you can improve your website's visibility and authority in search results. </a:t>
            </a:r>
            <a:endParaRPr lang="en-IN" dirty="0"/>
          </a:p>
        </p:txBody>
      </p:sp>
    </p:spTree>
    <p:extLst>
      <p:ext uri="{BB962C8B-B14F-4D97-AF65-F5344CB8AC3E}">
        <p14:creationId xmlns:p14="http://schemas.microsoft.com/office/powerpoint/2010/main" val="4128223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r>
              <a:rPr lang="en-US" b="1" dirty="0"/>
              <a:t>Impact on </a:t>
            </a:r>
            <a:r>
              <a:rPr lang="en-US" b="1" dirty="0" smtClean="0"/>
              <a:t>SEO:</a:t>
            </a:r>
            <a:r>
              <a:rPr lang="en-US" dirty="0"/>
              <a:t> </a:t>
            </a:r>
            <a:r>
              <a:rPr lang="en-US" dirty="0" smtClean="0"/>
              <a:t>Links </a:t>
            </a:r>
            <a:r>
              <a:rPr lang="en-US" dirty="0"/>
              <a:t>from reputable websites signal to search engines that your content is valuable and trustworthy, which can lead to higher rankings. </a:t>
            </a:r>
          </a:p>
          <a:p>
            <a:r>
              <a:rPr lang="en-US" b="1" dirty="0"/>
              <a:t>Not Just Any </a:t>
            </a:r>
            <a:r>
              <a:rPr lang="en-US" b="1" dirty="0" smtClean="0"/>
              <a:t>Link:</a:t>
            </a:r>
            <a:r>
              <a:rPr lang="en-US" dirty="0"/>
              <a:t> </a:t>
            </a:r>
            <a:r>
              <a:rPr lang="en-US" dirty="0" smtClean="0"/>
              <a:t>The </a:t>
            </a:r>
            <a:r>
              <a:rPr lang="en-US" dirty="0"/>
              <a:t>quality and relevance of the linking website are crucial. Links from </a:t>
            </a:r>
            <a:r>
              <a:rPr lang="en-US" dirty="0" smtClean="0"/>
              <a:t>spam </a:t>
            </a:r>
            <a:r>
              <a:rPr lang="en-US" dirty="0"/>
              <a:t>or low-quality sites can actually harm your rankings. </a:t>
            </a:r>
          </a:p>
          <a:p>
            <a:r>
              <a:rPr lang="en-US" b="1" dirty="0"/>
              <a:t>Building </a:t>
            </a:r>
            <a:r>
              <a:rPr lang="en-US" b="1" dirty="0" smtClean="0"/>
              <a:t>Relationships:</a:t>
            </a:r>
            <a:r>
              <a:rPr lang="en-US" dirty="0"/>
              <a:t> </a:t>
            </a:r>
            <a:r>
              <a:rPr lang="en-US" dirty="0" smtClean="0"/>
              <a:t>Effective </a:t>
            </a:r>
            <a:r>
              <a:rPr lang="en-US" dirty="0"/>
              <a:t>link building often involves building relationships with other website owners and content creators. </a:t>
            </a:r>
          </a:p>
        </p:txBody>
      </p:sp>
    </p:spTree>
    <p:extLst>
      <p:ext uri="{BB962C8B-B14F-4D97-AF65-F5344CB8AC3E}">
        <p14:creationId xmlns:p14="http://schemas.microsoft.com/office/powerpoint/2010/main" val="1079116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r>
              <a:rPr lang="en-IN" dirty="0" smtClean="0"/>
              <a:t>Importance of Link Building</a:t>
            </a:r>
            <a:endParaRPr lang="en-IN" dirty="0"/>
          </a:p>
        </p:txBody>
      </p:sp>
      <p:sp>
        <p:nvSpPr>
          <p:cNvPr id="3" name="Content Placeholder 2"/>
          <p:cNvSpPr>
            <a:spLocks noGrp="1"/>
          </p:cNvSpPr>
          <p:nvPr>
            <p:ph idx="1"/>
          </p:nvPr>
        </p:nvSpPr>
        <p:spPr>
          <a:xfrm>
            <a:off x="457200" y="1600200"/>
            <a:ext cx="8229600" cy="4724400"/>
          </a:xfrm>
        </p:spPr>
        <p:txBody>
          <a:bodyPr>
            <a:normAutofit fontScale="85000" lnSpcReduction="20000"/>
          </a:bodyPr>
          <a:lstStyle/>
          <a:p>
            <a:r>
              <a:rPr lang="en-US" b="1" dirty="0"/>
              <a:t>Ranking </a:t>
            </a:r>
            <a:r>
              <a:rPr lang="en-US" b="1" dirty="0" smtClean="0"/>
              <a:t>Factor:</a:t>
            </a:r>
            <a:r>
              <a:rPr lang="en-US" dirty="0"/>
              <a:t> </a:t>
            </a:r>
            <a:r>
              <a:rPr lang="en-US" dirty="0" smtClean="0"/>
              <a:t>Links </a:t>
            </a:r>
            <a:r>
              <a:rPr lang="en-US" dirty="0"/>
              <a:t>are a primary ranking factor for search engines. </a:t>
            </a:r>
          </a:p>
          <a:p>
            <a:r>
              <a:rPr lang="en-US" b="1" dirty="0"/>
              <a:t>Increased </a:t>
            </a:r>
            <a:r>
              <a:rPr lang="en-US" b="1" dirty="0" smtClean="0"/>
              <a:t>Visibility:</a:t>
            </a:r>
            <a:r>
              <a:rPr lang="en-US" dirty="0"/>
              <a:t> </a:t>
            </a:r>
            <a:r>
              <a:rPr lang="en-US" dirty="0" smtClean="0"/>
              <a:t>Higher </a:t>
            </a:r>
            <a:r>
              <a:rPr lang="en-US" dirty="0"/>
              <a:t>rankings mean your website is more likely to be seen by potential customers. </a:t>
            </a:r>
          </a:p>
          <a:p>
            <a:r>
              <a:rPr lang="en-US" b="1" dirty="0"/>
              <a:t>Improved </a:t>
            </a:r>
            <a:r>
              <a:rPr lang="en-US" b="1" dirty="0" smtClean="0"/>
              <a:t>Authority:</a:t>
            </a:r>
            <a:r>
              <a:rPr lang="en-US" dirty="0"/>
              <a:t> </a:t>
            </a:r>
            <a:r>
              <a:rPr lang="en-US" dirty="0" smtClean="0"/>
              <a:t>Links </a:t>
            </a:r>
            <a:r>
              <a:rPr lang="en-US" dirty="0"/>
              <a:t>from authoritative websites can boost your own site's authority in the eyes of search engines. </a:t>
            </a:r>
          </a:p>
          <a:p>
            <a:r>
              <a:rPr lang="en-US" b="1" dirty="0"/>
              <a:t>Referral </a:t>
            </a:r>
            <a:r>
              <a:rPr lang="en-US" b="1" dirty="0" smtClean="0"/>
              <a:t>Traffic:</a:t>
            </a:r>
            <a:r>
              <a:rPr lang="en-US" dirty="0"/>
              <a:t> </a:t>
            </a:r>
            <a:r>
              <a:rPr lang="en-US" dirty="0" smtClean="0"/>
              <a:t>Links </a:t>
            </a:r>
            <a:r>
              <a:rPr lang="en-US" dirty="0"/>
              <a:t>can also drive referral traffic to your website, bringing in new visitors. </a:t>
            </a:r>
          </a:p>
          <a:p>
            <a:r>
              <a:rPr lang="en-US" b="1" dirty="0"/>
              <a:t>Brand </a:t>
            </a:r>
            <a:r>
              <a:rPr lang="en-US" b="1" dirty="0" smtClean="0"/>
              <a:t>Awareness:</a:t>
            </a:r>
            <a:r>
              <a:rPr lang="en-US" dirty="0"/>
              <a:t> </a:t>
            </a:r>
            <a:r>
              <a:rPr lang="en-US" dirty="0" smtClean="0"/>
              <a:t>Building </a:t>
            </a:r>
            <a:r>
              <a:rPr lang="en-US" dirty="0"/>
              <a:t>a strong brand and getting links from relevant websites can increase brand awareness. </a:t>
            </a:r>
          </a:p>
        </p:txBody>
      </p:sp>
    </p:spTree>
    <p:extLst>
      <p:ext uri="{BB962C8B-B14F-4D97-AF65-F5344CB8AC3E}">
        <p14:creationId xmlns:p14="http://schemas.microsoft.com/office/powerpoint/2010/main" val="4201744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Build Links Effectively</a:t>
            </a:r>
            <a:endParaRPr lang="en-IN" dirty="0"/>
          </a:p>
        </p:txBody>
      </p:sp>
      <p:sp>
        <p:nvSpPr>
          <p:cNvPr id="3" name="Content Placeholder 2"/>
          <p:cNvSpPr>
            <a:spLocks noGrp="1"/>
          </p:cNvSpPr>
          <p:nvPr>
            <p:ph idx="1"/>
          </p:nvPr>
        </p:nvSpPr>
        <p:spPr>
          <a:xfrm>
            <a:off x="457200" y="1600200"/>
            <a:ext cx="8229600" cy="4800600"/>
          </a:xfrm>
        </p:spPr>
        <p:txBody>
          <a:bodyPr>
            <a:noAutofit/>
          </a:bodyPr>
          <a:lstStyle/>
          <a:p>
            <a:pPr fontAlgn="ctr"/>
            <a:r>
              <a:rPr lang="en-US" sz="2400" b="1" dirty="0"/>
              <a:t>Create Great Content:</a:t>
            </a:r>
            <a:r>
              <a:rPr lang="en-US" sz="2400" dirty="0"/>
              <a:t> High-quality, original, and engaging content is the foundation for attracting backlinks. </a:t>
            </a:r>
          </a:p>
          <a:p>
            <a:pPr fontAlgn="ctr"/>
            <a:r>
              <a:rPr lang="en-US" sz="2400" b="1" dirty="0"/>
              <a:t>Target the Right Niche:</a:t>
            </a:r>
            <a:r>
              <a:rPr lang="en-US" sz="2400" dirty="0"/>
              <a:t> Focus on building links from websites within your industry or niche. </a:t>
            </a:r>
          </a:p>
          <a:p>
            <a:pPr fontAlgn="ctr"/>
            <a:r>
              <a:rPr lang="en-US" sz="2400" b="1" dirty="0"/>
              <a:t>Outreach:</a:t>
            </a:r>
            <a:r>
              <a:rPr lang="en-US" sz="2400" dirty="0"/>
              <a:t> Reach out to website owners and offer to provide valuable content or resources. </a:t>
            </a:r>
          </a:p>
          <a:p>
            <a:pPr fontAlgn="ctr"/>
            <a:r>
              <a:rPr lang="en-US" sz="2400" b="1" dirty="0"/>
              <a:t>Guest Blogging:</a:t>
            </a:r>
            <a:r>
              <a:rPr lang="en-US" sz="2400" dirty="0"/>
              <a:t> Contribute guest posts to other relevant websites, including a link back to your site. </a:t>
            </a:r>
          </a:p>
          <a:p>
            <a:pPr fontAlgn="ctr"/>
            <a:r>
              <a:rPr lang="en-US" sz="2400" b="1" dirty="0"/>
              <a:t>Broken Link Building:</a:t>
            </a:r>
            <a:r>
              <a:rPr lang="en-US" sz="2400" dirty="0"/>
              <a:t> Find broken links on other websites and suggest your relevant content as a replacement. </a:t>
            </a:r>
          </a:p>
          <a:p>
            <a:r>
              <a:rPr lang="en-US" sz="2400" b="1" dirty="0"/>
              <a:t>Monitor Your Progress:</a:t>
            </a:r>
            <a:r>
              <a:rPr lang="en-US" sz="2400" dirty="0"/>
              <a:t> Track your backlinks and analyze their impact on your rankings. </a:t>
            </a:r>
          </a:p>
        </p:txBody>
      </p:sp>
    </p:spTree>
    <p:extLst>
      <p:ext uri="{BB962C8B-B14F-4D97-AF65-F5344CB8AC3E}">
        <p14:creationId xmlns:p14="http://schemas.microsoft.com/office/powerpoint/2010/main" val="2915568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t>
            </a:r>
            <a:r>
              <a:rPr lang="en-IN" dirty="0"/>
              <a:t>Link </a:t>
            </a:r>
            <a:r>
              <a:rPr lang="en-IN" dirty="0" smtClean="0"/>
              <a:t>Building</a:t>
            </a:r>
            <a:endParaRPr lang="en-IN" dirty="0"/>
          </a:p>
        </p:txBody>
      </p:sp>
      <p:sp>
        <p:nvSpPr>
          <p:cNvPr id="4" name="Content Placeholder 3"/>
          <p:cNvSpPr>
            <a:spLocks noGrp="1"/>
          </p:cNvSpPr>
          <p:nvPr>
            <p:ph idx="1"/>
          </p:nvPr>
        </p:nvSpPr>
        <p:spPr/>
        <p:txBody>
          <a:bodyPr/>
          <a:lstStyle/>
          <a:p>
            <a:r>
              <a:rPr lang="en-US" dirty="0"/>
              <a:t> There are various types of link building strategies, including natural link building, manual link building, guest blogging, and broken link </a:t>
            </a:r>
            <a:r>
              <a:rPr lang="en-US" dirty="0" smtClean="0"/>
              <a:t>building.</a:t>
            </a:r>
          </a:p>
          <a:p>
            <a:r>
              <a:rPr lang="en-US" dirty="0"/>
              <a:t>These strategies aim to increase a website's authority and ranking by attracting quality backlinks from relevant and reputable sources. </a:t>
            </a:r>
            <a:endParaRPr lang="en-IN" dirty="0"/>
          </a:p>
        </p:txBody>
      </p:sp>
    </p:spTree>
    <p:extLst>
      <p:ext uri="{BB962C8B-B14F-4D97-AF65-F5344CB8AC3E}">
        <p14:creationId xmlns:p14="http://schemas.microsoft.com/office/powerpoint/2010/main" val="1519326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638800"/>
          </a:xfrm>
        </p:spPr>
        <p:txBody>
          <a:bodyPr>
            <a:noAutofit/>
          </a:bodyPr>
          <a:lstStyle/>
          <a:p>
            <a:pPr marL="514350" indent="-514350">
              <a:buFont typeface="+mj-lt"/>
              <a:buAutoNum type="arabicPeriod"/>
            </a:pPr>
            <a:r>
              <a:rPr lang="en-US" sz="2200" b="1" dirty="0"/>
              <a:t>Internal Linking:</a:t>
            </a:r>
          </a:p>
          <a:p>
            <a:pPr fontAlgn="ctr"/>
            <a:r>
              <a:rPr lang="en-US" sz="2200" dirty="0"/>
              <a:t>Connecting different pages within your own website to improve navigation for both users and search engines. </a:t>
            </a:r>
          </a:p>
          <a:p>
            <a:r>
              <a:rPr lang="en-US" sz="2200" dirty="0"/>
              <a:t>Helps search engines understand the structure and content of your site. </a:t>
            </a:r>
            <a:endParaRPr lang="en-US" sz="2200" dirty="0" smtClean="0"/>
          </a:p>
          <a:p>
            <a:pPr marL="514350" indent="-514350">
              <a:buFont typeface="+mj-lt"/>
              <a:buAutoNum type="arabicPeriod" startAt="2"/>
            </a:pPr>
            <a:r>
              <a:rPr lang="en-US" sz="2200" b="1" dirty="0"/>
              <a:t>External Link Building:</a:t>
            </a:r>
          </a:p>
          <a:p>
            <a:r>
              <a:rPr lang="en-US" sz="2200" b="1" dirty="0"/>
              <a:t>Inbound Links (Backlinks</a:t>
            </a:r>
            <a:r>
              <a:rPr lang="en-US" sz="2200" b="1" dirty="0" smtClean="0"/>
              <a:t>):</a:t>
            </a:r>
            <a:r>
              <a:rPr lang="en-US" sz="2200" dirty="0"/>
              <a:t> </a:t>
            </a:r>
            <a:r>
              <a:rPr lang="en-US" sz="2200" dirty="0" smtClean="0"/>
              <a:t>Links </a:t>
            </a:r>
            <a:r>
              <a:rPr lang="en-US" sz="2200" dirty="0"/>
              <a:t>from other websites to your site. These are crucial for SEO and can significantly impact rankings.</a:t>
            </a:r>
          </a:p>
          <a:p>
            <a:r>
              <a:rPr lang="en-US" sz="2200" b="1" dirty="0"/>
              <a:t>Outbound </a:t>
            </a:r>
            <a:r>
              <a:rPr lang="en-US" sz="2200" b="1" dirty="0" smtClean="0"/>
              <a:t>Links:</a:t>
            </a:r>
            <a:r>
              <a:rPr lang="en-US" sz="2200" dirty="0"/>
              <a:t> </a:t>
            </a:r>
            <a:r>
              <a:rPr lang="en-US" sz="2200" dirty="0" smtClean="0"/>
              <a:t>Links </a:t>
            </a:r>
            <a:r>
              <a:rPr lang="en-US" sz="2200" dirty="0"/>
              <a:t>from your website to other websites. While not directly impacting rankings, linking to reputable sites can improve your site's credibility.</a:t>
            </a:r>
          </a:p>
          <a:p>
            <a:r>
              <a:rPr lang="en-US" sz="2200" b="1" dirty="0" err="1"/>
              <a:t>Nofollow</a:t>
            </a:r>
            <a:r>
              <a:rPr lang="en-US" sz="2200" b="1" dirty="0"/>
              <a:t> </a:t>
            </a:r>
            <a:r>
              <a:rPr lang="en-US" sz="2200" b="1" dirty="0" smtClean="0"/>
              <a:t>Links:</a:t>
            </a:r>
            <a:r>
              <a:rPr lang="en-US" sz="2200" dirty="0"/>
              <a:t> </a:t>
            </a:r>
            <a:r>
              <a:rPr lang="en-US" sz="2200" dirty="0" smtClean="0"/>
              <a:t>Links </a:t>
            </a:r>
            <a:r>
              <a:rPr lang="en-US" sz="2200" dirty="0"/>
              <a:t>that have a "</a:t>
            </a:r>
            <a:r>
              <a:rPr lang="en-US" sz="2200" dirty="0" err="1"/>
              <a:t>nofollow</a:t>
            </a:r>
            <a:r>
              <a:rPr lang="en-US" sz="2200" dirty="0"/>
              <a:t>" tag, which tells search engines not to pass on SEO value. They can still bring traffic to your site.</a:t>
            </a:r>
          </a:p>
          <a:p>
            <a:r>
              <a:rPr lang="en-US" sz="2200" b="1" dirty="0" err="1"/>
              <a:t>Dofollow</a:t>
            </a:r>
            <a:r>
              <a:rPr lang="en-US" sz="2200" b="1" dirty="0"/>
              <a:t> </a:t>
            </a:r>
            <a:r>
              <a:rPr lang="en-US" sz="2200" b="1" dirty="0" smtClean="0"/>
              <a:t>Links:</a:t>
            </a:r>
            <a:r>
              <a:rPr lang="en-US" sz="2200" dirty="0"/>
              <a:t> </a:t>
            </a:r>
            <a:r>
              <a:rPr lang="en-US" sz="2200" dirty="0" smtClean="0"/>
              <a:t>Regular </a:t>
            </a:r>
            <a:r>
              <a:rPr lang="en-US" sz="2200" dirty="0"/>
              <a:t>links that pass on SEO value. </a:t>
            </a:r>
          </a:p>
          <a:p>
            <a:endParaRPr lang="en-US" sz="2200" dirty="0"/>
          </a:p>
          <a:p>
            <a:endParaRPr lang="en-IN" sz="2200" dirty="0"/>
          </a:p>
        </p:txBody>
      </p:sp>
    </p:spTree>
    <p:extLst>
      <p:ext uri="{BB962C8B-B14F-4D97-AF65-F5344CB8AC3E}">
        <p14:creationId xmlns:p14="http://schemas.microsoft.com/office/powerpoint/2010/main" val="2369781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92500" lnSpcReduction="20000"/>
          </a:bodyPr>
          <a:lstStyle/>
          <a:p>
            <a:pPr marL="514350" indent="-514350">
              <a:buFont typeface="+mj-lt"/>
              <a:buAutoNum type="arabicPeriod" startAt="3"/>
            </a:pPr>
            <a:r>
              <a:rPr lang="en-IN" dirty="0" smtClean="0"/>
              <a:t>Link </a:t>
            </a:r>
            <a:r>
              <a:rPr lang="en-IN" dirty="0"/>
              <a:t>Building Strategies</a:t>
            </a:r>
            <a:r>
              <a:rPr lang="en-IN" dirty="0" smtClean="0"/>
              <a:t>:</a:t>
            </a:r>
          </a:p>
          <a:p>
            <a:pPr fontAlgn="ctr"/>
            <a:r>
              <a:rPr lang="en-US" b="1" dirty="0"/>
              <a:t>Natural Link Building:</a:t>
            </a:r>
            <a:r>
              <a:rPr lang="en-US" dirty="0"/>
              <a:t> When other websites link to your content organically, without any prompting. </a:t>
            </a:r>
          </a:p>
          <a:p>
            <a:pPr fontAlgn="ctr"/>
            <a:r>
              <a:rPr lang="en-US" b="1" dirty="0"/>
              <a:t>Manual Link Building:</a:t>
            </a:r>
            <a:r>
              <a:rPr lang="en-US" dirty="0"/>
              <a:t> Actively seeking out and acquiring links through outreach, partnerships, or content promotion. </a:t>
            </a:r>
          </a:p>
          <a:p>
            <a:pPr fontAlgn="ctr"/>
            <a:r>
              <a:rPr lang="en-US" b="1" dirty="0"/>
              <a:t>Guest Blogging:</a:t>
            </a:r>
            <a:r>
              <a:rPr lang="en-US" dirty="0"/>
              <a:t> Publishing content on other websites with a link back to your own. </a:t>
            </a:r>
          </a:p>
          <a:p>
            <a:r>
              <a:rPr lang="en-US" b="1" dirty="0"/>
              <a:t>Broken Link Building:</a:t>
            </a:r>
            <a:r>
              <a:rPr lang="en-US" dirty="0"/>
              <a:t> Finding broken links on other websites and offering your own content as a replacement. </a:t>
            </a:r>
          </a:p>
        </p:txBody>
      </p:sp>
    </p:spTree>
    <p:extLst>
      <p:ext uri="{BB962C8B-B14F-4D97-AF65-F5344CB8AC3E}">
        <p14:creationId xmlns:p14="http://schemas.microsoft.com/office/powerpoint/2010/main" val="2475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fontAlgn="ctr"/>
            <a:r>
              <a:rPr lang="en-US" b="1" dirty="0"/>
              <a:t>Resource Page Link Building:</a:t>
            </a:r>
            <a:r>
              <a:rPr lang="en-US" dirty="0"/>
              <a:t> Building links from </a:t>
            </a:r>
            <a:r>
              <a:rPr lang="en-US" dirty="0" smtClean="0"/>
              <a:t>curated </a:t>
            </a:r>
            <a:r>
              <a:rPr lang="en-US" dirty="0"/>
              <a:t>lists of valuable resources. </a:t>
            </a:r>
          </a:p>
          <a:p>
            <a:pPr fontAlgn="ctr"/>
            <a:r>
              <a:rPr lang="en-US" b="1" dirty="0"/>
              <a:t>Skyscraper Technique:</a:t>
            </a:r>
            <a:r>
              <a:rPr lang="en-US" dirty="0"/>
              <a:t> Creating content that is better than existing content and then reaching out to sites linking to the original content. </a:t>
            </a:r>
          </a:p>
          <a:p>
            <a:pPr fontAlgn="ctr"/>
            <a:r>
              <a:rPr lang="en-US" b="1" dirty="0"/>
              <a:t>Social Media:</a:t>
            </a:r>
            <a:r>
              <a:rPr lang="en-US" dirty="0"/>
              <a:t> Using social media platforms to promote your content and attract links. </a:t>
            </a:r>
          </a:p>
          <a:p>
            <a:r>
              <a:rPr lang="en-US" b="1" dirty="0"/>
              <a:t>Infographic Submission:</a:t>
            </a:r>
            <a:r>
              <a:rPr lang="en-US" dirty="0"/>
              <a:t> Creating and submitting infographics to relevant </a:t>
            </a:r>
            <a:r>
              <a:rPr lang="en-US" dirty="0" smtClean="0"/>
              <a:t>websites</a:t>
            </a:r>
            <a:r>
              <a:rPr lang="en-IN" dirty="0" smtClean="0"/>
              <a:t>.</a:t>
            </a:r>
            <a:endParaRPr lang="en-US" dirty="0"/>
          </a:p>
        </p:txBody>
      </p:sp>
    </p:spTree>
    <p:extLst>
      <p:ext uri="{BB962C8B-B14F-4D97-AF65-F5344CB8AC3E}">
        <p14:creationId xmlns:p14="http://schemas.microsoft.com/office/powerpoint/2010/main" val="1186248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92500" lnSpcReduction="20000"/>
          </a:bodyPr>
          <a:lstStyle/>
          <a:p>
            <a:pPr fontAlgn="ctr"/>
            <a:r>
              <a:rPr lang="en-US" b="1" dirty="0"/>
              <a:t>Buying Links:</a:t>
            </a:r>
            <a:r>
              <a:rPr lang="en-US" dirty="0"/>
              <a:t> Acquiring links through paid placements, which Google may penalize if not disclosed appropriately. </a:t>
            </a:r>
          </a:p>
          <a:p>
            <a:pPr fontAlgn="ctr"/>
            <a:r>
              <a:rPr lang="en-US" b="1" dirty="0"/>
              <a:t>Tiered Link Building:</a:t>
            </a:r>
            <a:r>
              <a:rPr lang="en-US" dirty="0"/>
              <a:t> Building links in layers, with primary links (tier 1) pointing directly to your site and secondary links (tier 2 and 3) reinforcing the first tier. </a:t>
            </a:r>
          </a:p>
          <a:p>
            <a:pPr fontAlgn="ctr"/>
            <a:r>
              <a:rPr lang="en-US" b="1" dirty="0"/>
              <a:t>Link Reclamation:</a:t>
            </a:r>
            <a:r>
              <a:rPr lang="en-US" dirty="0"/>
              <a:t> Identifying mentions of your brand online and turning them into links. </a:t>
            </a:r>
          </a:p>
          <a:p>
            <a:r>
              <a:rPr lang="en-US" b="1" dirty="0"/>
              <a:t>Reverse Engineering Competitor Backlinks:</a:t>
            </a:r>
            <a:r>
              <a:rPr lang="en-US" dirty="0"/>
              <a:t> Analyzing your competitor's backlinks to identify link opportunities. </a:t>
            </a:r>
          </a:p>
        </p:txBody>
      </p:sp>
    </p:spTree>
    <p:extLst>
      <p:ext uri="{BB962C8B-B14F-4D97-AF65-F5344CB8AC3E}">
        <p14:creationId xmlns:p14="http://schemas.microsoft.com/office/powerpoint/2010/main" val="1412822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Elements of Link Building</a:t>
            </a:r>
          </a:p>
        </p:txBody>
      </p:sp>
      <p:sp>
        <p:nvSpPr>
          <p:cNvPr id="3" name="Content Placeholder 2"/>
          <p:cNvSpPr>
            <a:spLocks noGrp="1"/>
          </p:cNvSpPr>
          <p:nvPr>
            <p:ph idx="1"/>
          </p:nvPr>
        </p:nvSpPr>
        <p:spPr/>
        <p:txBody>
          <a:bodyPr>
            <a:normAutofit lnSpcReduction="10000"/>
          </a:bodyPr>
          <a:lstStyle/>
          <a:p>
            <a:r>
              <a:rPr lang="en-US" dirty="0" smtClean="0"/>
              <a:t>It </a:t>
            </a:r>
            <a:r>
              <a:rPr lang="en-US" dirty="0"/>
              <a:t>involves acquiring hyperlinks from other websites to your own (backlinks) to improve search engine </a:t>
            </a:r>
            <a:r>
              <a:rPr lang="en-US" dirty="0" smtClean="0"/>
              <a:t>visibility.</a:t>
            </a:r>
          </a:p>
          <a:p>
            <a:r>
              <a:rPr lang="en-US" dirty="0"/>
              <a:t>These backlinks act as votes of confidence, signaling to search engines like Google that your site is reputable and </a:t>
            </a:r>
            <a:r>
              <a:rPr lang="en-US" dirty="0" smtClean="0"/>
              <a:t>trustworthy.</a:t>
            </a:r>
          </a:p>
          <a:p>
            <a:r>
              <a:rPr lang="en-US" dirty="0"/>
              <a:t>Effective link building relies on creating valuable content, engaging in outreach, and fostering relationships with relevant websites. </a:t>
            </a:r>
            <a:endParaRPr lang="en-IN" dirty="0"/>
          </a:p>
        </p:txBody>
      </p:sp>
    </p:spTree>
    <p:extLst>
      <p:ext uri="{BB962C8B-B14F-4D97-AF65-F5344CB8AC3E}">
        <p14:creationId xmlns:p14="http://schemas.microsoft.com/office/powerpoint/2010/main" val="787622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lnSpcReduction="10000"/>
          </a:bodyPr>
          <a:lstStyle/>
          <a:p>
            <a:r>
              <a:rPr lang="en-US" b="1" dirty="0"/>
              <a:t>High-Quality </a:t>
            </a:r>
            <a:r>
              <a:rPr lang="en-US" b="1" dirty="0" smtClean="0"/>
              <a:t>Content: </a:t>
            </a:r>
            <a:r>
              <a:rPr lang="en-US" dirty="0" smtClean="0"/>
              <a:t>Content </a:t>
            </a:r>
            <a:r>
              <a:rPr lang="en-US" dirty="0"/>
              <a:t>that is valuable, engaging, and shareable is crucial for attracting backlinks naturally. This can include blog posts, in-depth guides, infographics, and other visual assets. </a:t>
            </a:r>
            <a:endParaRPr lang="en-US" dirty="0" smtClean="0"/>
          </a:p>
          <a:p>
            <a:r>
              <a:rPr lang="en-US" b="1" dirty="0"/>
              <a:t>Relevant </a:t>
            </a:r>
            <a:r>
              <a:rPr lang="en-US" b="1" dirty="0" smtClean="0"/>
              <a:t>Websites:</a:t>
            </a:r>
            <a:r>
              <a:rPr lang="en-US" dirty="0"/>
              <a:t> </a:t>
            </a:r>
            <a:r>
              <a:rPr lang="en-US" dirty="0" smtClean="0"/>
              <a:t>Targeting </a:t>
            </a:r>
            <a:r>
              <a:rPr lang="en-US" dirty="0"/>
              <a:t>websites that are relevant to your industry and audience is essential. A backlink from a reputable site in your niche carries more weight than one from an unrelated source. </a:t>
            </a:r>
          </a:p>
        </p:txBody>
      </p:sp>
    </p:spTree>
    <p:extLst>
      <p:ext uri="{BB962C8B-B14F-4D97-AF65-F5344CB8AC3E}">
        <p14:creationId xmlns:p14="http://schemas.microsoft.com/office/powerpoint/2010/main" val="670462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715000"/>
          </a:xfrm>
        </p:spPr>
        <p:txBody>
          <a:bodyPr>
            <a:noAutofit/>
          </a:bodyPr>
          <a:lstStyle/>
          <a:p>
            <a:r>
              <a:rPr lang="en-US" sz="2500" b="1" dirty="0" smtClean="0"/>
              <a:t>Outreach: </a:t>
            </a:r>
            <a:r>
              <a:rPr lang="en-US" sz="2500" dirty="0" smtClean="0"/>
              <a:t>Reaching </a:t>
            </a:r>
            <a:r>
              <a:rPr lang="en-US" sz="2500" dirty="0"/>
              <a:t>out to website owners and content creators with personalized messages to request backlinks is a common practice. This can involve guest posting, broken link building, and other outreach strategies. </a:t>
            </a:r>
            <a:endParaRPr lang="en-US" sz="2500" dirty="0" smtClean="0"/>
          </a:p>
          <a:p>
            <a:r>
              <a:rPr lang="en-US" sz="2500" b="1" dirty="0"/>
              <a:t>Link Building Strategies</a:t>
            </a:r>
            <a:r>
              <a:rPr lang="en-US" sz="2500" dirty="0"/>
              <a:t>:</a:t>
            </a:r>
          </a:p>
          <a:p>
            <a:pPr marL="514350" indent="-514350">
              <a:buFont typeface="+mj-lt"/>
              <a:buAutoNum type="arabicPeriod"/>
            </a:pPr>
            <a:r>
              <a:rPr lang="en-US" sz="2500" dirty="0"/>
              <a:t>Guest Posting: Contributing articles to other websites with a link back to your site is a popular method. </a:t>
            </a:r>
          </a:p>
          <a:p>
            <a:pPr marL="514350" indent="-514350">
              <a:buFont typeface="+mj-lt"/>
              <a:buAutoNum type="arabicPeriod"/>
            </a:pPr>
            <a:r>
              <a:rPr lang="en-US" sz="2500" dirty="0"/>
              <a:t>Broken Link Building: Finding broken links on other websites and suggesting your relevant content as a replacement. </a:t>
            </a:r>
          </a:p>
          <a:p>
            <a:pPr marL="514350" indent="-514350">
              <a:buFont typeface="+mj-lt"/>
              <a:buAutoNum type="arabicPeriod"/>
            </a:pPr>
            <a:r>
              <a:rPr lang="en-US" sz="2500" dirty="0"/>
              <a:t>Content Marketing: Creating and promoting valuable content to attract natural backlinks. </a:t>
            </a:r>
          </a:p>
          <a:p>
            <a:pPr marL="514350" indent="-514350">
              <a:buFont typeface="+mj-lt"/>
              <a:buAutoNum type="arabicPeriod"/>
            </a:pPr>
            <a:r>
              <a:rPr lang="en-US" sz="2500" dirty="0"/>
              <a:t>Public Relations: Building relationships with journalists and media outlets to secure coverage and backlinks. </a:t>
            </a:r>
            <a:endParaRPr lang="en-IN" sz="2500" dirty="0"/>
          </a:p>
        </p:txBody>
      </p:sp>
    </p:spTree>
    <p:extLst>
      <p:ext uri="{BB962C8B-B14F-4D97-AF65-F5344CB8AC3E}">
        <p14:creationId xmlns:p14="http://schemas.microsoft.com/office/powerpoint/2010/main" val="40350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a:bodyPr>
          <a:lstStyle/>
          <a:p>
            <a:r>
              <a:rPr lang="en-US" b="1" dirty="0"/>
              <a:t>Relationship </a:t>
            </a:r>
            <a:r>
              <a:rPr lang="en-US" b="1" dirty="0" smtClean="0"/>
              <a:t>Building: </a:t>
            </a:r>
            <a:r>
              <a:rPr lang="en-US" dirty="0" smtClean="0"/>
              <a:t>Link </a:t>
            </a:r>
            <a:r>
              <a:rPr lang="en-US" dirty="0"/>
              <a:t>building is not just about acquiring links, but also about building relationships with influencers and other website owners. </a:t>
            </a:r>
          </a:p>
          <a:p>
            <a:r>
              <a:rPr lang="en-US" b="1" dirty="0"/>
              <a:t>Monitoring </a:t>
            </a:r>
            <a:r>
              <a:rPr lang="en-US" b="1" dirty="0" smtClean="0"/>
              <a:t>Backlinks</a:t>
            </a:r>
            <a:r>
              <a:rPr lang="en-US" dirty="0" smtClean="0"/>
              <a:t>: Regularly </a:t>
            </a:r>
            <a:r>
              <a:rPr lang="en-US" dirty="0"/>
              <a:t>monitoring your backlinks helps you track your progress and identify any potential issues. Link building is not just about acquiring links, but also about building relationships with influencers and other website owners. </a:t>
            </a:r>
          </a:p>
        </p:txBody>
      </p:sp>
    </p:spTree>
    <p:extLst>
      <p:ext uri="{BB962C8B-B14F-4D97-AF65-F5344CB8AC3E}">
        <p14:creationId xmlns:p14="http://schemas.microsoft.com/office/powerpoint/2010/main" val="3802761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lstStyle/>
          <a:p>
            <a:r>
              <a:rPr lang="en-US" b="1" dirty="0"/>
              <a:t>Link </a:t>
            </a:r>
            <a:r>
              <a:rPr lang="en-US" b="1" dirty="0" smtClean="0"/>
              <a:t>Analysis: </a:t>
            </a:r>
            <a:r>
              <a:rPr lang="en-US" dirty="0" smtClean="0"/>
              <a:t>Analyzing </a:t>
            </a:r>
            <a:r>
              <a:rPr lang="en-US" dirty="0"/>
              <a:t>backlinks, including their anchor text and referring domains, helps you understand what's working and what's not. </a:t>
            </a:r>
          </a:p>
          <a:p>
            <a:r>
              <a:rPr lang="en-US" b="1" dirty="0"/>
              <a:t>Internal </a:t>
            </a:r>
            <a:r>
              <a:rPr lang="en-US" b="1" dirty="0" smtClean="0"/>
              <a:t>Linking: </a:t>
            </a:r>
            <a:r>
              <a:rPr lang="en-US" dirty="0" smtClean="0"/>
              <a:t>Optimizing </a:t>
            </a:r>
            <a:r>
              <a:rPr lang="en-US" dirty="0"/>
              <a:t>internal links within your own website to improve navigation and distribute link equity. </a:t>
            </a:r>
            <a:endParaRPr lang="en-IN" dirty="0"/>
          </a:p>
        </p:txBody>
      </p:sp>
    </p:spTree>
    <p:extLst>
      <p:ext uri="{BB962C8B-B14F-4D97-AF65-F5344CB8AC3E}">
        <p14:creationId xmlns:p14="http://schemas.microsoft.com/office/powerpoint/2010/main" val="3785774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Approaches to Content- based link acquisition</a:t>
            </a:r>
            <a:endParaRPr lang="en-IN" dirty="0"/>
          </a:p>
        </p:txBody>
      </p:sp>
      <p:sp>
        <p:nvSpPr>
          <p:cNvPr id="3" name="Content Placeholder 2"/>
          <p:cNvSpPr>
            <a:spLocks noGrp="1"/>
          </p:cNvSpPr>
          <p:nvPr>
            <p:ph idx="1"/>
          </p:nvPr>
        </p:nvSpPr>
        <p:spPr/>
        <p:txBody>
          <a:bodyPr/>
          <a:lstStyle/>
          <a:p>
            <a:r>
              <a:rPr lang="en-US" dirty="0" smtClean="0"/>
              <a:t>It </a:t>
            </a:r>
            <a:r>
              <a:rPr lang="en-US" dirty="0"/>
              <a:t>on earning backlinks by creating and promoting high-quality, valuable content that naturally attracts links from other </a:t>
            </a:r>
            <a:r>
              <a:rPr lang="en-US" dirty="0" smtClean="0"/>
              <a:t>websites.</a:t>
            </a:r>
          </a:p>
          <a:p>
            <a:r>
              <a:rPr lang="en-US" dirty="0"/>
              <a:t>This approach involves crafting content that is not only relevant to your target audience but also compelling and shareable, making it a desirable resource for other websites to link to. </a:t>
            </a:r>
            <a:endParaRPr lang="en-IN" dirty="0"/>
          </a:p>
        </p:txBody>
      </p:sp>
    </p:spTree>
    <p:extLst>
      <p:ext uri="{BB962C8B-B14F-4D97-AF65-F5344CB8AC3E}">
        <p14:creationId xmlns:p14="http://schemas.microsoft.com/office/powerpoint/2010/main" val="405766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r>
              <a:rPr lang="en-US" sz="2300" b="1" dirty="0"/>
              <a:t>Content Creation for Link Acquisition:</a:t>
            </a:r>
          </a:p>
          <a:p>
            <a:pPr marL="514350" indent="-514350" algn="just">
              <a:buFont typeface="+mj-lt"/>
              <a:buAutoNum type="arabicPeriod"/>
            </a:pPr>
            <a:r>
              <a:rPr lang="en-US" sz="2300" b="1" dirty="0"/>
              <a:t>Identify Linkable </a:t>
            </a:r>
            <a:r>
              <a:rPr lang="en-US" sz="2300" b="1" dirty="0" smtClean="0"/>
              <a:t>Content</a:t>
            </a:r>
            <a:r>
              <a:rPr lang="en-US" sz="2300" dirty="0" smtClean="0"/>
              <a:t>: Determine </a:t>
            </a:r>
            <a:r>
              <a:rPr lang="en-US" sz="2300" dirty="0"/>
              <a:t>topics and formats that are likely to attract backlinks, such as in-depth guides, research reports, data visualizations, case studies, or interactive content. </a:t>
            </a:r>
          </a:p>
          <a:p>
            <a:pPr marL="514350" indent="-514350" algn="just">
              <a:buFont typeface="+mj-lt"/>
              <a:buAutoNum type="arabicPeriod"/>
            </a:pPr>
            <a:r>
              <a:rPr lang="en-US" sz="2300" b="1" dirty="0"/>
              <a:t>Create High-Quality </a:t>
            </a:r>
            <a:r>
              <a:rPr lang="en-US" sz="2300" b="1" dirty="0" smtClean="0"/>
              <a:t>Content</a:t>
            </a:r>
            <a:r>
              <a:rPr lang="en-US" sz="2300" dirty="0" smtClean="0"/>
              <a:t>: Focus </a:t>
            </a:r>
            <a:r>
              <a:rPr lang="en-US" sz="2300" dirty="0"/>
              <a:t>on producing content that is well-researched, informative, engaging, and visually appealing. </a:t>
            </a:r>
          </a:p>
          <a:p>
            <a:pPr marL="514350" indent="-514350" algn="just">
              <a:buFont typeface="+mj-lt"/>
              <a:buAutoNum type="arabicPeriod"/>
            </a:pPr>
            <a:r>
              <a:rPr lang="en-US" sz="2300" b="1" dirty="0"/>
              <a:t>Optimize for Search </a:t>
            </a:r>
            <a:r>
              <a:rPr lang="en-US" sz="2300" b="1" dirty="0" smtClean="0"/>
              <a:t>Engines</a:t>
            </a:r>
            <a:r>
              <a:rPr lang="en-US" sz="2300" dirty="0" smtClean="0"/>
              <a:t>: Ensure </a:t>
            </a:r>
            <a:r>
              <a:rPr lang="en-US" sz="2300" dirty="0"/>
              <a:t>your content is optimized for relevant keywords to increase its visibility and attract organic traffic. </a:t>
            </a:r>
          </a:p>
          <a:p>
            <a:pPr marL="514350" indent="-514350" algn="just">
              <a:buFont typeface="+mj-lt"/>
              <a:buAutoNum type="arabicPeriod"/>
            </a:pPr>
            <a:r>
              <a:rPr lang="en-US" sz="2300" b="1" dirty="0"/>
              <a:t>Skyscraper </a:t>
            </a:r>
            <a:r>
              <a:rPr lang="en-US" sz="2300" b="1" dirty="0" smtClean="0"/>
              <a:t>Technique</a:t>
            </a:r>
            <a:r>
              <a:rPr lang="en-US" sz="2300" dirty="0" smtClean="0"/>
              <a:t>: Create </a:t>
            </a:r>
            <a:r>
              <a:rPr lang="en-US" sz="2300" dirty="0"/>
              <a:t>superior content based on existing popular content, making it more comprehensive and valuable to earn backlinks from those linking to the original piece. </a:t>
            </a:r>
          </a:p>
          <a:p>
            <a:pPr marL="514350" indent="-514350" algn="just">
              <a:buFont typeface="+mj-lt"/>
              <a:buAutoNum type="arabicPeriod"/>
            </a:pPr>
            <a:r>
              <a:rPr lang="en-US" sz="2300" b="1" dirty="0"/>
              <a:t>Resource </a:t>
            </a:r>
            <a:r>
              <a:rPr lang="en-US" sz="2300" b="1" dirty="0" smtClean="0"/>
              <a:t>Pages: </a:t>
            </a:r>
            <a:r>
              <a:rPr lang="en-US" sz="2300" dirty="0" smtClean="0"/>
              <a:t>Identify </a:t>
            </a:r>
            <a:r>
              <a:rPr lang="en-US" sz="2300" dirty="0"/>
              <a:t>relevant resource pages on other websites and offer your content as a valuable addition. </a:t>
            </a:r>
            <a:endParaRPr lang="en-IN" sz="2300" dirty="0"/>
          </a:p>
        </p:txBody>
      </p:sp>
    </p:spTree>
    <p:extLst>
      <p:ext uri="{BB962C8B-B14F-4D97-AF65-F5344CB8AC3E}">
        <p14:creationId xmlns:p14="http://schemas.microsoft.com/office/powerpoint/2010/main" val="3257037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Autofit/>
          </a:bodyPr>
          <a:lstStyle/>
          <a:p>
            <a:r>
              <a:rPr lang="en-US" sz="2300" b="1" dirty="0"/>
              <a:t>Link Building Strategies:</a:t>
            </a:r>
          </a:p>
          <a:p>
            <a:pPr marL="457200" indent="-457200">
              <a:buFont typeface="+mj-lt"/>
              <a:buAutoNum type="arabicPeriod"/>
            </a:pPr>
            <a:r>
              <a:rPr lang="en-US" sz="2300" b="1" dirty="0"/>
              <a:t>Guest </a:t>
            </a:r>
            <a:r>
              <a:rPr lang="en-US" sz="2300" b="1" dirty="0" smtClean="0"/>
              <a:t>Posting:</a:t>
            </a:r>
            <a:r>
              <a:rPr lang="en-US" sz="2300" dirty="0"/>
              <a:t> </a:t>
            </a:r>
            <a:r>
              <a:rPr lang="en-US" sz="2300" dirty="0" smtClean="0"/>
              <a:t>Write </a:t>
            </a:r>
            <a:r>
              <a:rPr lang="en-US" sz="2300" dirty="0"/>
              <a:t>guest posts for reputable websites in your niche, including a link back to your site in the author bio or body of the article. </a:t>
            </a:r>
          </a:p>
          <a:p>
            <a:pPr marL="457200" indent="-457200">
              <a:buFont typeface="+mj-lt"/>
              <a:buAutoNum type="arabicPeriod"/>
            </a:pPr>
            <a:r>
              <a:rPr lang="en-US" sz="2300" b="1" dirty="0" smtClean="0"/>
              <a:t>Broken Link Building: </a:t>
            </a:r>
            <a:r>
              <a:rPr lang="en-US" sz="2300" dirty="0" smtClean="0"/>
              <a:t>Find </a:t>
            </a:r>
            <a:r>
              <a:rPr lang="en-US" sz="2300" dirty="0"/>
              <a:t>broken links on other websites and suggest your content as a replacement, offering a valuable solution for the site owner. </a:t>
            </a:r>
          </a:p>
          <a:p>
            <a:pPr marL="457200" indent="-457200">
              <a:buFont typeface="+mj-lt"/>
              <a:buAutoNum type="arabicPeriod"/>
            </a:pPr>
            <a:r>
              <a:rPr lang="en-US" sz="2300" b="1" dirty="0" smtClean="0"/>
              <a:t>HARO (Help A Reporter Out): </a:t>
            </a:r>
            <a:r>
              <a:rPr lang="en-US" sz="2300" dirty="0" smtClean="0"/>
              <a:t>Participate </a:t>
            </a:r>
            <a:r>
              <a:rPr lang="en-US" sz="2300" dirty="0"/>
              <a:t>in HARO by providing expert insights and quotes to journalists, potentially earning backlinks from news outlets. </a:t>
            </a:r>
          </a:p>
          <a:p>
            <a:pPr marL="457200" indent="-457200">
              <a:buFont typeface="+mj-lt"/>
              <a:buAutoNum type="arabicPeriod"/>
            </a:pPr>
            <a:r>
              <a:rPr lang="en-US" sz="2300" b="1" dirty="0" smtClean="0"/>
              <a:t>Content Syndication: </a:t>
            </a:r>
            <a:r>
              <a:rPr lang="en-US" sz="2300" dirty="0" smtClean="0"/>
              <a:t>Repost </a:t>
            </a:r>
            <a:r>
              <a:rPr lang="en-US" sz="2300" dirty="0"/>
              <a:t>your content on platforms like Medium or LinkedIn, using canonical tags to retain SEO value. </a:t>
            </a:r>
          </a:p>
          <a:p>
            <a:pPr marL="457200" indent="-457200">
              <a:buFont typeface="+mj-lt"/>
              <a:buAutoNum type="arabicPeriod"/>
            </a:pPr>
            <a:r>
              <a:rPr lang="en-US" sz="2300" b="1" dirty="0" smtClean="0"/>
              <a:t>Niche Directory Submission: </a:t>
            </a:r>
            <a:r>
              <a:rPr lang="en-US" sz="2300" dirty="0" smtClean="0"/>
              <a:t>Submit </a:t>
            </a:r>
            <a:r>
              <a:rPr lang="en-US" sz="2300" dirty="0"/>
              <a:t>your content to relevant industry-specific directories. </a:t>
            </a:r>
          </a:p>
        </p:txBody>
      </p:sp>
    </p:spTree>
    <p:extLst>
      <p:ext uri="{BB962C8B-B14F-4D97-AF65-F5344CB8AC3E}">
        <p14:creationId xmlns:p14="http://schemas.microsoft.com/office/powerpoint/2010/main" val="2562834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a:bodyPr>
          <a:lstStyle/>
          <a:p>
            <a:r>
              <a:rPr lang="en-US" dirty="0"/>
              <a:t>Social Media Engagement: Share your content on social media, engage with influencers, and participate in relevant groups to increase visibility and attract backlinks. </a:t>
            </a:r>
          </a:p>
          <a:p>
            <a:r>
              <a:rPr lang="en-US" dirty="0"/>
              <a:t>Forum </a:t>
            </a:r>
            <a:r>
              <a:rPr lang="en-US" dirty="0" smtClean="0"/>
              <a:t>Participation: Join </a:t>
            </a:r>
            <a:r>
              <a:rPr lang="en-US" dirty="0"/>
              <a:t>relevant forums and participate in discussions, contributing valuable insights and subtly promoting your content when appropriate. </a:t>
            </a:r>
          </a:p>
          <a:p>
            <a:endParaRPr lang="en-IN" dirty="0"/>
          </a:p>
        </p:txBody>
      </p:sp>
    </p:spTree>
    <p:extLst>
      <p:ext uri="{BB962C8B-B14F-4D97-AF65-F5344CB8AC3E}">
        <p14:creationId xmlns:p14="http://schemas.microsoft.com/office/powerpoint/2010/main" val="2450428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92500" lnSpcReduction="20000"/>
          </a:bodyPr>
          <a:lstStyle/>
          <a:p>
            <a:r>
              <a:rPr lang="en-US" b="1" dirty="0"/>
              <a:t>Building Relationships for Link Acquisition</a:t>
            </a:r>
            <a:r>
              <a:rPr lang="en-US" dirty="0"/>
              <a:t>:</a:t>
            </a:r>
          </a:p>
          <a:p>
            <a:pPr marL="514350" indent="-514350">
              <a:buFont typeface="+mj-lt"/>
              <a:buAutoNum type="arabicPeriod"/>
            </a:pPr>
            <a:r>
              <a:rPr lang="en-US" b="1" dirty="0"/>
              <a:t>Personalized </a:t>
            </a:r>
            <a:r>
              <a:rPr lang="en-US" b="1" dirty="0" smtClean="0"/>
              <a:t>Outreach: </a:t>
            </a:r>
            <a:r>
              <a:rPr lang="en-US" dirty="0" smtClean="0"/>
              <a:t>Reach </a:t>
            </a:r>
            <a:r>
              <a:rPr lang="en-US" dirty="0"/>
              <a:t>out to websites and influencers with personalized emails or messages that clearly explain the value of your content and why they should link to it. </a:t>
            </a:r>
          </a:p>
          <a:p>
            <a:pPr marL="514350" indent="-514350">
              <a:buFont typeface="+mj-lt"/>
              <a:buAutoNum type="arabicPeriod"/>
            </a:pPr>
            <a:r>
              <a:rPr lang="en-US" b="1" dirty="0"/>
              <a:t>Relationship </a:t>
            </a:r>
            <a:r>
              <a:rPr lang="en-US" b="1" dirty="0" smtClean="0"/>
              <a:t>Building: </a:t>
            </a:r>
            <a:r>
              <a:rPr lang="en-US" dirty="0" smtClean="0"/>
              <a:t>Engage </a:t>
            </a:r>
            <a:r>
              <a:rPr lang="en-US" dirty="0"/>
              <a:t>with website owners, bloggers, and influencers, building genuine relationships through social media and email outreach. </a:t>
            </a:r>
          </a:p>
          <a:p>
            <a:pPr marL="514350" indent="-514350">
              <a:buFont typeface="+mj-lt"/>
              <a:buAutoNum type="arabicPeriod"/>
            </a:pPr>
            <a:r>
              <a:rPr lang="en-US" b="1" dirty="0"/>
              <a:t>Multi-Channel </a:t>
            </a:r>
            <a:r>
              <a:rPr lang="en-US" b="1" dirty="0" smtClean="0"/>
              <a:t>Engagement: </a:t>
            </a:r>
            <a:r>
              <a:rPr lang="en-US" dirty="0" smtClean="0"/>
              <a:t>Connect </a:t>
            </a:r>
            <a:r>
              <a:rPr lang="en-US" dirty="0"/>
              <a:t>with prospects on social media before sending outreach emails to establish recognition and rapport, according to </a:t>
            </a:r>
            <a:r>
              <a:rPr lang="en-US" dirty="0" err="1"/>
              <a:t>LinkyJuice</a:t>
            </a:r>
            <a:r>
              <a:rPr lang="en-US" dirty="0"/>
              <a:t>. </a:t>
            </a:r>
            <a:endParaRPr lang="en-IN" dirty="0"/>
          </a:p>
        </p:txBody>
      </p:sp>
    </p:spTree>
    <p:extLst>
      <p:ext uri="{BB962C8B-B14F-4D97-AF65-F5344CB8AC3E}">
        <p14:creationId xmlns:p14="http://schemas.microsoft.com/office/powerpoint/2010/main" val="1354649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r>
              <a:rPr lang="en-US" b="1" dirty="0"/>
              <a:t>Measuring and Analyzing Results</a:t>
            </a:r>
            <a:r>
              <a:rPr lang="en-US" dirty="0"/>
              <a:t>:</a:t>
            </a:r>
          </a:p>
          <a:p>
            <a:pPr marL="514350" indent="-514350">
              <a:buFont typeface="+mj-lt"/>
              <a:buAutoNum type="arabicPeriod"/>
            </a:pPr>
            <a:r>
              <a:rPr lang="en-US" b="1" dirty="0"/>
              <a:t>Track Link </a:t>
            </a:r>
            <a:r>
              <a:rPr lang="en-US" b="1" dirty="0" smtClean="0"/>
              <a:t>Acquisition: </a:t>
            </a:r>
            <a:r>
              <a:rPr lang="en-US" dirty="0" smtClean="0"/>
              <a:t>Monitor </a:t>
            </a:r>
            <a:r>
              <a:rPr lang="en-US" dirty="0"/>
              <a:t>the number of backlinks you acquire from your content-based link building efforts. </a:t>
            </a:r>
          </a:p>
          <a:p>
            <a:pPr marL="514350" indent="-514350">
              <a:buFont typeface="+mj-lt"/>
              <a:buAutoNum type="arabicPeriod"/>
            </a:pPr>
            <a:r>
              <a:rPr lang="en-US" b="1" dirty="0"/>
              <a:t>Analyze Backlink </a:t>
            </a:r>
            <a:r>
              <a:rPr lang="en-US" b="1" dirty="0" smtClean="0"/>
              <a:t>Quality: </a:t>
            </a:r>
            <a:r>
              <a:rPr lang="en-US" dirty="0" smtClean="0"/>
              <a:t>Evaluate </a:t>
            </a:r>
            <a:r>
              <a:rPr lang="en-US" dirty="0"/>
              <a:t>the quality of your backlinks based on factors like domain authority, relevance, and traffic. </a:t>
            </a:r>
          </a:p>
          <a:p>
            <a:pPr marL="514350" indent="-514350">
              <a:buFont typeface="+mj-lt"/>
              <a:buAutoNum type="arabicPeriod"/>
            </a:pPr>
            <a:r>
              <a:rPr lang="en-US" b="1" dirty="0"/>
              <a:t>Refine Your </a:t>
            </a:r>
            <a:r>
              <a:rPr lang="en-US" b="1" dirty="0" smtClean="0"/>
              <a:t>Strategy: </a:t>
            </a:r>
            <a:r>
              <a:rPr lang="en-US" dirty="0" smtClean="0"/>
              <a:t>Use </a:t>
            </a:r>
            <a:r>
              <a:rPr lang="en-US" dirty="0"/>
              <a:t>data analysis to identify what's working and what's not, and adjust your content and link building strategies accordingly. </a:t>
            </a:r>
            <a:endParaRPr lang="en-IN" dirty="0"/>
          </a:p>
        </p:txBody>
      </p:sp>
    </p:spTree>
    <p:extLst>
      <p:ext uri="{BB962C8B-B14F-4D97-AF65-F5344CB8AC3E}">
        <p14:creationId xmlns:p14="http://schemas.microsoft.com/office/powerpoint/2010/main" val="390512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Link </a:t>
            </a:r>
            <a:r>
              <a:rPr lang="en-IN" b="1" dirty="0" smtClean="0"/>
              <a:t>Marketing</a:t>
            </a:r>
            <a:endParaRPr lang="en-IN" b="1" dirty="0"/>
          </a:p>
        </p:txBody>
      </p:sp>
      <p:sp>
        <p:nvSpPr>
          <p:cNvPr id="3" name="Content Placeholder 2"/>
          <p:cNvSpPr>
            <a:spLocks noGrp="1"/>
          </p:cNvSpPr>
          <p:nvPr>
            <p:ph idx="1"/>
          </p:nvPr>
        </p:nvSpPr>
        <p:spPr/>
        <p:txBody>
          <a:bodyPr>
            <a:normAutofit fontScale="92500" lnSpcReduction="10000"/>
          </a:bodyPr>
          <a:lstStyle/>
          <a:p>
            <a:r>
              <a:rPr lang="en-US" dirty="0" smtClean="0"/>
              <a:t>Link Building.</a:t>
            </a:r>
          </a:p>
          <a:p>
            <a:r>
              <a:rPr lang="en-US" dirty="0" smtClean="0"/>
              <a:t>It</a:t>
            </a:r>
            <a:r>
              <a:rPr lang="en-US" dirty="0"/>
              <a:t> is a strategy focused on acquiring hyperlinks from other websites to your </a:t>
            </a:r>
            <a:r>
              <a:rPr lang="en-US" dirty="0" smtClean="0"/>
              <a:t>own.</a:t>
            </a:r>
          </a:p>
          <a:p>
            <a:r>
              <a:rPr lang="en-US" dirty="0"/>
              <a:t>These links act as endorsements, signaling to search engines that your site is reputable and trustworthy, thus boosting its ranking in search results</a:t>
            </a:r>
            <a:r>
              <a:rPr lang="en-US" dirty="0" smtClean="0"/>
              <a:t>.</a:t>
            </a:r>
          </a:p>
          <a:p>
            <a:r>
              <a:rPr lang="en-US" dirty="0"/>
              <a:t> Essentially, it's about making connections and building relationships with other websites to drive traffic and improve your online visibility. </a:t>
            </a:r>
            <a:endParaRPr lang="en-IN" dirty="0"/>
          </a:p>
        </p:txBody>
      </p:sp>
    </p:spTree>
    <p:extLst>
      <p:ext uri="{BB962C8B-B14F-4D97-AF65-F5344CB8AC3E}">
        <p14:creationId xmlns:p14="http://schemas.microsoft.com/office/powerpoint/2010/main" val="150191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fontScale="92500" lnSpcReduction="10000"/>
          </a:bodyPr>
          <a:lstStyle/>
          <a:p>
            <a:r>
              <a:rPr lang="en-US" b="1" dirty="0"/>
              <a:t>Acquiring </a:t>
            </a:r>
            <a:r>
              <a:rPr lang="en-US" b="1" dirty="0" smtClean="0"/>
              <a:t>Backlinks: </a:t>
            </a:r>
            <a:r>
              <a:rPr lang="en-US" dirty="0" smtClean="0"/>
              <a:t>Link </a:t>
            </a:r>
            <a:r>
              <a:rPr lang="en-US" dirty="0"/>
              <a:t>marketing involves </a:t>
            </a:r>
            <a:r>
              <a:rPr lang="en-US" dirty="0" smtClean="0"/>
              <a:t> actively </a:t>
            </a:r>
            <a:r>
              <a:rPr lang="en-US" dirty="0"/>
              <a:t>seeking out and obtaining hyperlinks (also known as backlinks) from other websites to your own. </a:t>
            </a:r>
          </a:p>
          <a:p>
            <a:r>
              <a:rPr lang="en-US" b="1" dirty="0"/>
              <a:t>SEO </a:t>
            </a:r>
            <a:r>
              <a:rPr lang="en-US" b="1" dirty="0" smtClean="0"/>
              <a:t>Optimization:</a:t>
            </a:r>
            <a:r>
              <a:rPr lang="en-US" dirty="0"/>
              <a:t>  </a:t>
            </a:r>
            <a:r>
              <a:rPr lang="en-US" dirty="0" smtClean="0"/>
              <a:t>Backlinks </a:t>
            </a:r>
            <a:r>
              <a:rPr lang="en-US" dirty="0"/>
              <a:t>are a crucial factor in search engine optimization (SEO) as they signal to search engines like Google the value and relevance of your content. </a:t>
            </a:r>
          </a:p>
          <a:p>
            <a:r>
              <a:rPr lang="en-US" b="1" dirty="0"/>
              <a:t>Relationship </a:t>
            </a:r>
            <a:r>
              <a:rPr lang="en-US" b="1" dirty="0" smtClean="0"/>
              <a:t>Building:</a:t>
            </a:r>
            <a:r>
              <a:rPr lang="en-US" dirty="0"/>
              <a:t> </a:t>
            </a:r>
            <a:r>
              <a:rPr lang="en-US" dirty="0" smtClean="0"/>
              <a:t>Effective </a:t>
            </a:r>
            <a:r>
              <a:rPr lang="en-US" dirty="0"/>
              <a:t>link building often involves building relationships with other website owners and content creators to secure these valuable links. </a:t>
            </a:r>
          </a:p>
        </p:txBody>
      </p:sp>
    </p:spTree>
    <p:extLst>
      <p:ext uri="{BB962C8B-B14F-4D97-AF65-F5344CB8AC3E}">
        <p14:creationId xmlns:p14="http://schemas.microsoft.com/office/powerpoint/2010/main" val="1971088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Importance of L.M</a:t>
            </a:r>
            <a:endParaRPr lang="en-IN"/>
          </a:p>
        </p:txBody>
      </p:sp>
      <p:sp>
        <p:nvSpPr>
          <p:cNvPr id="3" name="Content Placeholder 2"/>
          <p:cNvSpPr>
            <a:spLocks noGrp="1"/>
          </p:cNvSpPr>
          <p:nvPr>
            <p:ph idx="1"/>
          </p:nvPr>
        </p:nvSpPr>
        <p:spPr/>
        <p:txBody>
          <a:bodyPr>
            <a:normAutofit fontScale="92500" lnSpcReduction="10000"/>
          </a:bodyPr>
          <a:lstStyle/>
          <a:p>
            <a:r>
              <a:rPr lang="en-US" b="1" dirty="0"/>
              <a:t>Improved Search Engine </a:t>
            </a:r>
            <a:r>
              <a:rPr lang="en-US" b="1" dirty="0" smtClean="0"/>
              <a:t>Rankings:</a:t>
            </a:r>
            <a:r>
              <a:rPr lang="en-US" dirty="0"/>
              <a:t> </a:t>
            </a:r>
            <a:r>
              <a:rPr lang="en-US" dirty="0" smtClean="0"/>
              <a:t>High-quality </a:t>
            </a:r>
            <a:r>
              <a:rPr lang="en-US" dirty="0"/>
              <a:t>backlinks from reputable websites can significantly improve your website's ranking in search engine results pages (SERPs). </a:t>
            </a:r>
          </a:p>
          <a:p>
            <a:r>
              <a:rPr lang="en-US" b="1" dirty="0"/>
              <a:t>Increased Website </a:t>
            </a:r>
            <a:r>
              <a:rPr lang="en-US" b="1" dirty="0" smtClean="0"/>
              <a:t>Traffic:</a:t>
            </a:r>
            <a:r>
              <a:rPr lang="en-US" dirty="0"/>
              <a:t> </a:t>
            </a:r>
            <a:r>
              <a:rPr lang="en-US" dirty="0" smtClean="0"/>
              <a:t>Higher </a:t>
            </a:r>
            <a:r>
              <a:rPr lang="en-US" dirty="0"/>
              <a:t>rankings translate to more visibility and, consequently, more organic traffic to your website. </a:t>
            </a:r>
          </a:p>
          <a:p>
            <a:r>
              <a:rPr lang="en-US" b="1" dirty="0"/>
              <a:t>Enhanced Brand </a:t>
            </a:r>
            <a:r>
              <a:rPr lang="en-US" b="1" dirty="0" smtClean="0"/>
              <a:t>Authority:</a:t>
            </a:r>
            <a:r>
              <a:rPr lang="en-US" dirty="0"/>
              <a:t> </a:t>
            </a:r>
            <a:r>
              <a:rPr lang="en-US" dirty="0" smtClean="0"/>
              <a:t>When </a:t>
            </a:r>
            <a:r>
              <a:rPr lang="en-US" dirty="0"/>
              <a:t>reputable websites link to your content, it can enhance your brand's reputation and perceived authority. </a:t>
            </a:r>
          </a:p>
          <a:p>
            <a:endParaRPr lang="en-IN" dirty="0"/>
          </a:p>
        </p:txBody>
      </p:sp>
    </p:spTree>
    <p:extLst>
      <p:ext uri="{BB962C8B-B14F-4D97-AF65-F5344CB8AC3E}">
        <p14:creationId xmlns:p14="http://schemas.microsoft.com/office/powerpoint/2010/main" val="3717501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Marketing vs. Link Building</a:t>
            </a:r>
            <a:endParaRPr lang="en-IN" dirty="0"/>
          </a:p>
        </p:txBody>
      </p:sp>
      <p:sp>
        <p:nvSpPr>
          <p:cNvPr id="3" name="Content Placeholder 2"/>
          <p:cNvSpPr>
            <a:spLocks noGrp="1"/>
          </p:cNvSpPr>
          <p:nvPr>
            <p:ph idx="1"/>
          </p:nvPr>
        </p:nvSpPr>
        <p:spPr/>
        <p:txBody>
          <a:bodyPr>
            <a:normAutofit fontScale="92500" lnSpcReduction="20000"/>
          </a:bodyPr>
          <a:lstStyle/>
          <a:p>
            <a:r>
              <a:rPr lang="en-US" b="1" dirty="0"/>
              <a:t>Link Building:</a:t>
            </a:r>
            <a:endParaRPr lang="en-US" dirty="0"/>
          </a:p>
          <a:p>
            <a:pPr fontAlgn="ctr"/>
            <a:r>
              <a:rPr lang="en-US" dirty="0"/>
              <a:t>Focuses on the technical and strategic aspects of acquiring backlinks, such as finding relevant websites, reaching out, and securing the link. </a:t>
            </a:r>
          </a:p>
          <a:p>
            <a:r>
              <a:rPr lang="en-US" b="1" dirty="0"/>
              <a:t>Link Marketing:</a:t>
            </a:r>
            <a:endParaRPr lang="en-US" dirty="0"/>
          </a:p>
          <a:p>
            <a:r>
              <a:rPr lang="en-US" dirty="0"/>
              <a:t>Encompasses a broader approach that includes link building as a core component but also emphasizes the overall marketing strategy behind acquiring links, including relationship building, content promotion, and even reciprocal linking (though this is less common now). </a:t>
            </a:r>
          </a:p>
        </p:txBody>
      </p:sp>
    </p:spTree>
    <p:extLst>
      <p:ext uri="{BB962C8B-B14F-4D97-AF65-F5344CB8AC3E}">
        <p14:creationId xmlns:p14="http://schemas.microsoft.com/office/powerpoint/2010/main" val="1839430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Fighting Link Spam</a:t>
            </a:r>
          </a:p>
        </p:txBody>
      </p:sp>
      <p:sp>
        <p:nvSpPr>
          <p:cNvPr id="3" name="Content Placeholder 2"/>
          <p:cNvSpPr>
            <a:spLocks noGrp="1"/>
          </p:cNvSpPr>
          <p:nvPr>
            <p:ph idx="1"/>
          </p:nvPr>
        </p:nvSpPr>
        <p:spPr>
          <a:xfrm>
            <a:off x="457200" y="1600200"/>
            <a:ext cx="8229600" cy="4495800"/>
          </a:xfrm>
        </p:spPr>
        <p:txBody>
          <a:bodyPr>
            <a:normAutofit fontScale="92500" lnSpcReduction="20000"/>
          </a:bodyPr>
          <a:lstStyle/>
          <a:p>
            <a:r>
              <a:rPr lang="en-US" dirty="0" smtClean="0"/>
              <a:t>It involves</a:t>
            </a:r>
            <a:r>
              <a:rPr lang="en-US" dirty="0"/>
              <a:t> identifying and mitigating unethical link-building practices aimed at artificially boosting a website's search engine </a:t>
            </a:r>
            <a:r>
              <a:rPr lang="en-US" dirty="0" smtClean="0"/>
              <a:t>ranking.</a:t>
            </a:r>
          </a:p>
          <a:p>
            <a:r>
              <a:rPr lang="en-US" dirty="0"/>
              <a:t>This includes recognizing and removing </a:t>
            </a:r>
            <a:r>
              <a:rPr lang="en-US" dirty="0" err="1"/>
              <a:t>spammy</a:t>
            </a:r>
            <a:r>
              <a:rPr lang="en-US" dirty="0"/>
              <a:t> backlinks, as well as preventing future occurrences through proactive </a:t>
            </a:r>
            <a:r>
              <a:rPr lang="en-US" dirty="0" smtClean="0"/>
              <a:t>measures.</a:t>
            </a:r>
          </a:p>
          <a:p>
            <a:r>
              <a:rPr lang="en-US" dirty="0" smtClean="0"/>
              <a:t>Google</a:t>
            </a:r>
            <a:r>
              <a:rPr lang="en-US" dirty="0"/>
              <a:t>, among other search engines, actively combats link spam through algorithmic updates like the Penguin Update and the December 2022 link spam update, which neutralize the impact of unnatural links. </a:t>
            </a:r>
            <a:endParaRPr lang="en-IN" dirty="0"/>
          </a:p>
        </p:txBody>
      </p:sp>
    </p:spTree>
    <p:extLst>
      <p:ext uri="{BB962C8B-B14F-4D97-AF65-F5344CB8AC3E}">
        <p14:creationId xmlns:p14="http://schemas.microsoft.com/office/powerpoint/2010/main" val="2878962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92500" lnSpcReduction="20000"/>
          </a:bodyPr>
          <a:lstStyle/>
          <a:p>
            <a:r>
              <a:rPr lang="en-US" dirty="0"/>
              <a:t>Understanding Link Spam:</a:t>
            </a:r>
          </a:p>
          <a:p>
            <a:r>
              <a:rPr lang="en-US" b="1" dirty="0" smtClean="0"/>
              <a:t>Definition:</a:t>
            </a:r>
            <a:r>
              <a:rPr lang="en-US" dirty="0"/>
              <a:t> </a:t>
            </a:r>
            <a:r>
              <a:rPr lang="en-US" dirty="0" smtClean="0"/>
              <a:t>Link </a:t>
            </a:r>
            <a:r>
              <a:rPr lang="en-US" dirty="0"/>
              <a:t>spam refers to acquiring backlinks from low-quality or irrelevant websites, often with the sole purpose of manipulating search engine rankings.</a:t>
            </a:r>
          </a:p>
          <a:p>
            <a:r>
              <a:rPr lang="en-US" b="1" dirty="0"/>
              <a:t>Examples:</a:t>
            </a:r>
            <a:endParaRPr lang="en-US" dirty="0"/>
          </a:p>
          <a:p>
            <a:r>
              <a:rPr lang="en-US" dirty="0"/>
              <a:t>Common link spam tactics include buying links, using link farms, or engaging in comment spam.</a:t>
            </a:r>
          </a:p>
          <a:p>
            <a:r>
              <a:rPr lang="en-US" b="1" dirty="0" smtClean="0"/>
              <a:t>Consequences:</a:t>
            </a:r>
            <a:r>
              <a:rPr lang="en-US" dirty="0"/>
              <a:t> </a:t>
            </a:r>
            <a:r>
              <a:rPr lang="en-US" dirty="0" smtClean="0"/>
              <a:t>Websites </a:t>
            </a:r>
            <a:r>
              <a:rPr lang="en-US" dirty="0"/>
              <a:t>engaging in link spam can face penalties, including reduced rankings, decreased credibility, and even removal from search engine results. </a:t>
            </a:r>
          </a:p>
          <a:p>
            <a:endParaRPr lang="en-IN" dirty="0"/>
          </a:p>
        </p:txBody>
      </p:sp>
    </p:spTree>
    <p:extLst>
      <p:ext uri="{BB962C8B-B14F-4D97-AF65-F5344CB8AC3E}">
        <p14:creationId xmlns:p14="http://schemas.microsoft.com/office/powerpoint/2010/main" val="819671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fontScale="85000" lnSpcReduction="20000"/>
          </a:bodyPr>
          <a:lstStyle/>
          <a:p>
            <a:r>
              <a:rPr lang="en-US" dirty="0"/>
              <a:t>Identifying Link Spam:</a:t>
            </a:r>
          </a:p>
          <a:p>
            <a:r>
              <a:rPr lang="en-US" b="1" dirty="0"/>
              <a:t>Backlink </a:t>
            </a:r>
            <a:r>
              <a:rPr lang="en-US" b="1" dirty="0" smtClean="0"/>
              <a:t>Analysis: </a:t>
            </a:r>
            <a:r>
              <a:rPr lang="en-US" dirty="0" smtClean="0"/>
              <a:t>Tools </a:t>
            </a:r>
            <a:r>
              <a:rPr lang="en-US" b="1" dirty="0"/>
              <a:t>like </a:t>
            </a:r>
            <a:r>
              <a:rPr lang="en-US" b="1" dirty="0" err="1"/>
              <a:t>Ahrefs</a:t>
            </a:r>
            <a:r>
              <a:rPr lang="en-US" b="1" dirty="0"/>
              <a:t> and SEMrush </a:t>
            </a:r>
            <a:r>
              <a:rPr lang="en-US" dirty="0"/>
              <a:t>offer metrics like toxicity scores to assess the quality of backlinks. </a:t>
            </a:r>
          </a:p>
          <a:p>
            <a:r>
              <a:rPr lang="en-US" b="1" dirty="0"/>
              <a:t>Reviewing Linking </a:t>
            </a:r>
            <a:r>
              <a:rPr lang="en-US" b="1" dirty="0" smtClean="0"/>
              <a:t>Sites: </a:t>
            </a:r>
            <a:r>
              <a:rPr lang="en-US" dirty="0" smtClean="0"/>
              <a:t>Examine </a:t>
            </a:r>
            <a:r>
              <a:rPr lang="en-US" dirty="0"/>
              <a:t>the websites linking to your site for </a:t>
            </a:r>
            <a:r>
              <a:rPr lang="en-US" b="1" dirty="0"/>
              <a:t>relevance, trustworthiness, and overall quality.</a:t>
            </a:r>
            <a:r>
              <a:rPr lang="en-US" dirty="0"/>
              <a:t> </a:t>
            </a:r>
          </a:p>
          <a:p>
            <a:r>
              <a:rPr lang="en-US" b="1" dirty="0"/>
              <a:t>Identifying Suspicious </a:t>
            </a:r>
            <a:r>
              <a:rPr lang="en-US" b="1" dirty="0" smtClean="0"/>
              <a:t>Patterns: </a:t>
            </a:r>
            <a:r>
              <a:rPr lang="en-US" dirty="0" smtClean="0"/>
              <a:t>Look </a:t>
            </a:r>
            <a:r>
              <a:rPr lang="en-US" dirty="0"/>
              <a:t>for links from sites that are unrelated to your website's niche, lack a strong online presence, or have a high volume of outbound links. </a:t>
            </a:r>
          </a:p>
          <a:p>
            <a:r>
              <a:rPr lang="en-US" b="1" dirty="0"/>
              <a:t>Google Search </a:t>
            </a:r>
            <a:r>
              <a:rPr lang="en-US" b="1" dirty="0" smtClean="0"/>
              <a:t>Console: </a:t>
            </a:r>
            <a:r>
              <a:rPr lang="en-US" dirty="0" smtClean="0"/>
              <a:t>Utilize </a:t>
            </a:r>
            <a:r>
              <a:rPr lang="en-US" dirty="0"/>
              <a:t>Google Search Console's "Links" section to identify top linking sites and potential spam. </a:t>
            </a:r>
            <a:endParaRPr lang="en-IN" dirty="0"/>
          </a:p>
        </p:txBody>
      </p:sp>
    </p:spTree>
    <p:extLst>
      <p:ext uri="{BB962C8B-B14F-4D97-AF65-F5344CB8AC3E}">
        <p14:creationId xmlns:p14="http://schemas.microsoft.com/office/powerpoint/2010/main" val="2074602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normAutofit/>
          </a:bodyPr>
          <a:lstStyle/>
          <a:p>
            <a:r>
              <a:rPr lang="en-US" sz="2200" b="1" dirty="0"/>
              <a:t>Fighting Link Spam:</a:t>
            </a:r>
          </a:p>
          <a:p>
            <a:r>
              <a:rPr lang="en-US" sz="2200" b="1" dirty="0"/>
              <a:t>Disavow </a:t>
            </a:r>
            <a:r>
              <a:rPr lang="en-US" sz="2200" b="1" dirty="0" smtClean="0"/>
              <a:t>Tool:</a:t>
            </a:r>
            <a:r>
              <a:rPr lang="en-US" sz="2200" dirty="0"/>
              <a:t> </a:t>
            </a:r>
            <a:r>
              <a:rPr lang="en-US" sz="2200" dirty="0" smtClean="0"/>
              <a:t>If </a:t>
            </a:r>
            <a:r>
              <a:rPr lang="en-US" sz="2200" dirty="0"/>
              <a:t>you have identified </a:t>
            </a:r>
            <a:r>
              <a:rPr lang="en-US" sz="2200" dirty="0" err="1"/>
              <a:t>spammy</a:t>
            </a:r>
            <a:r>
              <a:rPr lang="en-US" sz="2200" dirty="0"/>
              <a:t> backlinks, use the Google Disavow Tool to inform Google that you don't want them to consider those links when evaluating your site. </a:t>
            </a:r>
          </a:p>
          <a:p>
            <a:r>
              <a:rPr lang="en-US" sz="2200" b="1" dirty="0"/>
              <a:t>Remove </a:t>
            </a:r>
            <a:r>
              <a:rPr lang="en-US" sz="2200" b="1" dirty="0" err="1"/>
              <a:t>Spammy</a:t>
            </a:r>
            <a:r>
              <a:rPr lang="en-US" sz="2200" b="1" dirty="0"/>
              <a:t> </a:t>
            </a:r>
            <a:r>
              <a:rPr lang="en-US" sz="2200" b="1" dirty="0" smtClean="0"/>
              <a:t>Links:</a:t>
            </a:r>
            <a:r>
              <a:rPr lang="en-US" sz="2200" dirty="0"/>
              <a:t> </a:t>
            </a:r>
            <a:r>
              <a:rPr lang="en-US" sz="2200" dirty="0" smtClean="0"/>
              <a:t>If </a:t>
            </a:r>
            <a:r>
              <a:rPr lang="en-US" sz="2200" dirty="0"/>
              <a:t>possible, try to contact the webmasters of the sites hosting the </a:t>
            </a:r>
            <a:r>
              <a:rPr lang="en-US" sz="2200" dirty="0" err="1"/>
              <a:t>spammy</a:t>
            </a:r>
            <a:r>
              <a:rPr lang="en-US" sz="2200" dirty="0"/>
              <a:t> links and request their removal. </a:t>
            </a:r>
          </a:p>
          <a:p>
            <a:r>
              <a:rPr lang="en-US" sz="2200" b="1" dirty="0"/>
              <a:t>Focus on </a:t>
            </a:r>
            <a:r>
              <a:rPr lang="en-US" sz="2200" b="1" dirty="0" smtClean="0"/>
              <a:t>Quality:</a:t>
            </a:r>
            <a:r>
              <a:rPr lang="en-US" sz="2200" dirty="0"/>
              <a:t> </a:t>
            </a:r>
            <a:r>
              <a:rPr lang="en-US" sz="2200" dirty="0" smtClean="0"/>
              <a:t>Build </a:t>
            </a:r>
            <a:r>
              <a:rPr lang="en-US" sz="2200" dirty="0"/>
              <a:t>high-quality backlinks through legitimate and ethical means, such as creating valuable content, engaging in outreach, and participating in relevant online communities. </a:t>
            </a:r>
          </a:p>
          <a:p>
            <a:r>
              <a:rPr lang="en-US" sz="2200" b="1" dirty="0"/>
              <a:t>Monitor Your Backlink </a:t>
            </a:r>
            <a:r>
              <a:rPr lang="en-US" sz="2200" b="1" dirty="0" smtClean="0"/>
              <a:t>Profile: </a:t>
            </a:r>
            <a:r>
              <a:rPr lang="en-US" sz="2200" dirty="0" smtClean="0"/>
              <a:t>Regularly </a:t>
            </a:r>
            <a:r>
              <a:rPr lang="en-US" sz="2200" dirty="0"/>
              <a:t>monitor your backlink profile to identify and address any emerging link spam issues. </a:t>
            </a:r>
          </a:p>
          <a:p>
            <a:r>
              <a:rPr lang="en-US" sz="2200" b="1" dirty="0"/>
              <a:t>Report </a:t>
            </a:r>
            <a:r>
              <a:rPr lang="en-US" sz="2200" b="1" dirty="0" smtClean="0"/>
              <a:t>Link Spam</a:t>
            </a:r>
            <a:r>
              <a:rPr lang="en-US" sz="2200" dirty="0" smtClean="0"/>
              <a:t>: Report </a:t>
            </a:r>
            <a:r>
              <a:rPr lang="en-US" sz="2200" dirty="0"/>
              <a:t>sites engaging in inorganic link building to Google, according to Google for </a:t>
            </a:r>
            <a:r>
              <a:rPr lang="en-US" sz="2200" dirty="0" smtClean="0"/>
              <a:t>Developers.</a:t>
            </a:r>
            <a:r>
              <a:rPr lang="en-US" sz="2200" dirty="0"/>
              <a:t> </a:t>
            </a:r>
          </a:p>
        </p:txBody>
      </p:sp>
    </p:spTree>
    <p:extLst>
      <p:ext uri="{BB962C8B-B14F-4D97-AF65-F5344CB8AC3E}">
        <p14:creationId xmlns:p14="http://schemas.microsoft.com/office/powerpoint/2010/main" val="2270207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lnSpcReduction="10000"/>
          </a:bodyPr>
          <a:lstStyle/>
          <a:p>
            <a:r>
              <a:rPr lang="en-US" b="1" dirty="0"/>
              <a:t>Key Takeaways:</a:t>
            </a:r>
          </a:p>
          <a:p>
            <a:pPr fontAlgn="ctr"/>
            <a:r>
              <a:rPr lang="en-US" dirty="0"/>
              <a:t>Link spam is a serious issue that can significantly impact a website's SEO </a:t>
            </a:r>
            <a:r>
              <a:rPr lang="en-US" dirty="0" smtClean="0"/>
              <a:t>ranking and </a:t>
            </a:r>
            <a:r>
              <a:rPr lang="en-US" dirty="0"/>
              <a:t>credibility. </a:t>
            </a:r>
          </a:p>
          <a:p>
            <a:pPr fontAlgn="ctr"/>
            <a:r>
              <a:rPr lang="en-US" dirty="0"/>
              <a:t>Search engines actively combat link spam through algorithmic updates and manual actions. </a:t>
            </a:r>
          </a:p>
          <a:p>
            <a:r>
              <a:rPr lang="en-US" dirty="0"/>
              <a:t>Proactive monitoring and a focus on building high-quality backlinks are crucial for avoiding and mitigating link spam. </a:t>
            </a:r>
          </a:p>
        </p:txBody>
      </p:sp>
    </p:spTree>
    <p:extLst>
      <p:ext uri="{BB962C8B-B14F-4D97-AF65-F5344CB8AC3E}">
        <p14:creationId xmlns:p14="http://schemas.microsoft.com/office/powerpoint/2010/main" val="3449050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Tracking Web Site </a:t>
            </a:r>
            <a:r>
              <a:rPr lang="en-IN" dirty="0" smtClean="0"/>
              <a:t>Activity</a:t>
            </a:r>
            <a:endParaRPr lang="en-IN" dirty="0"/>
          </a:p>
        </p:txBody>
      </p:sp>
      <p:sp>
        <p:nvSpPr>
          <p:cNvPr id="3" name="Content Placeholder 2"/>
          <p:cNvSpPr>
            <a:spLocks noGrp="1"/>
          </p:cNvSpPr>
          <p:nvPr>
            <p:ph idx="1"/>
          </p:nvPr>
        </p:nvSpPr>
        <p:spPr/>
        <p:txBody>
          <a:bodyPr>
            <a:normAutofit fontScale="92500" lnSpcReduction="10000"/>
          </a:bodyPr>
          <a:lstStyle/>
          <a:p>
            <a:r>
              <a:rPr lang="en-US" dirty="0"/>
              <a:t>T</a:t>
            </a:r>
            <a:r>
              <a:rPr lang="en-US" dirty="0" smtClean="0"/>
              <a:t>racking </a:t>
            </a:r>
            <a:r>
              <a:rPr lang="en-US" dirty="0"/>
              <a:t>is the process of monitoring a website's performance in search engine results pages (SERPs) to understand how SEO efforts are impacting traffic, rankings, and overall </a:t>
            </a:r>
            <a:r>
              <a:rPr lang="en-US" dirty="0" smtClean="0"/>
              <a:t>visibility.</a:t>
            </a:r>
          </a:p>
          <a:p>
            <a:r>
              <a:rPr lang="en-US" dirty="0"/>
              <a:t>It helps understand which tactics are driving traffic, improving keyword rankings, and increasing overall search performance. </a:t>
            </a:r>
            <a:endParaRPr lang="en-US" dirty="0" smtClean="0"/>
          </a:p>
          <a:p>
            <a:r>
              <a:rPr lang="en-US" dirty="0"/>
              <a:t>This data-driven approach allows for adjustments to optimize website performance and achieve better results.  </a:t>
            </a:r>
            <a:endParaRPr lang="en-IN" dirty="0"/>
          </a:p>
        </p:txBody>
      </p:sp>
    </p:spTree>
    <p:extLst>
      <p:ext uri="{BB962C8B-B14F-4D97-AF65-F5344CB8AC3E}">
        <p14:creationId xmlns:p14="http://schemas.microsoft.com/office/powerpoint/2010/main" val="473983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Aspect</a:t>
            </a:r>
            <a:endParaRPr lang="en-IN" dirty="0"/>
          </a:p>
        </p:txBody>
      </p:sp>
      <p:sp>
        <p:nvSpPr>
          <p:cNvPr id="3" name="Content Placeholder 2"/>
          <p:cNvSpPr>
            <a:spLocks noGrp="1"/>
          </p:cNvSpPr>
          <p:nvPr>
            <p:ph idx="1"/>
          </p:nvPr>
        </p:nvSpPr>
        <p:spPr>
          <a:xfrm>
            <a:off x="457200" y="1600200"/>
            <a:ext cx="8229600" cy="4724400"/>
          </a:xfrm>
        </p:spPr>
        <p:txBody>
          <a:bodyPr>
            <a:normAutofit fontScale="85000" lnSpcReduction="10000"/>
          </a:bodyPr>
          <a:lstStyle/>
          <a:p>
            <a:pPr algn="just"/>
            <a:r>
              <a:rPr lang="en-US" b="1" dirty="0"/>
              <a:t>Organic </a:t>
            </a:r>
            <a:r>
              <a:rPr lang="en-US" b="1" dirty="0" smtClean="0"/>
              <a:t>Traffic: </a:t>
            </a:r>
            <a:r>
              <a:rPr lang="en-US" dirty="0" smtClean="0"/>
              <a:t>Tracking </a:t>
            </a:r>
            <a:r>
              <a:rPr lang="en-US" dirty="0"/>
              <a:t>the number of visitors coming to your site through organic search results is crucial. Monitoring this metric helps understand how well your website attracts users from search engines. </a:t>
            </a:r>
          </a:p>
          <a:p>
            <a:pPr algn="just"/>
            <a:r>
              <a:rPr lang="en-US" b="1" dirty="0"/>
              <a:t>Keyword </a:t>
            </a:r>
            <a:r>
              <a:rPr lang="en-US" b="1" dirty="0" smtClean="0"/>
              <a:t>Rankings: </a:t>
            </a:r>
            <a:r>
              <a:rPr lang="en-US" dirty="0" smtClean="0"/>
              <a:t>Tracking </a:t>
            </a:r>
            <a:r>
              <a:rPr lang="en-US" dirty="0"/>
              <a:t>the ranking of your website for specific keywords provides insights into your search visibility for important terms. </a:t>
            </a:r>
          </a:p>
          <a:p>
            <a:pPr algn="just"/>
            <a:r>
              <a:rPr lang="en-US" b="1" dirty="0" smtClean="0"/>
              <a:t>Backlinks: </a:t>
            </a:r>
            <a:r>
              <a:rPr lang="en-US" dirty="0" smtClean="0"/>
              <a:t>Analyzing </a:t>
            </a:r>
            <a:r>
              <a:rPr lang="en-US" dirty="0"/>
              <a:t>the number and quality of backlinks (links from other websites to yours) is important for SEO. High-quality backlinks from reputable sites can significantly improve your website's authority and ranking. </a:t>
            </a:r>
            <a:endParaRPr lang="en-IN" dirty="0"/>
          </a:p>
        </p:txBody>
      </p:sp>
    </p:spTree>
    <p:extLst>
      <p:ext uri="{BB962C8B-B14F-4D97-AF65-F5344CB8AC3E}">
        <p14:creationId xmlns:p14="http://schemas.microsoft.com/office/powerpoint/2010/main" val="26775670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77500" lnSpcReduction="20000"/>
          </a:bodyPr>
          <a:lstStyle/>
          <a:p>
            <a:r>
              <a:rPr lang="en-US" b="1" dirty="0"/>
              <a:t>Conversion </a:t>
            </a:r>
            <a:r>
              <a:rPr lang="en-US" b="1" dirty="0" smtClean="0"/>
              <a:t>Rate: </a:t>
            </a:r>
            <a:r>
              <a:rPr lang="en-US" dirty="0" smtClean="0"/>
              <a:t>Monitoring </a:t>
            </a:r>
            <a:r>
              <a:rPr lang="en-US" dirty="0"/>
              <a:t>conversion rates (the percentage of </a:t>
            </a:r>
            <a:r>
              <a:rPr lang="en-US" b="1" dirty="0"/>
              <a:t>visitors who complete a desired action, like making a purchase </a:t>
            </a:r>
            <a:r>
              <a:rPr lang="en-US" dirty="0"/>
              <a:t>or filling out a form) helps assess how effectively your website is turning traffic into leads or sales. </a:t>
            </a:r>
          </a:p>
          <a:p>
            <a:r>
              <a:rPr lang="en-US" b="1" dirty="0"/>
              <a:t>Click-Through Rate (CTR</a:t>
            </a:r>
            <a:r>
              <a:rPr lang="en-US" b="1" dirty="0" smtClean="0"/>
              <a:t>): </a:t>
            </a:r>
            <a:r>
              <a:rPr lang="en-US" dirty="0" smtClean="0"/>
              <a:t>CTR </a:t>
            </a:r>
            <a:r>
              <a:rPr lang="en-US" dirty="0"/>
              <a:t>is the percentage of users who </a:t>
            </a:r>
            <a:r>
              <a:rPr lang="en-US" b="1" dirty="0"/>
              <a:t>click on your website </a:t>
            </a:r>
            <a:r>
              <a:rPr lang="en-US" dirty="0"/>
              <a:t>link in search results. Tracking CTR helps understand how appealing your website's snippet is to users and whether it's attracting clicks. </a:t>
            </a:r>
          </a:p>
          <a:p>
            <a:r>
              <a:rPr lang="en-US" b="1" dirty="0"/>
              <a:t>Core Web </a:t>
            </a:r>
            <a:r>
              <a:rPr lang="en-US" b="1" dirty="0" smtClean="0"/>
              <a:t>Vitals: </a:t>
            </a:r>
            <a:r>
              <a:rPr lang="en-US" dirty="0" smtClean="0"/>
              <a:t>These </a:t>
            </a:r>
            <a:r>
              <a:rPr lang="en-US" dirty="0"/>
              <a:t>metrics (LCP, FID, CLS) measure </a:t>
            </a:r>
            <a:r>
              <a:rPr lang="en-US" b="1" dirty="0"/>
              <a:t>page experience and user interaction</a:t>
            </a:r>
            <a:r>
              <a:rPr lang="en-US" dirty="0"/>
              <a:t>. Improving Core Web Vitals can positively impact user experience and potentially boost rankings. </a:t>
            </a:r>
          </a:p>
          <a:p>
            <a:r>
              <a:rPr lang="en-US" b="1" dirty="0"/>
              <a:t>Bounce </a:t>
            </a:r>
            <a:r>
              <a:rPr lang="en-US" b="1" dirty="0" smtClean="0"/>
              <a:t>Rate: </a:t>
            </a:r>
            <a:r>
              <a:rPr lang="en-US" dirty="0" smtClean="0"/>
              <a:t>This </a:t>
            </a:r>
            <a:r>
              <a:rPr lang="en-US" dirty="0"/>
              <a:t>metric measures the percentage of </a:t>
            </a:r>
            <a:r>
              <a:rPr lang="en-US" b="1" dirty="0"/>
              <a:t>visitors who leave your site after viewing only one page</a:t>
            </a:r>
            <a:r>
              <a:rPr lang="en-US" dirty="0"/>
              <a:t>. A high bounce rate could indicate that the content on that page isn't relevant or engaging to users. </a:t>
            </a:r>
            <a:endParaRPr lang="en-IN" dirty="0"/>
          </a:p>
        </p:txBody>
      </p:sp>
    </p:spTree>
    <p:extLst>
      <p:ext uri="{BB962C8B-B14F-4D97-AF65-F5344CB8AC3E}">
        <p14:creationId xmlns:p14="http://schemas.microsoft.com/office/powerpoint/2010/main" val="869978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fontScale="77500" lnSpcReduction="20000"/>
          </a:bodyPr>
          <a:lstStyle/>
          <a:p>
            <a:r>
              <a:rPr lang="en-US" u="sng" dirty="0">
                <a:hlinkClick r:id="rId2"/>
              </a:rPr>
              <a:t>Time on </a:t>
            </a:r>
            <a:r>
              <a:rPr lang="en-US" u="sng" dirty="0" smtClean="0">
                <a:hlinkClick r:id="rId2"/>
              </a:rPr>
              <a:t>Page</a:t>
            </a:r>
            <a:r>
              <a:rPr lang="en-US" dirty="0" smtClean="0"/>
              <a:t>:</a:t>
            </a:r>
            <a:r>
              <a:rPr lang="en-US" dirty="0"/>
              <a:t> </a:t>
            </a:r>
            <a:r>
              <a:rPr lang="en-US" dirty="0" smtClean="0"/>
              <a:t>This metric measures </a:t>
            </a:r>
            <a:r>
              <a:rPr lang="en-US" b="1" dirty="0" smtClean="0"/>
              <a:t>how long users spend on each page of your website. </a:t>
            </a:r>
            <a:r>
              <a:rPr lang="en-US" dirty="0" smtClean="0"/>
              <a:t>Longer time on page generally suggests that users find the content valuable and engaging. </a:t>
            </a:r>
          </a:p>
          <a:p>
            <a:r>
              <a:rPr lang="en-US" dirty="0" smtClean="0">
                <a:hlinkClick r:id="rId3"/>
              </a:rPr>
              <a:t>Page </a:t>
            </a:r>
            <a:r>
              <a:rPr lang="en-US" dirty="0">
                <a:hlinkClick r:id="rId3"/>
              </a:rPr>
              <a:t>Load </a:t>
            </a:r>
            <a:r>
              <a:rPr lang="en-US" dirty="0" smtClean="0">
                <a:hlinkClick r:id="rId3"/>
              </a:rPr>
              <a:t>Time</a:t>
            </a:r>
            <a:r>
              <a:rPr lang="en-US" dirty="0" smtClean="0"/>
              <a:t>:</a:t>
            </a:r>
            <a:r>
              <a:rPr lang="en-US" dirty="0"/>
              <a:t> </a:t>
            </a:r>
            <a:r>
              <a:rPr lang="en-US" dirty="0" smtClean="0"/>
              <a:t>Users </a:t>
            </a:r>
            <a:r>
              <a:rPr lang="en-US" dirty="0"/>
              <a:t>tend to leave </a:t>
            </a:r>
            <a:r>
              <a:rPr lang="en-US" b="1" dirty="0"/>
              <a:t>slow-loading pages</a:t>
            </a:r>
            <a:r>
              <a:rPr lang="en-US" dirty="0"/>
              <a:t>, making page load time a crucial SEO factor. Tracking this metric helps ensure a smooth and fast user experience. </a:t>
            </a:r>
          </a:p>
          <a:p>
            <a:r>
              <a:rPr lang="en-US" dirty="0">
                <a:solidFill>
                  <a:schemeClr val="tx2">
                    <a:lumMod val="60000"/>
                    <a:lumOff val="40000"/>
                  </a:schemeClr>
                </a:solidFill>
              </a:rPr>
              <a:t>Mobile </a:t>
            </a:r>
            <a:r>
              <a:rPr lang="en-US" dirty="0" smtClean="0">
                <a:solidFill>
                  <a:schemeClr val="tx2">
                    <a:lumMod val="60000"/>
                    <a:lumOff val="40000"/>
                  </a:schemeClr>
                </a:solidFill>
              </a:rPr>
              <a:t>Traffic</a:t>
            </a:r>
            <a:r>
              <a:rPr lang="en-US" dirty="0" smtClean="0"/>
              <a:t>:</a:t>
            </a:r>
            <a:r>
              <a:rPr lang="en-US" dirty="0"/>
              <a:t> </a:t>
            </a:r>
            <a:r>
              <a:rPr lang="en-US" dirty="0" smtClean="0"/>
              <a:t>In </a:t>
            </a:r>
            <a:r>
              <a:rPr lang="en-US" dirty="0"/>
              <a:t>today's mobile-first world, </a:t>
            </a:r>
            <a:r>
              <a:rPr lang="en-US" b="1" dirty="0"/>
              <a:t>tracking mobile traffic is essential</a:t>
            </a:r>
            <a:r>
              <a:rPr lang="en-US" dirty="0"/>
              <a:t>. Ensuring your website is mobile-friendly and provides a good user experience on smaller screens is crucial for SEO. </a:t>
            </a:r>
          </a:p>
          <a:p>
            <a:r>
              <a:rPr lang="en-US" dirty="0">
                <a:hlinkClick r:id="rId4"/>
              </a:rPr>
              <a:t>Traffic </a:t>
            </a:r>
            <a:r>
              <a:rPr lang="en-US" dirty="0" smtClean="0">
                <a:hlinkClick r:id="rId4"/>
              </a:rPr>
              <a:t>Sources</a:t>
            </a:r>
            <a:r>
              <a:rPr lang="en-US" dirty="0" smtClean="0"/>
              <a:t>:</a:t>
            </a:r>
            <a:r>
              <a:rPr lang="en-US" dirty="0"/>
              <a:t> </a:t>
            </a:r>
            <a:r>
              <a:rPr lang="en-US" dirty="0" smtClean="0"/>
              <a:t>Understanding </a:t>
            </a:r>
            <a:r>
              <a:rPr lang="en-US" b="1" dirty="0"/>
              <a:t>where your website traffic comes from</a:t>
            </a:r>
            <a:r>
              <a:rPr lang="en-US" dirty="0"/>
              <a:t> (e.g., organic search, social media, referrals) helps identify which channels are performing well and where to focus your efforts. </a:t>
            </a:r>
          </a:p>
        </p:txBody>
      </p:sp>
    </p:spTree>
    <p:extLst>
      <p:ext uri="{BB962C8B-B14F-4D97-AF65-F5344CB8AC3E}">
        <p14:creationId xmlns:p14="http://schemas.microsoft.com/office/powerpoint/2010/main" val="994648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Tools for W</a:t>
            </a:r>
            <a:r>
              <a:rPr lang="en-IN" dirty="0" smtClean="0"/>
              <a:t>ebsite </a:t>
            </a:r>
            <a:r>
              <a:rPr lang="en-IN" dirty="0"/>
              <a:t>Tracking</a:t>
            </a:r>
          </a:p>
        </p:txBody>
      </p:sp>
      <p:sp>
        <p:nvSpPr>
          <p:cNvPr id="3" name="Content Placeholder 2"/>
          <p:cNvSpPr>
            <a:spLocks noGrp="1"/>
          </p:cNvSpPr>
          <p:nvPr>
            <p:ph idx="1"/>
          </p:nvPr>
        </p:nvSpPr>
        <p:spPr/>
        <p:txBody>
          <a:bodyPr/>
          <a:lstStyle/>
          <a:p>
            <a:r>
              <a:rPr lang="en-US" b="1" dirty="0"/>
              <a:t>Google Search </a:t>
            </a:r>
            <a:r>
              <a:rPr lang="en-US" b="1" dirty="0" smtClean="0"/>
              <a:t>Console: </a:t>
            </a:r>
            <a:r>
              <a:rPr lang="en-US" dirty="0" smtClean="0"/>
              <a:t>Provides </a:t>
            </a:r>
            <a:r>
              <a:rPr lang="en-US" dirty="0"/>
              <a:t>data on your </a:t>
            </a:r>
            <a:r>
              <a:rPr lang="en-US" b="1" dirty="0"/>
              <a:t>website's performance </a:t>
            </a:r>
            <a:r>
              <a:rPr lang="en-US" dirty="0"/>
              <a:t>in Google Search, including impressions, clicks, average position, and more.</a:t>
            </a:r>
          </a:p>
          <a:p>
            <a:r>
              <a:rPr lang="en-US" b="1" dirty="0"/>
              <a:t>Google </a:t>
            </a:r>
            <a:r>
              <a:rPr lang="en-US" b="1" dirty="0" smtClean="0"/>
              <a:t>Analytics: </a:t>
            </a:r>
            <a:r>
              <a:rPr lang="en-US" dirty="0" smtClean="0"/>
              <a:t>Offers </a:t>
            </a:r>
            <a:r>
              <a:rPr lang="en-US" dirty="0"/>
              <a:t>insights into </a:t>
            </a:r>
            <a:r>
              <a:rPr lang="en-US" b="1" dirty="0"/>
              <a:t>user behavior on your website</a:t>
            </a:r>
            <a:r>
              <a:rPr lang="en-US" dirty="0"/>
              <a:t>, including traffic sources, engagement metrics, and conversions.</a:t>
            </a:r>
            <a:endParaRPr lang="en-IN" dirty="0"/>
          </a:p>
        </p:txBody>
      </p:sp>
    </p:spTree>
    <p:extLst>
      <p:ext uri="{BB962C8B-B14F-4D97-AF65-F5344CB8AC3E}">
        <p14:creationId xmlns:p14="http://schemas.microsoft.com/office/powerpoint/2010/main" val="2061299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fontScale="92500" lnSpcReduction="10000"/>
          </a:bodyPr>
          <a:lstStyle/>
          <a:p>
            <a:r>
              <a:rPr lang="en-US" b="1" dirty="0" err="1" smtClean="0"/>
              <a:t>Semrush</a:t>
            </a:r>
            <a:r>
              <a:rPr lang="en-US" b="1" dirty="0" smtClean="0"/>
              <a:t>: </a:t>
            </a:r>
            <a:r>
              <a:rPr lang="en-US" dirty="0" smtClean="0"/>
              <a:t>A </a:t>
            </a:r>
            <a:r>
              <a:rPr lang="en-US" dirty="0"/>
              <a:t>comprehensive SEO tool that provides features for keyword research, rank tracking, site audits, and more.</a:t>
            </a:r>
          </a:p>
          <a:p>
            <a:r>
              <a:rPr lang="en-US" b="1" dirty="0" err="1" smtClean="0"/>
              <a:t>Ahrefs</a:t>
            </a:r>
            <a:r>
              <a:rPr lang="en-US" b="1" dirty="0" smtClean="0"/>
              <a:t>: </a:t>
            </a:r>
            <a:r>
              <a:rPr lang="en-US" dirty="0" smtClean="0"/>
              <a:t>Another </a:t>
            </a:r>
            <a:r>
              <a:rPr lang="en-US" dirty="0"/>
              <a:t>popular SEO tool with features for backlink analysis, keyword research, and site audits.</a:t>
            </a:r>
          </a:p>
          <a:p>
            <a:r>
              <a:rPr lang="en-US" b="1" dirty="0"/>
              <a:t>SE </a:t>
            </a:r>
            <a:r>
              <a:rPr lang="en-US" b="1" dirty="0" smtClean="0"/>
              <a:t>Ranking: </a:t>
            </a:r>
            <a:r>
              <a:rPr lang="en-US" dirty="0" smtClean="0"/>
              <a:t>Provides </a:t>
            </a:r>
            <a:r>
              <a:rPr lang="en-US" dirty="0"/>
              <a:t>tools for rank tracking, website auditing, and competitor analysis.</a:t>
            </a:r>
          </a:p>
          <a:p>
            <a:r>
              <a:rPr lang="en-US" b="1" dirty="0"/>
              <a:t>Surfer </a:t>
            </a:r>
            <a:r>
              <a:rPr lang="en-US" b="1" dirty="0" smtClean="0"/>
              <a:t>SEO: </a:t>
            </a:r>
            <a:r>
              <a:rPr lang="en-US" dirty="0" smtClean="0"/>
              <a:t>Focuses </a:t>
            </a:r>
            <a:r>
              <a:rPr lang="en-US" dirty="0"/>
              <a:t>on content optimization and provides tools for content audits and keyword research. </a:t>
            </a:r>
            <a:endParaRPr lang="en-IN" dirty="0"/>
          </a:p>
        </p:txBody>
      </p:sp>
    </p:spTree>
    <p:extLst>
      <p:ext uri="{BB962C8B-B14F-4D97-AF65-F5344CB8AC3E}">
        <p14:creationId xmlns:p14="http://schemas.microsoft.com/office/powerpoint/2010/main" val="1857130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Identifying What Parameters </a:t>
            </a:r>
            <a:br>
              <a:rPr lang="en-US" dirty="0"/>
            </a:br>
            <a:r>
              <a:rPr lang="en-US" dirty="0"/>
              <a:t>to Measure</a:t>
            </a:r>
            <a:endParaRPr lang="en-IN" dirty="0"/>
          </a:p>
        </p:txBody>
      </p:sp>
      <p:sp>
        <p:nvSpPr>
          <p:cNvPr id="3" name="Content Placeholder 2"/>
          <p:cNvSpPr>
            <a:spLocks noGrp="1"/>
          </p:cNvSpPr>
          <p:nvPr>
            <p:ph idx="1"/>
          </p:nvPr>
        </p:nvSpPr>
        <p:spPr/>
        <p:txBody>
          <a:bodyPr/>
          <a:lstStyle/>
          <a:p>
            <a:r>
              <a:rPr lang="en-US" dirty="0" smtClean="0"/>
              <a:t>Parameters like organic </a:t>
            </a:r>
            <a:r>
              <a:rPr lang="en-US" dirty="0"/>
              <a:t>traffic, keyword rankings, conversion rates, click-through rates (CTR), bounce rates, time on page, and </a:t>
            </a:r>
            <a:r>
              <a:rPr lang="en-US" dirty="0" smtClean="0"/>
              <a:t>backlinks.</a:t>
            </a:r>
          </a:p>
          <a:p>
            <a:r>
              <a:rPr lang="en-US" dirty="0"/>
              <a:t>Measuring these metrics provides insights into the effectiveness of SEO strategies and identifies areas for improvement. </a:t>
            </a:r>
            <a:endParaRPr lang="en-US" dirty="0" smtClean="0"/>
          </a:p>
          <a:p>
            <a:endParaRPr lang="en-IN" dirty="0"/>
          </a:p>
        </p:txBody>
      </p:sp>
    </p:spTree>
    <p:extLst>
      <p:ext uri="{BB962C8B-B14F-4D97-AF65-F5344CB8AC3E}">
        <p14:creationId xmlns:p14="http://schemas.microsoft.com/office/powerpoint/2010/main" val="957545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77500" lnSpcReduction="20000"/>
          </a:bodyPr>
          <a:lstStyle/>
          <a:p>
            <a:r>
              <a:rPr lang="en-US" b="1" dirty="0"/>
              <a:t> Organic </a:t>
            </a:r>
            <a:r>
              <a:rPr lang="en-US" b="1" dirty="0" smtClean="0"/>
              <a:t>Traffic: </a:t>
            </a:r>
            <a:r>
              <a:rPr lang="en-US" dirty="0" smtClean="0"/>
              <a:t>This </a:t>
            </a:r>
            <a:r>
              <a:rPr lang="en-US" dirty="0"/>
              <a:t>metric represents the number of visitors arriving at your website through search engine results (e.g., Google, Bing). </a:t>
            </a:r>
          </a:p>
          <a:p>
            <a:r>
              <a:rPr lang="en-US" dirty="0"/>
              <a:t>Tracking organic traffic helps understand the overall reach and visibility of your website in search results. </a:t>
            </a:r>
          </a:p>
          <a:p>
            <a:r>
              <a:rPr lang="en-US" dirty="0"/>
              <a:t>It's crucial to distinguish between branded (traffic from your company's name) and non-branded (traffic from other search terms) traffic. </a:t>
            </a:r>
            <a:endParaRPr lang="en-US" dirty="0" smtClean="0"/>
          </a:p>
          <a:p>
            <a:r>
              <a:rPr lang="en-US" b="1" dirty="0"/>
              <a:t>Keyword </a:t>
            </a:r>
            <a:r>
              <a:rPr lang="en-US" b="1" dirty="0" smtClean="0"/>
              <a:t>Rankings: </a:t>
            </a:r>
            <a:r>
              <a:rPr lang="en-US" dirty="0" smtClean="0"/>
              <a:t>Monitor </a:t>
            </a:r>
            <a:r>
              <a:rPr lang="en-US" dirty="0"/>
              <a:t>how well your website ranks for specific keywords that are relevant to your business and target audience. </a:t>
            </a:r>
          </a:p>
          <a:p>
            <a:r>
              <a:rPr lang="en-US" dirty="0"/>
              <a:t>Higher rankings generally lead to increased visibility and more organic traffic. </a:t>
            </a:r>
          </a:p>
          <a:p>
            <a:r>
              <a:rPr lang="en-US" dirty="0"/>
              <a:t>Track both the overall ranking position and the visibility of your website in search results. </a:t>
            </a:r>
            <a:endParaRPr lang="en-IN" dirty="0"/>
          </a:p>
        </p:txBody>
      </p:sp>
    </p:spTree>
    <p:extLst>
      <p:ext uri="{BB962C8B-B14F-4D97-AF65-F5344CB8AC3E}">
        <p14:creationId xmlns:p14="http://schemas.microsoft.com/office/powerpoint/2010/main" val="492141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fontScale="77500" lnSpcReduction="20000"/>
          </a:bodyPr>
          <a:lstStyle/>
          <a:p>
            <a:r>
              <a:rPr lang="en-US" b="1" dirty="0" smtClean="0"/>
              <a:t>Conversion Rate: </a:t>
            </a:r>
            <a:r>
              <a:rPr lang="en-US" dirty="0" smtClean="0"/>
              <a:t>Conversion </a:t>
            </a:r>
            <a:r>
              <a:rPr lang="en-US" dirty="0"/>
              <a:t>rate measures the percentage of website visitors who complete a desired action (e.g., making a purchase, filling out a form, subscribing to a newsletter).</a:t>
            </a:r>
          </a:p>
          <a:p>
            <a:r>
              <a:rPr lang="en-US" dirty="0"/>
              <a:t>Tracking conversion rates helps assess the effectiveness of your website in turning visitors into customers or leads.</a:t>
            </a:r>
          </a:p>
          <a:p>
            <a:r>
              <a:rPr lang="en-US" dirty="0"/>
              <a:t>Analyze conversion rates for different pages and channels to identify areas of improvement. </a:t>
            </a:r>
            <a:endParaRPr lang="en-US" dirty="0" smtClean="0"/>
          </a:p>
          <a:p>
            <a:r>
              <a:rPr lang="en-US" b="1" dirty="0"/>
              <a:t>Click-Through Rate (CTR</a:t>
            </a:r>
            <a:r>
              <a:rPr lang="en-US" b="1" dirty="0" smtClean="0"/>
              <a:t>): </a:t>
            </a:r>
            <a:r>
              <a:rPr lang="en-US" dirty="0" smtClean="0"/>
              <a:t>CTR </a:t>
            </a:r>
            <a:r>
              <a:rPr lang="en-US" dirty="0"/>
              <a:t>represents the percentage of users who click on your website's listing in search engine results (SERPs) after seeing it.</a:t>
            </a:r>
          </a:p>
          <a:p>
            <a:r>
              <a:rPr lang="en-US" dirty="0"/>
              <a:t>A higher CTR indicates that your website's snippet is compelling and relevant to the user's search query.</a:t>
            </a:r>
          </a:p>
          <a:p>
            <a:r>
              <a:rPr lang="en-US" dirty="0"/>
              <a:t>CTR can be tracked for different keywords and search results pages. </a:t>
            </a:r>
            <a:endParaRPr lang="en-IN" dirty="0"/>
          </a:p>
        </p:txBody>
      </p:sp>
    </p:spTree>
    <p:extLst>
      <p:ext uri="{BB962C8B-B14F-4D97-AF65-F5344CB8AC3E}">
        <p14:creationId xmlns:p14="http://schemas.microsoft.com/office/powerpoint/2010/main" val="781846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lstStyle/>
          <a:p>
            <a:r>
              <a:rPr lang="en-US" b="1" dirty="0" smtClean="0"/>
              <a:t>Bounce Rate: </a:t>
            </a:r>
            <a:r>
              <a:rPr lang="en-US" dirty="0" smtClean="0"/>
              <a:t>Bounce rate is the percentage of visitors who leave your website after viewing only one page.</a:t>
            </a:r>
          </a:p>
          <a:p>
            <a:r>
              <a:rPr lang="en-US" dirty="0" smtClean="0"/>
              <a:t>A </a:t>
            </a:r>
            <a:r>
              <a:rPr lang="en-US" dirty="0"/>
              <a:t>high bounce rate can indicate that your website is not engaging or relevant to the user's search intent.</a:t>
            </a:r>
          </a:p>
          <a:p>
            <a:r>
              <a:rPr lang="en-US" dirty="0"/>
              <a:t>Monitor bounce rates for different pages and adjust content or user experience as needed. </a:t>
            </a:r>
          </a:p>
          <a:p>
            <a:pPr marL="0" indent="0">
              <a:buNone/>
            </a:pPr>
            <a:endParaRPr lang="en-IN" dirty="0"/>
          </a:p>
        </p:txBody>
      </p:sp>
    </p:spTree>
    <p:extLst>
      <p:ext uri="{BB962C8B-B14F-4D97-AF65-F5344CB8AC3E}">
        <p14:creationId xmlns:p14="http://schemas.microsoft.com/office/powerpoint/2010/main" val="10660814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85000" lnSpcReduction="20000"/>
          </a:bodyPr>
          <a:lstStyle/>
          <a:p>
            <a:r>
              <a:rPr lang="en-US" b="1" dirty="0"/>
              <a:t>Time on Page (or Session Duration</a:t>
            </a:r>
            <a:r>
              <a:rPr lang="en-US" b="1" dirty="0" smtClean="0"/>
              <a:t>): </a:t>
            </a:r>
            <a:r>
              <a:rPr lang="en-US" dirty="0" smtClean="0"/>
              <a:t>This </a:t>
            </a:r>
            <a:r>
              <a:rPr lang="en-US" dirty="0"/>
              <a:t>metric measures the average amount of time users spend on a specific page or on your website overall.</a:t>
            </a:r>
          </a:p>
          <a:p>
            <a:r>
              <a:rPr lang="en-US" dirty="0"/>
              <a:t>Longer time on page suggests that users are finding your content engaging and valuable.</a:t>
            </a:r>
          </a:p>
          <a:p>
            <a:r>
              <a:rPr lang="en-US" dirty="0"/>
              <a:t>Analyze time on page in conjunction with other metrics like bounce rate and engagement to understand user behavior</a:t>
            </a:r>
            <a:r>
              <a:rPr lang="en-US" dirty="0" smtClean="0"/>
              <a:t>.</a:t>
            </a:r>
          </a:p>
          <a:p>
            <a:r>
              <a:rPr lang="en-US" b="1" dirty="0" smtClean="0"/>
              <a:t>Backlinks</a:t>
            </a:r>
            <a:r>
              <a:rPr lang="en-US" dirty="0" smtClean="0"/>
              <a:t>: Backlinks </a:t>
            </a:r>
            <a:r>
              <a:rPr lang="en-US" dirty="0"/>
              <a:t>are links from other websites to your website.</a:t>
            </a:r>
          </a:p>
          <a:p>
            <a:r>
              <a:rPr lang="en-US" dirty="0"/>
              <a:t>They are an important factor in search engine ranking algorithms.</a:t>
            </a:r>
          </a:p>
          <a:p>
            <a:r>
              <a:rPr lang="en-US" dirty="0"/>
              <a:t>Track the number, quality, and diversity of backlinks to your website.  </a:t>
            </a:r>
            <a:endParaRPr lang="en-IN" dirty="0"/>
          </a:p>
        </p:txBody>
      </p:sp>
    </p:spTree>
    <p:extLst>
      <p:ext uri="{BB962C8B-B14F-4D97-AF65-F5344CB8AC3E}">
        <p14:creationId xmlns:p14="http://schemas.microsoft.com/office/powerpoint/2010/main" val="8647879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Interpreting Sales Statistics</a:t>
            </a:r>
          </a:p>
        </p:txBody>
      </p:sp>
      <p:sp>
        <p:nvSpPr>
          <p:cNvPr id="3" name="Content Placeholder 2"/>
          <p:cNvSpPr>
            <a:spLocks noGrp="1"/>
          </p:cNvSpPr>
          <p:nvPr>
            <p:ph idx="1"/>
          </p:nvPr>
        </p:nvSpPr>
        <p:spPr/>
        <p:txBody>
          <a:bodyPr>
            <a:normAutofit fontScale="92500" lnSpcReduction="10000"/>
          </a:bodyPr>
          <a:lstStyle/>
          <a:p>
            <a:r>
              <a:rPr lang="en-US" dirty="0" smtClean="0"/>
              <a:t>It involves</a:t>
            </a:r>
            <a:r>
              <a:rPr lang="en-US" dirty="0"/>
              <a:t> analyzing key metrics to understand how your SEO efforts are impacting revenue and overall business </a:t>
            </a:r>
            <a:r>
              <a:rPr lang="en-US" dirty="0" smtClean="0"/>
              <a:t>performance.</a:t>
            </a:r>
          </a:p>
          <a:p>
            <a:r>
              <a:rPr lang="en-US" dirty="0"/>
              <a:t> This includes tracking website traffic, conversions, and revenue generated through organic </a:t>
            </a:r>
            <a:r>
              <a:rPr lang="en-US" dirty="0" smtClean="0"/>
              <a:t>search.</a:t>
            </a:r>
          </a:p>
          <a:p>
            <a:r>
              <a:rPr lang="en-US" dirty="0"/>
              <a:t>By understanding these statistics, businesses can optimize their SEO strategies, allocate resources effectively, and improve their return on investment. </a:t>
            </a:r>
            <a:endParaRPr lang="en-IN" dirty="0"/>
          </a:p>
        </p:txBody>
      </p:sp>
    </p:spTree>
    <p:extLst>
      <p:ext uri="{BB962C8B-B14F-4D97-AF65-F5344CB8AC3E}">
        <p14:creationId xmlns:p14="http://schemas.microsoft.com/office/powerpoint/2010/main" val="1922805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Interpreting Trends and </a:t>
            </a:r>
            <a:r>
              <a:rPr lang="en-IN" dirty="0" smtClean="0"/>
              <a:t>Patterns</a:t>
            </a:r>
            <a:endParaRPr lang="en-IN" dirty="0"/>
          </a:p>
        </p:txBody>
      </p:sp>
      <p:sp>
        <p:nvSpPr>
          <p:cNvPr id="3" name="Content Placeholder 2"/>
          <p:cNvSpPr>
            <a:spLocks noGrp="1"/>
          </p:cNvSpPr>
          <p:nvPr>
            <p:ph idx="1"/>
          </p:nvPr>
        </p:nvSpPr>
        <p:spPr/>
        <p:txBody>
          <a:bodyPr>
            <a:normAutofit fontScale="85000" lnSpcReduction="10000"/>
          </a:bodyPr>
          <a:lstStyle/>
          <a:p>
            <a:r>
              <a:rPr lang="en-US" b="1" dirty="0"/>
              <a:t>Compare </a:t>
            </a:r>
            <a:r>
              <a:rPr lang="en-US" b="1" dirty="0" smtClean="0"/>
              <a:t>Data:</a:t>
            </a:r>
            <a:r>
              <a:rPr lang="en-US" dirty="0"/>
              <a:t> </a:t>
            </a:r>
            <a:r>
              <a:rPr lang="en-US" dirty="0" smtClean="0"/>
              <a:t>Compare </a:t>
            </a:r>
            <a:r>
              <a:rPr lang="en-US" dirty="0"/>
              <a:t>current sales statistics with previous periods to identify trends and patterns in user behavior. </a:t>
            </a:r>
          </a:p>
          <a:p>
            <a:r>
              <a:rPr lang="en-US" b="1" dirty="0"/>
              <a:t>Identify </a:t>
            </a:r>
            <a:r>
              <a:rPr lang="en-US" b="1" dirty="0" smtClean="0"/>
              <a:t>Opportunities:</a:t>
            </a:r>
            <a:r>
              <a:rPr lang="en-US" dirty="0"/>
              <a:t> </a:t>
            </a:r>
            <a:r>
              <a:rPr lang="en-US" dirty="0" smtClean="0"/>
              <a:t>Use </a:t>
            </a:r>
            <a:r>
              <a:rPr lang="en-US" dirty="0"/>
              <a:t>data analysis to pinpoint areas for improvement in your SEO strategy. For example, declining organic traffic might indicate a need to update content or reassess keywords. </a:t>
            </a:r>
          </a:p>
          <a:p>
            <a:r>
              <a:rPr lang="en-US" b="1" dirty="0"/>
              <a:t>Make Data-Driven </a:t>
            </a:r>
            <a:r>
              <a:rPr lang="en-US" b="1" dirty="0" smtClean="0"/>
              <a:t>Decisions:</a:t>
            </a:r>
            <a:r>
              <a:rPr lang="en-US" dirty="0"/>
              <a:t> </a:t>
            </a:r>
            <a:r>
              <a:rPr lang="en-US" dirty="0" smtClean="0"/>
              <a:t>Base </a:t>
            </a:r>
            <a:r>
              <a:rPr lang="en-US" dirty="0"/>
              <a:t>your SEO decisions on the insights derived from analyzing sales statistics. This approach minimizes guesswork and maximizes the potential for improved outcomes. </a:t>
            </a:r>
          </a:p>
        </p:txBody>
      </p:sp>
    </p:spTree>
    <p:extLst>
      <p:ext uri="{BB962C8B-B14F-4D97-AF65-F5344CB8AC3E}">
        <p14:creationId xmlns:p14="http://schemas.microsoft.com/office/powerpoint/2010/main" val="30664945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77500" lnSpcReduction="20000"/>
          </a:bodyPr>
          <a:lstStyle/>
          <a:p>
            <a:r>
              <a:rPr lang="en-US" dirty="0" smtClean="0"/>
              <a:t>Example:</a:t>
            </a:r>
          </a:p>
          <a:p>
            <a:pPr fontAlgn="ctr"/>
            <a:r>
              <a:rPr lang="en-US" dirty="0"/>
              <a:t>If you notice that your website's organic traffic has increased significantly, but your conversion rates remain low, it might indicate a problem with the user experience on your website. Users might be landing on your site but not finding what they're looking for, or the checkout process might be too complicated. By addressing these issues, you can improve your conversion rates and drive more sales from your organic traffic. </a:t>
            </a:r>
          </a:p>
          <a:p>
            <a:r>
              <a:rPr lang="en-US" dirty="0"/>
              <a:t>Tools for Analyzing Sales Statistics:</a:t>
            </a:r>
          </a:p>
          <a:p>
            <a:pPr fontAlgn="ctr"/>
            <a:r>
              <a:rPr lang="en-US" b="1" dirty="0"/>
              <a:t>Google Analytics:</a:t>
            </a:r>
            <a:r>
              <a:rPr lang="en-US" dirty="0"/>
              <a:t> Provides comprehensive data on website traffic, user behavior, and conversions. </a:t>
            </a:r>
          </a:p>
          <a:p>
            <a:pPr fontAlgn="ctr"/>
            <a:r>
              <a:rPr lang="en-US" b="1" dirty="0"/>
              <a:t>Google Search Console:</a:t>
            </a:r>
            <a:r>
              <a:rPr lang="en-US" dirty="0"/>
              <a:t> Offers insights into your website's performance in Google search results. </a:t>
            </a:r>
          </a:p>
          <a:p>
            <a:r>
              <a:rPr lang="en-US" b="1" dirty="0"/>
              <a:t>SEO Tools (e.g., SEMrush, </a:t>
            </a:r>
            <a:r>
              <a:rPr lang="en-US" b="1" dirty="0" err="1"/>
              <a:t>Ahrefs</a:t>
            </a:r>
            <a:r>
              <a:rPr lang="en-US" b="1" dirty="0"/>
              <a:t>):</a:t>
            </a:r>
            <a:r>
              <a:rPr lang="en-US" dirty="0"/>
              <a:t> Provide data on keyword rankings, backlinks, and competitor analysis. </a:t>
            </a:r>
          </a:p>
        </p:txBody>
      </p:sp>
    </p:spTree>
    <p:extLst>
      <p:ext uri="{BB962C8B-B14F-4D97-AF65-F5344CB8AC3E}">
        <p14:creationId xmlns:p14="http://schemas.microsoft.com/office/powerpoint/2010/main" val="20932932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Analytics for SEO</a:t>
            </a:r>
          </a:p>
        </p:txBody>
      </p:sp>
      <p:sp>
        <p:nvSpPr>
          <p:cNvPr id="3" name="Content Placeholder 2"/>
          <p:cNvSpPr>
            <a:spLocks noGrp="1"/>
          </p:cNvSpPr>
          <p:nvPr>
            <p:ph idx="1"/>
          </p:nvPr>
        </p:nvSpPr>
        <p:spPr/>
        <p:txBody>
          <a:bodyPr/>
          <a:lstStyle/>
          <a:p>
            <a:r>
              <a:rPr lang="en-US" dirty="0"/>
              <a:t>To effectively use Google Analytics for SEO, you need to understand how to track organic traffic, analyze user behavior, and optimize content for search </a:t>
            </a:r>
            <a:r>
              <a:rPr lang="en-US" dirty="0" smtClean="0"/>
              <a:t>engines.</a:t>
            </a:r>
          </a:p>
          <a:p>
            <a:r>
              <a:rPr lang="en-US" dirty="0"/>
              <a:t>Key steps include setting up Google Analytics, connecting it with Google Search Console, creating SEO-related goals, and using reports to monitor </a:t>
            </a:r>
            <a:r>
              <a:rPr lang="en-US" dirty="0" smtClean="0"/>
              <a:t>performance.</a:t>
            </a:r>
            <a:endParaRPr lang="en-IN" dirty="0"/>
          </a:p>
        </p:txBody>
      </p:sp>
    </p:spTree>
    <p:extLst>
      <p:ext uri="{BB962C8B-B14F-4D97-AF65-F5344CB8AC3E}">
        <p14:creationId xmlns:p14="http://schemas.microsoft.com/office/powerpoint/2010/main" val="2315857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Setting up Google Analytics for </a:t>
            </a:r>
            <a:r>
              <a:rPr lang="en-US" dirty="0" smtClean="0"/>
              <a:t>SEO</a:t>
            </a:r>
            <a:endParaRPr lang="en-IN" dirty="0"/>
          </a:p>
        </p:txBody>
      </p:sp>
      <p:sp>
        <p:nvSpPr>
          <p:cNvPr id="3" name="Content Placeholder 2"/>
          <p:cNvSpPr>
            <a:spLocks noGrp="1"/>
          </p:cNvSpPr>
          <p:nvPr>
            <p:ph idx="1"/>
          </p:nvPr>
        </p:nvSpPr>
        <p:spPr/>
        <p:txBody>
          <a:bodyPr>
            <a:normAutofit fontScale="92500" lnSpcReduction="10000"/>
          </a:bodyPr>
          <a:lstStyle/>
          <a:p>
            <a:r>
              <a:rPr lang="en-US" b="1" dirty="0"/>
              <a:t>Install Google </a:t>
            </a:r>
            <a:r>
              <a:rPr lang="en-US" b="1" dirty="0" smtClean="0"/>
              <a:t>Analytics:</a:t>
            </a:r>
            <a:r>
              <a:rPr lang="en-US" dirty="0"/>
              <a:t> </a:t>
            </a:r>
            <a:r>
              <a:rPr lang="en-US" dirty="0" smtClean="0"/>
              <a:t>Ensure </a:t>
            </a:r>
            <a:r>
              <a:rPr lang="en-US" dirty="0"/>
              <a:t>Google Analytics is correctly installed on your website, either through Google Tag Manager or by directly adding the tracking code to your site's &lt;head&gt; section. </a:t>
            </a:r>
          </a:p>
          <a:p>
            <a:r>
              <a:rPr lang="en-US" b="1" dirty="0" smtClean="0"/>
              <a:t>Connect </a:t>
            </a:r>
            <a:r>
              <a:rPr lang="en-US" b="1" dirty="0"/>
              <a:t>to Google Search </a:t>
            </a:r>
            <a:r>
              <a:rPr lang="en-US" b="1" dirty="0" smtClean="0"/>
              <a:t>Console:</a:t>
            </a:r>
            <a:r>
              <a:rPr lang="en-US" dirty="0"/>
              <a:t> </a:t>
            </a:r>
            <a:r>
              <a:rPr lang="en-US" dirty="0" smtClean="0"/>
              <a:t>Link </a:t>
            </a:r>
            <a:r>
              <a:rPr lang="en-US" dirty="0"/>
              <a:t>your Google Search Console account to Google Analytics for enhanced keyword data and insights into how users find your site through search results. </a:t>
            </a:r>
          </a:p>
        </p:txBody>
      </p:sp>
    </p:spTree>
    <p:extLst>
      <p:ext uri="{BB962C8B-B14F-4D97-AF65-F5344CB8AC3E}">
        <p14:creationId xmlns:p14="http://schemas.microsoft.com/office/powerpoint/2010/main" val="4111910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Autofit/>
          </a:bodyPr>
          <a:lstStyle/>
          <a:p>
            <a:r>
              <a:rPr lang="en-US" sz="2600" b="1" dirty="0"/>
              <a:t>Set Up </a:t>
            </a:r>
            <a:r>
              <a:rPr lang="en-US" sz="2600" b="1" dirty="0" smtClean="0"/>
              <a:t>Goals:</a:t>
            </a:r>
            <a:r>
              <a:rPr lang="en-US" sz="2600" dirty="0"/>
              <a:t> </a:t>
            </a:r>
            <a:r>
              <a:rPr lang="en-US" sz="2600" dirty="0" smtClean="0"/>
              <a:t>Define </a:t>
            </a:r>
            <a:r>
              <a:rPr lang="en-US" sz="2600" dirty="0"/>
              <a:t>specific SEO goals within Google Analytics, such as page views, form submissions, or purchases, to track the success of your SEO efforts. </a:t>
            </a:r>
          </a:p>
          <a:p>
            <a:r>
              <a:rPr lang="en-US" sz="2600" b="1" dirty="0" smtClean="0"/>
              <a:t>Configure </a:t>
            </a:r>
            <a:r>
              <a:rPr lang="en-US" sz="2600" b="1" dirty="0"/>
              <a:t>Data </a:t>
            </a:r>
            <a:r>
              <a:rPr lang="en-US" sz="2600" b="1" dirty="0" smtClean="0"/>
              <a:t>Streams:</a:t>
            </a:r>
            <a:r>
              <a:rPr lang="en-US" sz="2600" dirty="0"/>
              <a:t> </a:t>
            </a:r>
            <a:r>
              <a:rPr lang="en-US" sz="2600" dirty="0" smtClean="0"/>
              <a:t>Create </a:t>
            </a:r>
            <a:r>
              <a:rPr lang="en-US" sz="2600" dirty="0"/>
              <a:t>data streams within Google Analytics to track website activity and enable features like Enhanced Measurement, including Site Search tracking. </a:t>
            </a:r>
          </a:p>
          <a:p>
            <a:r>
              <a:rPr lang="en-US" sz="2600" b="1" dirty="0" smtClean="0"/>
              <a:t>Create </a:t>
            </a:r>
            <a:r>
              <a:rPr lang="en-US" sz="2600" b="1" dirty="0"/>
              <a:t>Custom </a:t>
            </a:r>
            <a:r>
              <a:rPr lang="en-US" sz="2600" b="1" dirty="0" smtClean="0"/>
              <a:t>Reports:</a:t>
            </a:r>
            <a:r>
              <a:rPr lang="en-US" sz="2600" dirty="0"/>
              <a:t> </a:t>
            </a:r>
            <a:r>
              <a:rPr lang="en-US" sz="2600" dirty="0" smtClean="0"/>
              <a:t>Utilize </a:t>
            </a:r>
            <a:r>
              <a:rPr lang="en-US" sz="2600" dirty="0"/>
              <a:t>custom reports to focus on specific SEO metrics and dimensions, such as landing pages, organic traffic, and user engagement. </a:t>
            </a:r>
          </a:p>
          <a:p>
            <a:r>
              <a:rPr lang="en-US" sz="2600" b="1" dirty="0" smtClean="0"/>
              <a:t>Use Annotations:</a:t>
            </a:r>
            <a:r>
              <a:rPr lang="en-US" sz="2600" dirty="0"/>
              <a:t> </a:t>
            </a:r>
            <a:r>
              <a:rPr lang="en-US" sz="2600" dirty="0" smtClean="0"/>
              <a:t>Add </a:t>
            </a:r>
            <a:r>
              <a:rPr lang="en-US" sz="2600" dirty="0"/>
              <a:t>annotations to your Google Analytics reports to mark significant changes, updates, or events on your website, providing context for performance fluctuations. </a:t>
            </a:r>
          </a:p>
        </p:txBody>
      </p:sp>
    </p:spTree>
    <p:extLst>
      <p:ext uri="{BB962C8B-B14F-4D97-AF65-F5344CB8AC3E}">
        <p14:creationId xmlns:p14="http://schemas.microsoft.com/office/powerpoint/2010/main" val="37498471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Diagnosing Conversion Rate </a:t>
            </a:r>
            <a:br>
              <a:rPr lang="en-IN" dirty="0"/>
            </a:br>
            <a:r>
              <a:rPr lang="en-IN" dirty="0"/>
              <a:t>Troubles</a:t>
            </a:r>
          </a:p>
        </p:txBody>
      </p:sp>
      <p:sp>
        <p:nvSpPr>
          <p:cNvPr id="3" name="Content Placeholder 2"/>
          <p:cNvSpPr>
            <a:spLocks noGrp="1"/>
          </p:cNvSpPr>
          <p:nvPr>
            <p:ph idx="1"/>
          </p:nvPr>
        </p:nvSpPr>
        <p:spPr/>
        <p:txBody>
          <a:bodyPr>
            <a:normAutofit fontScale="92500" lnSpcReduction="10000"/>
          </a:bodyPr>
          <a:lstStyle/>
          <a:p>
            <a:r>
              <a:rPr lang="en-US" dirty="0"/>
              <a:t>To diagnose conversion rate (CR) troubles in SEO, start by understanding what constitutes a "good" CR for your specific business and then analyze your website's performance against that </a:t>
            </a:r>
            <a:r>
              <a:rPr lang="en-US" dirty="0" smtClean="0"/>
              <a:t>benchmark.</a:t>
            </a:r>
          </a:p>
          <a:p>
            <a:r>
              <a:rPr lang="en-US" dirty="0"/>
              <a:t>Key areas to investigate include user experience (UX), website speed, mobile optimization, and content quality, especially on landing pages</a:t>
            </a:r>
            <a:r>
              <a:rPr lang="en-US" dirty="0" smtClean="0"/>
              <a:t>.</a:t>
            </a:r>
          </a:p>
          <a:p>
            <a:r>
              <a:rPr lang="en-US" dirty="0"/>
              <a:t>A/B testing and analytics tools can help identify specific problem areas and potential solutions. </a:t>
            </a:r>
            <a:endParaRPr lang="en-IN" dirty="0"/>
          </a:p>
        </p:txBody>
      </p:sp>
    </p:spTree>
    <p:extLst>
      <p:ext uri="{BB962C8B-B14F-4D97-AF65-F5344CB8AC3E}">
        <p14:creationId xmlns:p14="http://schemas.microsoft.com/office/powerpoint/2010/main" val="426828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Define Your Conversion Goals and </a:t>
            </a:r>
            <a:r>
              <a:rPr lang="en-US" dirty="0" smtClean="0"/>
              <a:t>Benchmark</a:t>
            </a:r>
            <a:endParaRPr lang="en-IN" dirty="0"/>
          </a:p>
        </p:txBody>
      </p:sp>
      <p:sp>
        <p:nvSpPr>
          <p:cNvPr id="3" name="Content Placeholder 2"/>
          <p:cNvSpPr>
            <a:spLocks noGrp="1"/>
          </p:cNvSpPr>
          <p:nvPr>
            <p:ph idx="1"/>
          </p:nvPr>
        </p:nvSpPr>
        <p:spPr/>
        <p:txBody>
          <a:bodyPr>
            <a:normAutofit fontScale="92500" lnSpcReduction="10000"/>
          </a:bodyPr>
          <a:lstStyle/>
          <a:p>
            <a:r>
              <a:rPr lang="en-US" b="1" dirty="0"/>
              <a:t>What is a </a:t>
            </a:r>
            <a:r>
              <a:rPr lang="en-US" b="1" dirty="0" smtClean="0"/>
              <a:t>conversion?</a:t>
            </a:r>
            <a:r>
              <a:rPr lang="en-US" dirty="0"/>
              <a:t> </a:t>
            </a:r>
            <a:r>
              <a:rPr lang="en-US" dirty="0" smtClean="0"/>
              <a:t>A </a:t>
            </a:r>
            <a:r>
              <a:rPr lang="en-US" dirty="0"/>
              <a:t>conversion is a desired action taken by a website visitor, such as a purchase, form submission, or sign-up. </a:t>
            </a:r>
          </a:p>
          <a:p>
            <a:r>
              <a:rPr lang="en-US" b="1" dirty="0"/>
              <a:t>Calculate your conversion </a:t>
            </a:r>
            <a:r>
              <a:rPr lang="en-US" b="1" dirty="0" smtClean="0"/>
              <a:t>rate:</a:t>
            </a:r>
            <a:r>
              <a:rPr lang="en-US" dirty="0"/>
              <a:t> </a:t>
            </a:r>
            <a:r>
              <a:rPr lang="en-US" dirty="0" smtClean="0"/>
              <a:t>Divide </a:t>
            </a:r>
            <a:r>
              <a:rPr lang="en-US" dirty="0"/>
              <a:t>the number of conversions by the total number of website visitors and multiply by 100 to get the percentage. </a:t>
            </a:r>
          </a:p>
          <a:p>
            <a:r>
              <a:rPr lang="en-US" b="1" dirty="0"/>
              <a:t>Establish a </a:t>
            </a:r>
            <a:r>
              <a:rPr lang="en-US" b="1" dirty="0" smtClean="0"/>
              <a:t>benchmark:</a:t>
            </a:r>
            <a:r>
              <a:rPr lang="en-US" dirty="0"/>
              <a:t> </a:t>
            </a:r>
            <a:r>
              <a:rPr lang="en-US" dirty="0" smtClean="0"/>
              <a:t>Determine </a:t>
            </a:r>
            <a:r>
              <a:rPr lang="en-US" dirty="0"/>
              <a:t>a realistic CR target based on industry averages, competitor analysis, and your specific business goals. </a:t>
            </a:r>
          </a:p>
        </p:txBody>
      </p:sp>
    </p:spTree>
    <p:extLst>
      <p:ext uri="{BB962C8B-B14F-4D97-AF65-F5344CB8AC3E}">
        <p14:creationId xmlns:p14="http://schemas.microsoft.com/office/powerpoint/2010/main" val="17639714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err="1"/>
              <a:t>Analyze</a:t>
            </a:r>
            <a:r>
              <a:rPr lang="en-IN" dirty="0"/>
              <a:t> Your Website's Performance</a:t>
            </a:r>
          </a:p>
        </p:txBody>
      </p:sp>
      <p:sp>
        <p:nvSpPr>
          <p:cNvPr id="3" name="Content Placeholder 2"/>
          <p:cNvSpPr>
            <a:spLocks noGrp="1"/>
          </p:cNvSpPr>
          <p:nvPr>
            <p:ph idx="1"/>
          </p:nvPr>
        </p:nvSpPr>
        <p:spPr/>
        <p:txBody>
          <a:bodyPr>
            <a:noAutofit/>
          </a:bodyPr>
          <a:lstStyle/>
          <a:p>
            <a:r>
              <a:rPr lang="en-US" sz="2200" b="1" dirty="0"/>
              <a:t>User Experience (UX):</a:t>
            </a:r>
            <a:endParaRPr lang="en-US" sz="2200" dirty="0"/>
          </a:p>
          <a:p>
            <a:pPr marL="514350" indent="-514350" fontAlgn="ctr">
              <a:buFont typeface="+mj-lt"/>
              <a:buAutoNum type="arabicPeriod"/>
            </a:pPr>
            <a:r>
              <a:rPr lang="en-US" sz="2200" b="1" dirty="0"/>
              <a:t>Confusing navigation:</a:t>
            </a:r>
            <a:r>
              <a:rPr lang="en-US" sz="2200" dirty="0"/>
              <a:t> Is your website easy to navigate? Visitors should be able to find what they're looking for quickly. </a:t>
            </a:r>
          </a:p>
          <a:p>
            <a:pPr marL="514350" indent="-514350" fontAlgn="ctr">
              <a:buFont typeface="+mj-lt"/>
              <a:buAutoNum type="arabicPeriod"/>
            </a:pPr>
            <a:r>
              <a:rPr lang="en-US" sz="2200" b="1" dirty="0"/>
              <a:t>Lack of clarity on landing pages:</a:t>
            </a:r>
            <a:r>
              <a:rPr lang="en-US" sz="2200" dirty="0"/>
              <a:t> Are your landing pages clear about what you offer and what action you want visitors to take? </a:t>
            </a:r>
          </a:p>
          <a:p>
            <a:pPr marL="514350" indent="-514350" fontAlgn="ctr">
              <a:buFont typeface="+mj-lt"/>
              <a:buAutoNum type="arabicPeriod"/>
            </a:pPr>
            <a:r>
              <a:rPr lang="en-US" sz="2200" b="1" dirty="0"/>
              <a:t>Cumbersome checkout process:</a:t>
            </a:r>
            <a:r>
              <a:rPr lang="en-US" sz="2200" dirty="0"/>
              <a:t> A complicated or lengthy checkout process can deter purchases. </a:t>
            </a:r>
          </a:p>
          <a:p>
            <a:r>
              <a:rPr lang="en-US" sz="2200" b="1" dirty="0"/>
              <a:t>Website Speed:</a:t>
            </a:r>
            <a:endParaRPr lang="en-US" sz="2200" dirty="0"/>
          </a:p>
          <a:p>
            <a:pPr marL="514350" indent="-514350" fontAlgn="ctr">
              <a:buFont typeface="+mj-lt"/>
              <a:buAutoNum type="arabicPeriod"/>
            </a:pPr>
            <a:r>
              <a:rPr lang="en-US" sz="2200" b="1" dirty="0"/>
              <a:t>Page load time:</a:t>
            </a:r>
            <a:r>
              <a:rPr lang="en-US" sz="2200" dirty="0"/>
              <a:t> Slow loading times can frustrate users and lead to high bounce rates. </a:t>
            </a:r>
          </a:p>
          <a:p>
            <a:pPr marL="514350" indent="-514350">
              <a:buFont typeface="+mj-lt"/>
              <a:buAutoNum type="arabicPeriod"/>
            </a:pPr>
            <a:r>
              <a:rPr lang="en-US" sz="2200" b="1" dirty="0"/>
              <a:t>Optimize for mobile devices:</a:t>
            </a:r>
            <a:r>
              <a:rPr lang="en-US" sz="2200" dirty="0"/>
              <a:t> Ensure your website is responsive and user-friendly on mobile devices, as a large portion of traffic comes from mobile. </a:t>
            </a:r>
          </a:p>
        </p:txBody>
      </p:sp>
    </p:spTree>
    <p:extLst>
      <p:ext uri="{BB962C8B-B14F-4D97-AF65-F5344CB8AC3E}">
        <p14:creationId xmlns:p14="http://schemas.microsoft.com/office/powerpoint/2010/main" val="15606879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Autofit/>
          </a:bodyPr>
          <a:lstStyle/>
          <a:p>
            <a:r>
              <a:rPr lang="en-US" sz="2200" b="1" dirty="0"/>
              <a:t>Content Quality:</a:t>
            </a:r>
            <a:endParaRPr lang="en-US" sz="2200" dirty="0"/>
          </a:p>
          <a:p>
            <a:pPr marL="514350" indent="-514350" fontAlgn="ctr">
              <a:buFont typeface="+mj-lt"/>
              <a:buAutoNum type="arabicPeriod"/>
            </a:pPr>
            <a:r>
              <a:rPr lang="en-US" sz="2200" b="1" dirty="0"/>
              <a:t>High-quality, relevant content:</a:t>
            </a:r>
            <a:r>
              <a:rPr lang="en-US" sz="2200" dirty="0"/>
              <a:t> Ensure your content is well-written, informative, and engaging for your target audience. </a:t>
            </a:r>
          </a:p>
          <a:p>
            <a:pPr marL="514350" indent="-514350" fontAlgn="ctr">
              <a:buFont typeface="+mj-lt"/>
              <a:buAutoNum type="arabicPeriod"/>
            </a:pPr>
            <a:r>
              <a:rPr lang="en-US" sz="2200" b="1" dirty="0"/>
              <a:t>Optimize for user intent:</a:t>
            </a:r>
            <a:r>
              <a:rPr lang="en-US" sz="2200" dirty="0"/>
              <a:t> Make sure your content aligns with what users are searching for. </a:t>
            </a:r>
          </a:p>
          <a:p>
            <a:r>
              <a:rPr lang="en-US" sz="2200" b="1" dirty="0"/>
              <a:t>Trust Signals:</a:t>
            </a:r>
            <a:endParaRPr lang="en-US" sz="2200" dirty="0"/>
          </a:p>
          <a:p>
            <a:pPr marL="514350" indent="-514350" fontAlgn="ctr">
              <a:buFont typeface="+mj-lt"/>
              <a:buAutoNum type="arabicPeriod"/>
            </a:pPr>
            <a:r>
              <a:rPr lang="en-US" sz="2200" b="1" dirty="0"/>
              <a:t>Build trust with social proof:</a:t>
            </a:r>
            <a:r>
              <a:rPr lang="en-US" sz="2200" dirty="0"/>
              <a:t> Include testimonials, reviews, and case studies to demonstrate the value of your product or service. </a:t>
            </a:r>
          </a:p>
          <a:p>
            <a:pPr marL="514350" indent="-514350" fontAlgn="ctr">
              <a:buFont typeface="+mj-lt"/>
              <a:buAutoNum type="arabicPeriod"/>
            </a:pPr>
            <a:r>
              <a:rPr lang="en-US" sz="2200" b="1" dirty="0"/>
              <a:t>Ensure pricing transparency:</a:t>
            </a:r>
            <a:r>
              <a:rPr lang="en-US" sz="2200" dirty="0"/>
              <a:t> Avoid hidden costs during checkout, which can erode trust. </a:t>
            </a:r>
          </a:p>
          <a:p>
            <a:r>
              <a:rPr lang="en-US" sz="2200" b="1" dirty="0"/>
              <a:t>Calls to Action (CTAs):</a:t>
            </a:r>
            <a:endParaRPr lang="en-US" sz="2200" dirty="0"/>
          </a:p>
          <a:p>
            <a:pPr marL="514350" indent="-514350" fontAlgn="ctr">
              <a:buFont typeface="+mj-lt"/>
              <a:buAutoNum type="arabicPeriod"/>
            </a:pPr>
            <a:r>
              <a:rPr lang="en-US" sz="2200" b="1" dirty="0"/>
              <a:t>Use clear and compelling CTAs:</a:t>
            </a:r>
            <a:r>
              <a:rPr lang="en-US" sz="2200" dirty="0"/>
              <a:t> Make it obvious what action you want visitors to take and why they should take it. </a:t>
            </a:r>
          </a:p>
          <a:p>
            <a:pPr marL="514350" indent="-514350">
              <a:buFont typeface="+mj-lt"/>
              <a:buAutoNum type="arabicPeriod"/>
            </a:pPr>
            <a:r>
              <a:rPr lang="en-US" sz="2200" b="1" dirty="0"/>
              <a:t>Test different CTA variations:</a:t>
            </a:r>
            <a:r>
              <a:rPr lang="en-US" sz="2200" dirty="0"/>
              <a:t> Use A/B testing to see which CTAs perform best. </a:t>
            </a:r>
          </a:p>
        </p:txBody>
      </p:sp>
    </p:spTree>
    <p:extLst>
      <p:ext uri="{BB962C8B-B14F-4D97-AF65-F5344CB8AC3E}">
        <p14:creationId xmlns:p14="http://schemas.microsoft.com/office/powerpoint/2010/main" val="3804265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Utilize Analytics and </a:t>
            </a:r>
            <a:r>
              <a:rPr lang="en-IN" dirty="0" smtClean="0"/>
              <a:t>Testing</a:t>
            </a:r>
            <a:endParaRPr lang="en-IN" dirty="0"/>
          </a:p>
        </p:txBody>
      </p:sp>
      <p:sp>
        <p:nvSpPr>
          <p:cNvPr id="3" name="Content Placeholder 2"/>
          <p:cNvSpPr>
            <a:spLocks noGrp="1"/>
          </p:cNvSpPr>
          <p:nvPr>
            <p:ph idx="1"/>
          </p:nvPr>
        </p:nvSpPr>
        <p:spPr/>
        <p:txBody>
          <a:bodyPr>
            <a:normAutofit fontScale="85000" lnSpcReduction="10000"/>
          </a:bodyPr>
          <a:lstStyle/>
          <a:p>
            <a:r>
              <a:rPr lang="en-US" b="1" dirty="0"/>
              <a:t>Google </a:t>
            </a:r>
            <a:r>
              <a:rPr lang="en-US" b="1" dirty="0" smtClean="0"/>
              <a:t>Analytics: </a:t>
            </a:r>
            <a:r>
              <a:rPr lang="en-US" dirty="0" smtClean="0"/>
              <a:t>Track </a:t>
            </a:r>
            <a:r>
              <a:rPr lang="en-US" dirty="0"/>
              <a:t>website traffic, user behavior, and conversions to identify areas for improvement. </a:t>
            </a:r>
          </a:p>
          <a:p>
            <a:r>
              <a:rPr lang="en-US" b="1" dirty="0"/>
              <a:t>A/B </a:t>
            </a:r>
            <a:r>
              <a:rPr lang="en-US" b="1" dirty="0" smtClean="0"/>
              <a:t>Testing: </a:t>
            </a:r>
            <a:r>
              <a:rPr lang="en-US" dirty="0" smtClean="0"/>
              <a:t>Test </a:t>
            </a:r>
            <a:r>
              <a:rPr lang="en-US" dirty="0"/>
              <a:t>different versions of your website elements (e.g., headlines, CTAs, page layouts) to see what resonates best with your audience. </a:t>
            </a:r>
          </a:p>
          <a:p>
            <a:r>
              <a:rPr lang="en-US" b="1" dirty="0"/>
              <a:t>Conversion funnel </a:t>
            </a:r>
            <a:r>
              <a:rPr lang="en-US" b="1" dirty="0" smtClean="0"/>
              <a:t>analysis: </a:t>
            </a:r>
            <a:r>
              <a:rPr lang="en-US" dirty="0" smtClean="0"/>
              <a:t>Analyze </a:t>
            </a:r>
            <a:r>
              <a:rPr lang="en-US" dirty="0"/>
              <a:t>the steps users take to convert and identify drop-off points. </a:t>
            </a:r>
          </a:p>
          <a:p>
            <a:r>
              <a:rPr lang="en-US" b="1" dirty="0"/>
              <a:t>Identify potential </a:t>
            </a:r>
            <a:r>
              <a:rPr lang="en-US" b="1" dirty="0" smtClean="0"/>
              <a:t>issues: </a:t>
            </a:r>
            <a:r>
              <a:rPr lang="en-US" dirty="0" smtClean="0"/>
              <a:t>Determine </a:t>
            </a:r>
            <a:r>
              <a:rPr lang="en-US" dirty="0"/>
              <a:t>if you have enough traffic to convert, if users are finding your site valuable, and if they trust your brand. </a:t>
            </a:r>
            <a:endParaRPr lang="en-IN" dirty="0"/>
          </a:p>
        </p:txBody>
      </p:sp>
    </p:spTree>
    <p:extLst>
      <p:ext uri="{BB962C8B-B14F-4D97-AF65-F5344CB8AC3E}">
        <p14:creationId xmlns:p14="http://schemas.microsoft.com/office/powerpoint/2010/main" val="34212030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Addressing Common Problems</a:t>
            </a:r>
          </a:p>
        </p:txBody>
      </p:sp>
      <p:sp>
        <p:nvSpPr>
          <p:cNvPr id="3" name="Content Placeholder 2"/>
          <p:cNvSpPr>
            <a:spLocks noGrp="1"/>
          </p:cNvSpPr>
          <p:nvPr>
            <p:ph idx="1"/>
          </p:nvPr>
        </p:nvSpPr>
        <p:spPr/>
        <p:txBody>
          <a:bodyPr>
            <a:normAutofit fontScale="85000" lnSpcReduction="20000"/>
          </a:bodyPr>
          <a:lstStyle/>
          <a:p>
            <a:r>
              <a:rPr lang="en-US" b="1" dirty="0"/>
              <a:t>Duplicate content</a:t>
            </a:r>
            <a:r>
              <a:rPr lang="en-US" dirty="0"/>
              <a:t>: Avoid creating duplicate content, which can negatively impact your SEO and conversions. </a:t>
            </a:r>
          </a:p>
          <a:p>
            <a:r>
              <a:rPr lang="en-US" b="1" dirty="0"/>
              <a:t>Inconsistent mobile optimization: </a:t>
            </a:r>
            <a:r>
              <a:rPr lang="en-US" dirty="0"/>
              <a:t>Ensure your website is fully optimized for mobile devices. </a:t>
            </a:r>
          </a:p>
          <a:p>
            <a:r>
              <a:rPr lang="en-US" b="1" dirty="0"/>
              <a:t>Poorly designed website: </a:t>
            </a:r>
            <a:r>
              <a:rPr lang="en-US" dirty="0"/>
              <a:t>Update your website to improve user experience and build trust. </a:t>
            </a:r>
          </a:p>
          <a:p>
            <a:r>
              <a:rPr lang="en-US" b="1" dirty="0" smtClean="0"/>
              <a:t>Hidden CTAs: </a:t>
            </a:r>
            <a:r>
              <a:rPr lang="en-US" dirty="0" smtClean="0"/>
              <a:t>Make your CTAs prominent and easy to find. </a:t>
            </a:r>
          </a:p>
          <a:p>
            <a:r>
              <a:rPr lang="en-US" b="1" dirty="0" smtClean="0"/>
              <a:t>Lack </a:t>
            </a:r>
            <a:r>
              <a:rPr lang="en-US" b="1" dirty="0"/>
              <a:t>of social proof: </a:t>
            </a:r>
            <a:r>
              <a:rPr lang="en-US" dirty="0"/>
              <a:t>Showcase testimonials and reviews to build trust. </a:t>
            </a:r>
          </a:p>
          <a:p>
            <a:r>
              <a:rPr lang="en-US" b="1" dirty="0"/>
              <a:t>Unclear pricing: </a:t>
            </a:r>
            <a:r>
              <a:rPr lang="en-US" dirty="0"/>
              <a:t>Be transparent about pricing to avoid surprises during checkout. </a:t>
            </a:r>
            <a:endParaRPr lang="en-IN" dirty="0"/>
          </a:p>
        </p:txBody>
      </p:sp>
    </p:spTree>
    <p:extLst>
      <p:ext uri="{BB962C8B-B14F-4D97-AF65-F5344CB8AC3E}">
        <p14:creationId xmlns:p14="http://schemas.microsoft.com/office/powerpoint/2010/main" val="3133687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TotalTime>
  <Words>2301</Words>
  <Application>Microsoft Office PowerPoint</Application>
  <PresentationFormat>On-screen Show (4:3)</PresentationFormat>
  <Paragraphs>239</Paragraphs>
  <Slides>53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Link Building and SEO Analytics </vt:lpstr>
      <vt:lpstr>Link Building</vt:lpstr>
      <vt:lpstr>PowerPoint Presentation</vt:lpstr>
      <vt:lpstr> Importance of Link Building</vt:lpstr>
      <vt:lpstr>How to Build Links Effectively</vt:lpstr>
      <vt:lpstr>Types of Link Building</vt:lpstr>
      <vt:lpstr>PowerPoint Presentation</vt:lpstr>
      <vt:lpstr>PowerPoint Presentation</vt:lpstr>
      <vt:lpstr>PowerPoint Presentation</vt:lpstr>
      <vt:lpstr>PowerPoint Presentation</vt:lpstr>
      <vt:lpstr>Elements of Link Building</vt:lpstr>
      <vt:lpstr>PowerPoint Presentation</vt:lpstr>
      <vt:lpstr>PowerPoint Presentation</vt:lpstr>
      <vt:lpstr>PowerPoint Presentation</vt:lpstr>
      <vt:lpstr>PowerPoint Presentation</vt:lpstr>
      <vt:lpstr>Approaches to Content- based link acquisition</vt:lpstr>
      <vt:lpstr>PowerPoint Presentation</vt:lpstr>
      <vt:lpstr>PowerPoint Presentation</vt:lpstr>
      <vt:lpstr>PowerPoint Presentation</vt:lpstr>
      <vt:lpstr>PowerPoint Presentation</vt:lpstr>
      <vt:lpstr>PowerPoint Presentation</vt:lpstr>
      <vt:lpstr>Link Marketing</vt:lpstr>
      <vt:lpstr>PowerPoint Presentation</vt:lpstr>
      <vt:lpstr>Importance of L.M</vt:lpstr>
      <vt:lpstr>Link Marketing vs. Link Building</vt:lpstr>
      <vt:lpstr>Fighting Link Spam</vt:lpstr>
      <vt:lpstr>PowerPoint Presentation</vt:lpstr>
      <vt:lpstr>PowerPoint Presentation</vt:lpstr>
      <vt:lpstr>PowerPoint Presentation</vt:lpstr>
      <vt:lpstr>PowerPoint Presentation</vt:lpstr>
      <vt:lpstr>Tracking Web Site Activity</vt:lpstr>
      <vt:lpstr>Key Aspect</vt:lpstr>
      <vt:lpstr>PowerPoint Presentation</vt:lpstr>
      <vt:lpstr>PowerPoint Presentation</vt:lpstr>
      <vt:lpstr>Tools for Website Tracking</vt:lpstr>
      <vt:lpstr>PowerPoint Presentation</vt:lpstr>
      <vt:lpstr>Identifying What Parameters  to Measure</vt:lpstr>
      <vt:lpstr>PowerPoint Presentation</vt:lpstr>
      <vt:lpstr>PowerPoint Presentation</vt:lpstr>
      <vt:lpstr>PowerPoint Presentation</vt:lpstr>
      <vt:lpstr>PowerPoint Presentation</vt:lpstr>
      <vt:lpstr> Interpreting Sales Statistics</vt:lpstr>
      <vt:lpstr>Interpreting Trends and Patterns</vt:lpstr>
      <vt:lpstr>PowerPoint Presentation</vt:lpstr>
      <vt:lpstr>Google Analytics for SEO</vt:lpstr>
      <vt:lpstr>Setting up Google Analytics for SEO</vt:lpstr>
      <vt:lpstr>PowerPoint Presentation</vt:lpstr>
      <vt:lpstr>Diagnosing Conversion Rate  Troubles</vt:lpstr>
      <vt:lpstr>Define Your Conversion Goals and Benchmark</vt:lpstr>
      <vt:lpstr>Analyze Your Website's Performance</vt:lpstr>
      <vt:lpstr>PowerPoint Presentation</vt:lpstr>
      <vt:lpstr>Utilize Analytics and Testing</vt:lpstr>
      <vt:lpstr>Addressing Common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Building and SEO Analytics </dc:title>
  <dc:creator>SSN</dc:creator>
  <cp:lastModifiedBy>Dell</cp:lastModifiedBy>
  <cp:revision>191</cp:revision>
  <dcterms:created xsi:type="dcterms:W3CDTF">2006-08-16T00:00:00Z</dcterms:created>
  <dcterms:modified xsi:type="dcterms:W3CDTF">2025-11-18T10:03:16Z</dcterms:modified>
</cp:coreProperties>
</file>