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6" r:id="rId1"/>
  </p:sldMasterIdLst>
  <p:notesMasterIdLst>
    <p:notesMasterId r:id="rId20"/>
  </p:notesMasterIdLst>
  <p:sldIdLst>
    <p:sldId id="785" r:id="rId2"/>
    <p:sldId id="787" r:id="rId3"/>
    <p:sldId id="788" r:id="rId4"/>
    <p:sldId id="789" r:id="rId5"/>
    <p:sldId id="790" r:id="rId6"/>
    <p:sldId id="791" r:id="rId7"/>
    <p:sldId id="792" r:id="rId8"/>
    <p:sldId id="793" r:id="rId9"/>
    <p:sldId id="794" r:id="rId10"/>
    <p:sldId id="795" r:id="rId11"/>
    <p:sldId id="797" r:id="rId12"/>
    <p:sldId id="798" r:id="rId13"/>
    <p:sldId id="799" r:id="rId14"/>
    <p:sldId id="800" r:id="rId15"/>
    <p:sldId id="803" r:id="rId16"/>
    <p:sldId id="804" r:id="rId17"/>
    <p:sldId id="805" r:id="rId18"/>
    <p:sldId id="80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668"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5"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76"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77"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78"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79"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80"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97347070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558129" y="434162"/>
            <a:ext cx="11075745"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963168" y="1820206"/>
            <a:ext cx="103632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963168" y="3685032"/>
            <a:ext cx="103632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fld id="{9184DA70-C731-4C70-880D-CCD4705E623C}" type="datetime1">
              <a:rPr lang="en-US" smtClean="0"/>
              <a:t>8/26/2025</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11" name="Slide Number Placeholder 10"/>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670560" y="530352"/>
            <a:ext cx="1091184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4BE1D723-8F53-4F53-90B0-1982A396982E}" type="datetime1">
              <a:rPr lang="en-US" smtClean="0"/>
              <a:t>8/26/2025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558129" y="434163"/>
            <a:ext cx="11075745"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624459" y="4928616"/>
            <a:ext cx="1091184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24459" y="5624484"/>
            <a:ext cx="1091184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97669AF7-7BEB-44E4-9852-375E34362B5B}" type="datetime1">
              <a:rPr lang="en-US" smtClean="0"/>
              <a:t>8/26/2025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685803" y="530352"/>
            <a:ext cx="524256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340480" y="530352"/>
            <a:ext cx="524256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BAAAC38D-0552-4C82-B593-E6124DFADBE2}" type="datetime1">
              <a:rPr lang="en-US" smtClean="0"/>
              <a:t>8/26/2025</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809632" y="579438"/>
            <a:ext cx="524256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202892" y="579438"/>
            <a:ext cx="524256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809632" y="1447800"/>
            <a:ext cx="524256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202892" y="1447800"/>
            <a:ext cx="524256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D9DF0F1C-5577-4ACB-BB62-DF8F3C494C7E}" type="datetime1">
              <a:rPr lang="en-US" smtClean="0"/>
              <a:t>8/26/2025</a:t>
            </a:fld>
            <a:endParaRPr lang="en-US" dirty="0"/>
          </a:p>
        </p:txBody>
      </p:sp>
      <p:sp>
        <p:nvSpPr>
          <p:cNvPr id="8" name="Footer Placeholder 7"/>
          <p:cNvSpPr>
            <a:spLocks noGrp="1"/>
          </p:cNvSpPr>
          <p:nvPr>
            <p:ph type="ftr" sz="quarter" idx="11"/>
          </p:nvPr>
        </p:nvSpPr>
        <p:spPr/>
        <p:txBody>
          <a:bodyPr/>
          <a:lstStyle>
            <a:extLst/>
          </a:lstStyle>
          <a:p>
            <a:endParaRPr lang="en-US" dirty="0"/>
          </a:p>
        </p:txBody>
      </p:sp>
      <p:sp>
        <p:nvSpPr>
          <p:cNvPr id="9" name="Slide Number Placeholder 8"/>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775B394-D9F9-4F0C-B15D-605F45CB9E9F}" type="datetime1">
              <a:rPr lang="en-US" smtClean="0"/>
              <a:t>8/26/2025</a:t>
            </a:fld>
            <a:endParaRPr lang="en-US" dirty="0"/>
          </a:p>
        </p:txBody>
      </p:sp>
      <p:sp>
        <p:nvSpPr>
          <p:cNvPr id="4" name="Footer Placeholder 3"/>
          <p:cNvSpPr>
            <a:spLocks noGrp="1"/>
          </p:cNvSpPr>
          <p:nvPr>
            <p:ph type="ftr" sz="quarter" idx="11"/>
          </p:nvPr>
        </p:nvSpPr>
        <p:spPr/>
        <p:txBody>
          <a:bodyPr/>
          <a:lstStyle>
            <a:extLst/>
          </a:lstStyle>
          <a:p>
            <a:endParaRPr lang="en-US" dirty="0"/>
          </a:p>
        </p:txBody>
      </p:sp>
      <p:sp>
        <p:nvSpPr>
          <p:cNvPr id="5" name="Slide Number Placeholder 4"/>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39667345-2558-425A-8533-9BFDBCE15005}" type="datetime1">
              <a:rPr lang="en-US" smtClean="0"/>
              <a:t>8/26/2025</a:t>
            </a:fld>
            <a:endParaRPr lang="en-US" dirty="0"/>
          </a:p>
        </p:txBody>
      </p:sp>
      <p:sp>
        <p:nvSpPr>
          <p:cNvPr id="3" name="Footer Placeholder 2"/>
          <p:cNvSpPr>
            <a:spLocks noGrp="1"/>
          </p:cNvSpPr>
          <p:nvPr>
            <p:ph type="ftr" sz="quarter" idx="11"/>
          </p:nvPr>
        </p:nvSpPr>
        <p:spPr/>
        <p:txBody>
          <a:bodyPr/>
          <a:lstStyle>
            <a:extLst/>
          </a:lstStyle>
          <a:p>
            <a:endParaRPr lang="en-US" dirty="0"/>
          </a:p>
        </p:txBody>
      </p:sp>
      <p:sp>
        <p:nvSpPr>
          <p:cNvPr id="4" name="Slide Number Placeholder 3"/>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85045" y="533400"/>
            <a:ext cx="39624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7385129" y="1447802"/>
            <a:ext cx="39624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1015163" y="930144"/>
            <a:ext cx="6168212"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92BEA474-078D-4E9B-9B14-09A87B19DC46}" type="datetime1">
              <a:rPr lang="en-US" smtClean="0"/>
              <a:t>8/26/2025</a:t>
            </a:fld>
            <a:endParaRPr lang="en-US" dirty="0"/>
          </a:p>
        </p:txBody>
      </p:sp>
      <p:sp>
        <p:nvSpPr>
          <p:cNvPr id="6" name="Footer Placeholder 5"/>
          <p:cNvSpPr>
            <a:spLocks noGrp="1"/>
          </p:cNvSpPr>
          <p:nvPr>
            <p:ph type="ftr" sz="quarter" idx="11"/>
          </p:nvPr>
        </p:nvSpPr>
        <p:spPr/>
        <p:txBody>
          <a:bodyPr/>
          <a:lstStyle>
            <a:extLst/>
          </a:lstStyle>
          <a:p>
            <a:endParaRPr lang="en-US" dirty="0"/>
          </a:p>
        </p:txBody>
      </p:sp>
      <p:sp>
        <p:nvSpPr>
          <p:cNvPr id="7" name="Slide Number Placeholder 6"/>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8534401" y="434162"/>
            <a:ext cx="3099473"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609600" y="5012056"/>
            <a:ext cx="109728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8616949" y="533400"/>
            <a:ext cx="298704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4907D986-8816-4272-A432-0437A28A9828}" type="datetime1">
              <a:rPr lang="en-US" smtClean="0"/>
              <a:t>8/26/2025</a:t>
            </a:fld>
            <a:endParaRPr lang="en-US" dirty="0"/>
          </a:p>
        </p:txBody>
      </p:sp>
      <p:sp>
        <p:nvSpPr>
          <p:cNvPr id="6" name="Footer Placeholder 5"/>
          <p:cNvSpPr>
            <a:spLocks noGrp="1"/>
          </p:cNvSpPr>
          <p:nvPr>
            <p:ph type="ftr" sz="quarter" idx="11"/>
          </p:nvPr>
        </p:nvSpPr>
        <p:spPr/>
        <p:txBody>
          <a:bodyPr/>
          <a:lstStyle>
            <a:extLst/>
          </a:lstStyle>
          <a:p>
            <a:pPr algn="l"/>
            <a:endParaRPr lang="en-US" dirty="0"/>
          </a:p>
        </p:txBody>
      </p:sp>
      <p:sp>
        <p:nvSpPr>
          <p:cNvPr id="7" name="Slide Number Placeholder 6"/>
          <p:cNvSpPr>
            <a:spLocks noGrp="1"/>
          </p:cNvSpPr>
          <p:nvPr>
            <p:ph type="sldNum" sz="quarter" idx="12"/>
          </p:nvPr>
        </p:nvSpPr>
        <p:spPr/>
        <p:txBody>
          <a:bodyPr/>
          <a:lstStyle>
            <a:extLst/>
          </a:lstStyle>
          <a:p>
            <a:fld id="{3A98EE3D-8CD1-4C3F-BD1C-C98C9596463C}" type="slidenum">
              <a:rPr lang="en-US" smtClean="0"/>
              <a:t>‹#›</a:t>
            </a:fld>
            <a:endParaRPr lang="en-US" dirty="0"/>
          </a:p>
        </p:txBody>
      </p:sp>
      <p:sp>
        <p:nvSpPr>
          <p:cNvPr id="3" name="Picture Placeholder 2"/>
          <p:cNvSpPr>
            <a:spLocks noGrp="1"/>
          </p:cNvSpPr>
          <p:nvPr>
            <p:ph type="pic" idx="1"/>
          </p:nvPr>
        </p:nvSpPr>
        <p:spPr>
          <a:xfrm>
            <a:off x="561973" y="435768"/>
            <a:ext cx="7900416"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0560" y="4983480"/>
            <a:ext cx="1091184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70560" y="530352"/>
            <a:ext cx="1091184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B612A279-0833-481D-8C56-F67FD0AC6C50}" type="datetime1">
              <a:rPr lang="en-US" smtClean="0"/>
              <a:t>8/26/2025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533405"/>
            <a:ext cx="26416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711200" y="533403"/>
            <a:ext cx="79248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6587DA83-5663-4C9C-B9AA-0B40A3DAFF81}" type="datetime1">
              <a:rPr lang="en-US" smtClean="0"/>
              <a:t>8/26/2025</a:t>
            </a:fld>
            <a:endParaRPr lang="en-US" dirty="0"/>
          </a:p>
        </p:txBody>
      </p:sp>
      <p:sp>
        <p:nvSpPr>
          <p:cNvPr id="5" name="Footer Placeholder 4"/>
          <p:cNvSpPr>
            <a:spLocks noGrp="1"/>
          </p:cNvSpPr>
          <p:nvPr>
            <p:ph type="ftr" sz="quarter" idx="11"/>
          </p:nvPr>
        </p:nvSpPr>
        <p:spPr/>
        <p:txBody>
          <a:bodyPr/>
          <a:lstStyle>
            <a:extLst/>
          </a:lstStyle>
          <a:p>
            <a:endParaRPr lang="en-US" dirty="0"/>
          </a:p>
        </p:txBody>
      </p:sp>
      <p:sp>
        <p:nvSpPr>
          <p:cNvPr id="6" name="Slide Number Placeholder 5"/>
          <p:cNvSpPr>
            <a:spLocks noGrp="1"/>
          </p:cNvSpPr>
          <p:nvPr>
            <p:ph type="sldNum" sz="quarter" idx="12"/>
          </p:nvPr>
        </p:nvSpPr>
        <p:spPr/>
        <p:txBody>
          <a:bodyPr/>
          <a:lstStyle>
            <a:extLst/>
          </a:lstStyle>
          <a:p>
            <a:fld id="{3A98EE3D-8CD1-4C3F-BD1C-C98C9596463C}"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406401" y="329185"/>
            <a:ext cx="11376073"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558129" y="434162"/>
            <a:ext cx="11075745"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670560" y="4985590"/>
            <a:ext cx="1091184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670560" y="530352"/>
            <a:ext cx="1091184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5035104" y="6111876"/>
            <a:ext cx="3048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62D6E202-B606-4609-B914-27C9371A1F6D}" type="datetime1">
              <a:rPr lang="en-US" smtClean="0"/>
              <a:t>8/26/2025</a:t>
            </a:fld>
            <a:endParaRPr lang="en-US" dirty="0"/>
          </a:p>
        </p:txBody>
      </p:sp>
      <p:sp>
        <p:nvSpPr>
          <p:cNvPr id="18" name="Footer Placeholder 17"/>
          <p:cNvSpPr>
            <a:spLocks noGrp="1"/>
          </p:cNvSpPr>
          <p:nvPr>
            <p:ph type="ftr" sz="quarter" idx="3"/>
          </p:nvPr>
        </p:nvSpPr>
        <p:spPr>
          <a:xfrm>
            <a:off x="8083104" y="6111876"/>
            <a:ext cx="3048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US" dirty="0"/>
          </a:p>
        </p:txBody>
      </p:sp>
      <p:sp>
        <p:nvSpPr>
          <p:cNvPr id="5" name="Slide Number Placeholder 4"/>
          <p:cNvSpPr>
            <a:spLocks noGrp="1"/>
          </p:cNvSpPr>
          <p:nvPr>
            <p:ph type="sldNum" sz="quarter" idx="4"/>
          </p:nvPr>
        </p:nvSpPr>
        <p:spPr>
          <a:xfrm>
            <a:off x="11131104" y="6111876"/>
            <a:ext cx="6096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3A98EE3D-8CD1-4C3F-BD1C-C98C9596463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hf sldNum="0" hdr="0" ftr="0" dt="0"/>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89" name="Title 1"/>
          <p:cNvSpPr>
            <a:spLocks noGrp="1"/>
          </p:cNvSpPr>
          <p:nvPr>
            <p:ph type="ctrTitle"/>
          </p:nvPr>
        </p:nvSpPr>
        <p:spPr>
          <a:xfrm>
            <a:off x="5286999" y="2540004"/>
            <a:ext cx="6253317" cy="2669304"/>
          </a:xfrm>
        </p:spPr>
        <p:txBody>
          <a:bodyPr>
            <a:noAutofit/>
          </a:bodyPr>
          <a:lstStyle/>
          <a:p>
            <a:pPr algn="ctr"/>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Topic:- Unit - 2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SEARCH ENGINE OPTIMIZATION (SEO) </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a:r>
            <a:br>
              <a:rPr lang="en-US" sz="3200" b="1" dirty="0">
                <a:latin typeface="Times New Roman" panose="02020603050405020304" pitchFamily="18" charset="0"/>
                <a:cs typeface="Times New Roman" panose="02020603050405020304" pitchFamily="18" charset="0"/>
              </a:rPr>
            </a:br>
            <a:r>
              <a:rPr lang="en-US" sz="3200" dirty="0" smtClean="0">
                <a:solidFill>
                  <a:srgbClr val="002060"/>
                </a:solidFill>
                <a:latin typeface="Times New Roman" panose="02020603050405020304" pitchFamily="18" charset="0"/>
                <a:cs typeface="Times New Roman" panose="02020603050405020304" pitchFamily="18" charset="0"/>
              </a:rPr>
              <a:t> </a:t>
            </a:r>
            <a:endParaRPr lang="en-US" sz="3200" b="1" dirty="0">
              <a:latin typeface="Times New Roman" panose="02020603050405020304" pitchFamily="18" charset="0"/>
              <a:cs typeface="Times New Roman" panose="02020603050405020304" pitchFamily="18" charset="0"/>
            </a:endParaRPr>
          </a:p>
        </p:txBody>
      </p:sp>
      <p:sp>
        <p:nvSpPr>
          <p:cNvPr id="1048590" name="Subtitle 2"/>
          <p:cNvSpPr>
            <a:spLocks noGrp="1"/>
          </p:cNvSpPr>
          <p:nvPr>
            <p:ph type="subTitle" idx="1"/>
          </p:nvPr>
        </p:nvSpPr>
        <p:spPr>
          <a:xfrm>
            <a:off x="5289753" y="3874656"/>
            <a:ext cx="6699047" cy="2812465"/>
          </a:xfrm>
        </p:spPr>
        <p:txBody>
          <a:bodyPr>
            <a:normAutofit/>
          </a:bodyPr>
          <a:lstStyle/>
          <a:p>
            <a:endParaRPr lang="en-US" sz="1600" dirty="0">
              <a:solidFill>
                <a:srgbClr val="002060"/>
              </a:solidFill>
              <a:latin typeface="Times New Roman" panose="02020603050405020304" pitchFamily="18" charset="0"/>
              <a:cs typeface="Times New Roman" panose="02020603050405020304" pitchFamily="18" charset="0"/>
            </a:endParaRPr>
          </a:p>
          <a:p>
            <a:r>
              <a:rPr lang="en-US" sz="1600" dirty="0">
                <a:solidFill>
                  <a:srgbClr val="002060"/>
                </a:solidFill>
                <a:latin typeface="Times New Roman" panose="02020603050405020304" pitchFamily="18" charset="0"/>
                <a:cs typeface="Times New Roman" panose="02020603050405020304" pitchFamily="18" charset="0"/>
              </a:rPr>
              <a:t>                                                           </a:t>
            </a:r>
          </a:p>
          <a:p>
            <a:r>
              <a:rPr lang="en-US" sz="1200" dirty="0">
                <a:solidFill>
                  <a:srgbClr val="002060"/>
                </a:solidFill>
                <a:latin typeface="Times New Roman" panose="02020603050405020304" pitchFamily="18" charset="0"/>
                <a:cs typeface="Times New Roman" panose="02020603050405020304" pitchFamily="18" charset="0"/>
              </a:rPr>
              <a:t>                       </a:t>
            </a:r>
            <a:r>
              <a:rPr lang="en-US" sz="1200" dirty="0" smtClean="0">
                <a:solidFill>
                  <a:srgbClr val="002060"/>
                </a:solidFill>
                <a:latin typeface="Times New Roman" panose="02020603050405020304" pitchFamily="18" charset="0"/>
                <a:cs typeface="Times New Roman" panose="02020603050405020304" pitchFamily="18" charset="0"/>
              </a:rPr>
              <a:t>                   </a:t>
            </a:r>
            <a:endParaRPr lang="en-US" sz="1200" dirty="0">
              <a:solidFill>
                <a:srgbClr val="002060"/>
              </a:solidFill>
              <a:latin typeface="Times New Roman" panose="02020603050405020304" pitchFamily="18" charset="0"/>
              <a:cs typeface="Times New Roman" panose="02020603050405020304" pitchFamily="18" charset="0"/>
            </a:endParaRPr>
          </a:p>
        </p:txBody>
      </p:sp>
      <p:pic>
        <p:nvPicPr>
          <p:cNvPr id="2097152" name="Picture 4" descr="A picture containing building, sitting, bench, side  Description automatically generated"/>
          <p:cNvPicPr>
            <a:picLocks noChangeAspect="1"/>
          </p:cNvPicPr>
          <p:nvPr/>
        </p:nvPicPr>
        <p:blipFill rotWithShape="1">
          <a:blip r:embed="rId2" cstate="print"/>
          <a:srcRect/>
          <a:stretch>
            <a:fillRect/>
          </a:stretch>
        </p:blipFill>
        <p:spPr>
          <a:xfrm>
            <a:off x="-1" y="1"/>
            <a:ext cx="4635315" cy="6857999"/>
          </a:xfrm>
          <a:prstGeom prst="rect">
            <a:avLst/>
          </a:prstGeom>
        </p:spPr>
      </p:pic>
      <p:cxnSp>
        <p:nvCxnSpPr>
          <p:cNvPr id="3145730"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title"/>
          </p:nvPr>
        </p:nvSpPr>
        <p:spPr>
          <a:xfrm>
            <a:off x="651899" y="710060"/>
            <a:ext cx="10911840" cy="1051560"/>
          </a:xfrm>
        </p:spPr>
        <p:txBody>
          <a:bodyPr>
            <a:normAutofit/>
          </a:bodyPr>
          <a:lstStyle/>
          <a:p>
            <a:pPr algn="ctr"/>
            <a:r>
              <a:rPr lang="en-US" sz="4800" dirty="0">
                <a:solidFill>
                  <a:schemeClr val="tx1"/>
                </a:solidFill>
                <a:latin typeface="Times New Roman" panose="02020603050405020304" pitchFamily="18" charset="0"/>
                <a:cs typeface="Times New Roman" panose="02020603050405020304" pitchFamily="18" charset="0"/>
              </a:rPr>
              <a:t>TERMINOLOGIES</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1048598" name="Content Placeholder 2"/>
          <p:cNvSpPr>
            <a:spLocks noGrp="1"/>
          </p:cNvSpPr>
          <p:nvPr>
            <p:ph idx="1"/>
          </p:nvPr>
        </p:nvSpPr>
        <p:spPr>
          <a:xfrm>
            <a:off x="1097280" y="2108201"/>
            <a:ext cx="10058400" cy="4117108"/>
          </a:xfrm>
        </p:spPr>
        <p:txBody>
          <a:bodyPr>
            <a:normAutofit fontScale="94444"/>
          </a:bodyPr>
          <a:lstStyle/>
          <a:p>
            <a:r>
              <a:rPr lang="en-US" sz="2000" dirty="0">
                <a:solidFill>
                  <a:schemeClr val="accent5">
                    <a:lumMod val="50000"/>
                  </a:schemeClr>
                </a:solidFill>
                <a:latin typeface="Times New Roman" panose="02020603050405020304" pitchFamily="18" charset="0"/>
                <a:cs typeface="Times New Roman" panose="02020603050405020304" pitchFamily="18" charset="0"/>
              </a:rPr>
              <a:t>1) QUALITY TRAFFIC – </a:t>
            </a:r>
            <a:r>
              <a:rPr lang="en-US" sz="1800" dirty="0">
                <a:solidFill>
                  <a:schemeClr val="tx1"/>
                </a:solidFill>
                <a:latin typeface="Times New Roman" panose="02020603050405020304" pitchFamily="18" charset="0"/>
                <a:cs typeface="Times New Roman" panose="02020603050405020304" pitchFamily="18" charset="0"/>
              </a:rPr>
              <a:t>It is an outcome of providing the right content and experience for our visitor.</a:t>
            </a:r>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Traffic, leads generated, interactions, and sales are a few ways companies measure the success of their website.</a:t>
            </a:r>
          </a:p>
          <a:p>
            <a:r>
              <a:rPr lang="en-US" sz="2000" dirty="0">
                <a:solidFill>
                  <a:schemeClr val="accent5">
                    <a:lumMod val="50000"/>
                  </a:schemeClr>
                </a:solidFill>
                <a:latin typeface="Times New Roman" panose="02020603050405020304" pitchFamily="18" charset="0"/>
                <a:cs typeface="Times New Roman" panose="02020603050405020304" pitchFamily="18" charset="0"/>
              </a:rPr>
              <a:t>2) QUANTITY TRAFFIC - </a:t>
            </a:r>
            <a:r>
              <a:rPr lang="en-US" sz="1800" dirty="0">
                <a:solidFill>
                  <a:schemeClr val="tx1"/>
                </a:solidFill>
                <a:latin typeface="Times New Roman" panose="02020603050405020304" pitchFamily="18" charset="0"/>
                <a:cs typeface="Times New Roman" panose="02020603050405020304" pitchFamily="18" charset="0"/>
              </a:rPr>
              <a:t>Once we have the right people clicking through from those search engine results pages (SERPs), more traffic is better</a:t>
            </a:r>
            <a:r>
              <a:rPr lang="en-US" sz="2000" dirty="0"/>
              <a:t>.</a:t>
            </a:r>
          </a:p>
          <a:p>
            <a:r>
              <a:rPr lang="en-US" sz="2000" dirty="0">
                <a:solidFill>
                  <a:schemeClr val="accent4">
                    <a:lumMod val="50000"/>
                  </a:schemeClr>
                </a:solidFill>
                <a:latin typeface="Times New Roman" panose="02020603050405020304" pitchFamily="18" charset="0"/>
                <a:cs typeface="Times New Roman" panose="02020603050405020304" pitchFamily="18" charset="0"/>
              </a:rPr>
              <a:t>3) ORGANIC TRAFFIC - </a:t>
            </a:r>
            <a:r>
              <a:rPr lang="en-US" sz="1800" dirty="0">
                <a:solidFill>
                  <a:schemeClr val="tx1"/>
                </a:solidFill>
                <a:latin typeface="Times New Roman" panose="02020603050405020304" pitchFamily="18" charset="0"/>
                <a:cs typeface="Times New Roman" panose="02020603050405020304" pitchFamily="18" charset="0"/>
              </a:rPr>
              <a:t>Organic traffic is any traffic that we don't have to pay for. </a:t>
            </a:r>
          </a:p>
          <a:p>
            <a:r>
              <a:rPr lang="en-US" sz="2000" dirty="0">
                <a:solidFill>
                  <a:schemeClr val="accent5">
                    <a:lumMod val="50000"/>
                  </a:schemeClr>
                </a:solidFill>
                <a:latin typeface="Times New Roman" panose="02020603050405020304" pitchFamily="18" charset="0"/>
                <a:cs typeface="Times New Roman" panose="02020603050405020304" pitchFamily="18" charset="0"/>
              </a:rPr>
              <a:t>4) KEYWORD –</a:t>
            </a:r>
            <a:r>
              <a:rPr lang="en-US" sz="1800" dirty="0">
                <a:solidFill>
                  <a:schemeClr val="tx1"/>
                </a:solidFill>
                <a:latin typeface="Times New Roman" panose="02020603050405020304" pitchFamily="18" charset="0"/>
                <a:cs typeface="Times New Roman" panose="02020603050405020304" pitchFamily="18" charset="0"/>
              </a:rPr>
              <a:t> A phrase for which one would like to rank one on google.</a:t>
            </a:r>
          </a:p>
          <a:p>
            <a:r>
              <a:rPr lang="en-US" sz="2000" dirty="0">
                <a:solidFill>
                  <a:schemeClr val="accent5">
                    <a:lumMod val="50000"/>
                  </a:schemeClr>
                </a:solidFill>
                <a:latin typeface="Times New Roman" panose="02020603050405020304" pitchFamily="18" charset="0"/>
                <a:cs typeface="Times New Roman" panose="02020603050405020304" pitchFamily="18" charset="0"/>
              </a:rPr>
              <a:t>5) DOMAIN – </a:t>
            </a:r>
            <a:r>
              <a:rPr lang="en-US" sz="1800" dirty="0">
                <a:solidFill>
                  <a:schemeClr val="tx1"/>
                </a:solidFill>
                <a:latin typeface="Times New Roman" panose="02020603050405020304" pitchFamily="18" charset="0"/>
                <a:cs typeface="Times New Roman" panose="02020603050405020304" pitchFamily="18" charset="0"/>
              </a:rPr>
              <a:t>Domain names are used in URLs to identify particular web pages.</a:t>
            </a:r>
          </a:p>
          <a:p>
            <a:r>
              <a:rPr lang="en-US" sz="2000" dirty="0">
                <a:solidFill>
                  <a:schemeClr val="accent5">
                    <a:lumMod val="50000"/>
                  </a:schemeClr>
                </a:solidFill>
                <a:latin typeface="Times New Roman" panose="02020603050405020304" pitchFamily="18" charset="0"/>
                <a:cs typeface="Times New Roman" panose="02020603050405020304" pitchFamily="18" charset="0"/>
              </a:rPr>
              <a:t>6) LINK BUILDING - </a:t>
            </a:r>
            <a:r>
              <a:rPr lang="en-US" sz="1800" dirty="0">
                <a:solidFill>
                  <a:schemeClr val="tx1"/>
                </a:solidFill>
                <a:latin typeface="Times New Roman" panose="02020603050405020304" pitchFamily="18" charset="0"/>
                <a:cs typeface="Times New Roman" panose="02020603050405020304" pitchFamily="18" charset="0"/>
              </a:rPr>
              <a:t>Link building is the practice of building one-way hyperlinks (also known as “backlinks”) to a website with the goal of improving search engine visibility.</a:t>
            </a:r>
          </a:p>
          <a:p>
            <a:endParaRPr lang="en-IN" sz="2000" dirty="0">
              <a:solidFill>
                <a:schemeClr val="accent5">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title"/>
          </p:nvPr>
        </p:nvSpPr>
        <p:spPr>
          <a:xfrm>
            <a:off x="595915" y="495456"/>
            <a:ext cx="10911840" cy="1051560"/>
          </a:xfrm>
        </p:spPr>
        <p:txBody>
          <a:bodyPr>
            <a:normAutofit/>
          </a:bodyPr>
          <a:lstStyle/>
          <a:p>
            <a:pPr algn="ctr"/>
            <a:r>
              <a:rPr lang="en-US" sz="4800" dirty="0">
                <a:solidFill>
                  <a:schemeClr val="tx1"/>
                </a:solidFill>
                <a:latin typeface="Times New Roman" panose="02020603050405020304" pitchFamily="18" charset="0"/>
                <a:cs typeface="Times New Roman" panose="02020603050405020304" pitchFamily="18" charset="0"/>
              </a:rPr>
              <a:t>WHAT IS SEO ?</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1048600" name="Content Placeholder 2"/>
          <p:cNvSpPr>
            <a:spLocks noGrp="1"/>
          </p:cNvSpPr>
          <p:nvPr>
            <p:ph idx="1"/>
          </p:nvPr>
        </p:nvSpPr>
        <p:spPr>
          <a:xfrm>
            <a:off x="735874" y="1827308"/>
            <a:ext cx="10911840" cy="4187952"/>
          </a:xfrm>
        </p:spPr>
        <p:txBody>
          <a:bodyPr>
            <a:normAutofit fontScale="95833"/>
          </a:bodyPr>
          <a:lstStyle/>
          <a:p>
            <a:pPr>
              <a:buFont typeface="Arial" panose="020B0604020202020204" pitchFamily="34" charset="0"/>
              <a:buChar char="•"/>
            </a:pPr>
            <a:r>
              <a:rPr lang="en-US" sz="2400" dirty="0"/>
              <a:t> </a:t>
            </a:r>
            <a:r>
              <a:rPr lang="en-US" sz="2400" dirty="0">
                <a:solidFill>
                  <a:schemeClr val="tx1"/>
                </a:solidFill>
                <a:latin typeface="Times New Roman" panose="02020603050405020304" pitchFamily="18" charset="0"/>
                <a:cs typeface="Times New Roman" panose="02020603050405020304" pitchFamily="18" charset="0"/>
              </a:rPr>
              <a:t>Search Engine Optimization, which is the practice of increasing the quantity and quality of traffic to our website through organic search engine results. </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 It’s the practice of increasing both the quality and quantity of website traffic, as well as exposure to our brand, through non-paid (also known as "organic") search engine results.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It is a digital marketing strategy that focuses on our website's presence in search results on search engines like Google. </a:t>
            </a:r>
          </a:p>
          <a:p>
            <a:pPr>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 One can use different tactics to increase its visibility in search results.</a:t>
            </a:r>
            <a:endParaRPr lang="en-IN"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a:xfrm>
            <a:off x="651899" y="392819"/>
            <a:ext cx="10911840" cy="1051560"/>
          </a:xfrm>
        </p:spPr>
        <p:txBody>
          <a:bodyPr>
            <a:normAutofit/>
          </a:bodyPr>
          <a:lstStyle/>
          <a:p>
            <a:pPr algn="ctr"/>
            <a:r>
              <a:rPr lang="en-US" sz="4800" dirty="0">
                <a:solidFill>
                  <a:schemeClr val="tx1"/>
                </a:solidFill>
                <a:latin typeface="Times New Roman" panose="02020603050405020304" pitchFamily="18" charset="0"/>
                <a:cs typeface="Times New Roman" panose="02020603050405020304" pitchFamily="18" charset="0"/>
              </a:rPr>
              <a:t>WHY SEO IS IMPORTANT ?</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1048602" name="Content Placeholder 2"/>
          <p:cNvSpPr>
            <a:spLocks noGrp="1"/>
          </p:cNvSpPr>
          <p:nvPr>
            <p:ph idx="1"/>
          </p:nvPr>
        </p:nvSpPr>
        <p:spPr>
          <a:xfrm>
            <a:off x="567923" y="1650026"/>
            <a:ext cx="10911840" cy="4187952"/>
          </a:xfrm>
        </p:spPr>
        <p:txBody>
          <a:bodyPr>
            <a:normAutofit fontScale="94737"/>
          </a:bodyPr>
          <a:lstStyle/>
          <a:p>
            <a:pPr>
              <a:buFont typeface="Arial" panose="020B0604020202020204" pitchFamily="34" charset="0"/>
              <a:buChar char="•"/>
            </a:pPr>
            <a:r>
              <a:rPr lang="en-US" dirty="0"/>
              <a:t> </a:t>
            </a:r>
            <a:r>
              <a:rPr lang="en-US" sz="2000" dirty="0">
                <a:solidFill>
                  <a:schemeClr val="tx1"/>
                </a:solidFill>
                <a:latin typeface="Times New Roman" panose="02020603050405020304" pitchFamily="18" charset="0"/>
                <a:cs typeface="Times New Roman" panose="02020603050405020304" pitchFamily="18" charset="0"/>
              </a:rPr>
              <a:t>The majority of search engine users are more likely to click on one of the top 5 suggestions in the search engine results pages (SERPS). To take advantage of this and gain visitors to our web site or customers to our online store, our website needs to appear in one of the top positions.</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SEO is not only about search engines but good SEO practices improve the user experience and usability of a web site.</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Users trust search engines and having a presence in the top positions for the keywords the user is searching, increases the web site’s trust.</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SEO is good for the social promotion of our web site. People who find our web site by searching on Google or Yahoo are more likely to promote it on Facebook, Twitter, or other social media channels.</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p:txBody>
          <a:bodyPr>
            <a:normAutofit/>
          </a:bodyPr>
          <a:lstStyle/>
          <a:p>
            <a:r>
              <a:rPr lang="en-US" sz="4800" dirty="0">
                <a:solidFill>
                  <a:schemeClr val="tx1"/>
                </a:solidFill>
                <a:latin typeface="Times New Roman" panose="02020603050405020304" pitchFamily="18" charset="0"/>
                <a:cs typeface="Times New Roman" panose="02020603050405020304" pitchFamily="18" charset="0"/>
              </a:rPr>
              <a:t>TYPES OF SEO</a:t>
            </a:r>
            <a:endParaRPr lang="en-IN" sz="4800" dirty="0">
              <a:solidFill>
                <a:schemeClr val="tx1"/>
              </a:solidFill>
              <a:latin typeface="Times New Roman" panose="02020603050405020304" pitchFamily="18" charset="0"/>
              <a:cs typeface="Times New Roman" panose="02020603050405020304" pitchFamily="18" charset="0"/>
            </a:endParaRPr>
          </a:p>
        </p:txBody>
      </p:sp>
      <p:pic>
        <p:nvPicPr>
          <p:cNvPr id="2097154" name="Content Placeholder 10"/>
          <p:cNvPicPr>
            <a:picLocks noGrp="1" noChangeAspect="1"/>
          </p:cNvPicPr>
          <p:nvPr>
            <p:ph idx="1"/>
          </p:nvPr>
        </p:nvPicPr>
        <p:blipFill rotWithShape="1">
          <a:blip r:embed="rId2"/>
          <a:srcRect t="15165"/>
          <a:stretch>
            <a:fillRect/>
          </a:stretch>
        </p:blipFill>
        <p:spPr>
          <a:xfrm>
            <a:off x="711200" y="1884218"/>
            <a:ext cx="10806545" cy="4461164"/>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a:xfrm>
            <a:off x="595915" y="420810"/>
            <a:ext cx="10911840" cy="1051560"/>
          </a:xfrm>
        </p:spPr>
        <p:txBody>
          <a:bodyPr>
            <a:normAutofit/>
          </a:bodyPr>
          <a:lstStyle/>
          <a:p>
            <a:pPr algn="ctr"/>
            <a:r>
              <a:rPr lang="en-US" sz="4800" dirty="0" smtClean="0">
                <a:solidFill>
                  <a:schemeClr val="tx1"/>
                </a:solidFill>
                <a:latin typeface="Times New Roman" panose="02020603050405020304" pitchFamily="18" charset="0"/>
                <a:cs typeface="Times New Roman" panose="02020603050405020304" pitchFamily="18" charset="0"/>
              </a:rPr>
              <a:t>ON </a:t>
            </a:r>
            <a:r>
              <a:rPr lang="en-US" sz="4800" dirty="0">
                <a:solidFill>
                  <a:schemeClr val="tx1"/>
                </a:solidFill>
                <a:latin typeface="Times New Roman" panose="02020603050405020304" pitchFamily="18" charset="0"/>
                <a:cs typeface="Times New Roman" panose="02020603050405020304" pitchFamily="18" charset="0"/>
              </a:rPr>
              <a:t>– PAGE SEO</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1048605" name="Content Placeholder 2"/>
          <p:cNvSpPr>
            <a:spLocks noGrp="1"/>
          </p:cNvSpPr>
          <p:nvPr>
            <p:ph idx="1"/>
          </p:nvPr>
        </p:nvSpPr>
        <p:spPr>
          <a:xfrm>
            <a:off x="661230" y="1547389"/>
            <a:ext cx="10911840" cy="4187952"/>
          </a:xfrm>
        </p:spPr>
        <p:txBody>
          <a:bodyPr>
            <a:normAutofit/>
          </a:bodyPr>
          <a:lstStyle/>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On-page SEO (also known as on-site SEO) refers to the practice of optimizing web pages to improve a website's search engine rankings and earn organic traffic.</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It is a technique of SEO in which we can done on the pages of the website itself.</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On-page SEO refers to the factors through which we can control our own website.</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In addition to publishing relevant, high-quality content, on-page SEO includes optimizing our headlines, HTML tags and images.</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It also means making sure our website has a high level of expertise, authoritativeness, and trustworthiness.</a:t>
            </a:r>
          </a:p>
          <a:p>
            <a:endParaRPr lang="en-US" cap="all" dirty="0"/>
          </a:p>
          <a:p>
            <a:pPr>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IN"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itle 1"/>
          <p:cNvSpPr>
            <a:spLocks noGrp="1"/>
          </p:cNvSpPr>
          <p:nvPr>
            <p:ph type="title"/>
          </p:nvPr>
        </p:nvSpPr>
        <p:spPr>
          <a:xfrm>
            <a:off x="707882" y="430141"/>
            <a:ext cx="10911840" cy="1051560"/>
          </a:xfrm>
        </p:spPr>
        <p:txBody>
          <a:bodyPr>
            <a:normAutofit/>
          </a:bodyPr>
          <a:lstStyle/>
          <a:p>
            <a:pPr algn="ctr"/>
            <a:r>
              <a:rPr lang="en-US" sz="4800" dirty="0" smtClean="0">
                <a:solidFill>
                  <a:schemeClr val="tx1"/>
                </a:solidFill>
                <a:latin typeface="Times New Roman" panose="02020603050405020304" pitchFamily="18" charset="0"/>
                <a:cs typeface="Times New Roman" panose="02020603050405020304" pitchFamily="18" charset="0"/>
              </a:rPr>
              <a:t>OFF </a:t>
            </a:r>
            <a:r>
              <a:rPr lang="en-US" sz="4800" dirty="0">
                <a:solidFill>
                  <a:schemeClr val="tx1"/>
                </a:solidFill>
                <a:latin typeface="Times New Roman" panose="02020603050405020304" pitchFamily="18" charset="0"/>
                <a:cs typeface="Times New Roman" panose="02020603050405020304" pitchFamily="18" charset="0"/>
              </a:rPr>
              <a:t>- PAGE SEO</a:t>
            </a:r>
            <a:endParaRPr lang="en-IN" sz="4800" dirty="0">
              <a:solidFill>
                <a:schemeClr val="tx1"/>
              </a:solidFill>
              <a:latin typeface="Times New Roman" panose="02020603050405020304" pitchFamily="18" charset="0"/>
              <a:cs typeface="Times New Roman" panose="02020603050405020304" pitchFamily="18" charset="0"/>
            </a:endParaRPr>
          </a:p>
        </p:txBody>
      </p:sp>
      <p:sp>
        <p:nvSpPr>
          <p:cNvPr id="1048607" name="Content Placeholder 2"/>
          <p:cNvSpPr>
            <a:spLocks noGrp="1"/>
          </p:cNvSpPr>
          <p:nvPr>
            <p:ph idx="1"/>
          </p:nvPr>
        </p:nvSpPr>
        <p:spPr>
          <a:xfrm>
            <a:off x="633238" y="1640696"/>
            <a:ext cx="10911840" cy="4187952"/>
          </a:xfrm>
        </p:spPr>
        <p:txBody>
          <a:bodyPr>
            <a:normAutofit/>
          </a:bodyPr>
          <a:lstStyle/>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r>
              <a:rPr lang="en-US" sz="2000" dirty="0">
                <a:solidFill>
                  <a:schemeClr val="tx1"/>
                </a:solidFill>
                <a:latin typeface="Times New Roman" panose="02020603050405020304" pitchFamily="18" charset="0"/>
                <a:cs typeface="Times New Roman" panose="02020603050405020304" pitchFamily="18" charset="0"/>
              </a:rPr>
              <a:t>Off- page optimization is a technique of SEO in which we covers activity that takes place elsewhere outside the website.</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In the Off- page SEO we doesn’t change the website. We change back linking options.</a:t>
            </a:r>
          </a:p>
          <a:p>
            <a:pPr>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 Off-page SEO refers to activities you can perform outside the boundaries of your website. The most important are:</a:t>
            </a:r>
          </a:p>
          <a:p>
            <a:r>
              <a:rPr lang="en-US" sz="2000" dirty="0">
                <a:solidFill>
                  <a:schemeClr val="tx1"/>
                </a:solidFill>
                <a:latin typeface="Times New Roman" panose="02020603050405020304" pitchFamily="18" charset="0"/>
                <a:cs typeface="Times New Roman" panose="02020603050405020304" pitchFamily="18" charset="0"/>
              </a:rPr>
              <a:t>Link Building</a:t>
            </a:r>
          </a:p>
          <a:p>
            <a:r>
              <a:rPr lang="en-US" sz="2000" dirty="0">
                <a:solidFill>
                  <a:schemeClr val="tx1"/>
                </a:solidFill>
                <a:latin typeface="Times New Roman" panose="02020603050405020304" pitchFamily="18" charset="0"/>
                <a:cs typeface="Times New Roman" panose="02020603050405020304" pitchFamily="18" charset="0"/>
              </a:rPr>
              <a:t>Social Media Marketing</a:t>
            </a:r>
          </a:p>
          <a:p>
            <a:r>
              <a:rPr lang="en-US" sz="2000" dirty="0">
                <a:solidFill>
                  <a:schemeClr val="tx1"/>
                </a:solidFill>
                <a:latin typeface="Times New Roman" panose="02020603050405020304" pitchFamily="18" charset="0"/>
                <a:cs typeface="Times New Roman" panose="02020603050405020304" pitchFamily="18" charset="0"/>
              </a:rPr>
              <a:t>Brand Mentions</a:t>
            </a:r>
          </a:p>
          <a:p>
            <a:pPr>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Title 1"/>
          <p:cNvSpPr>
            <a:spLocks noGrp="1"/>
          </p:cNvSpPr>
          <p:nvPr>
            <p:ph type="title"/>
          </p:nvPr>
        </p:nvSpPr>
        <p:spPr/>
        <p:txBody>
          <a:bodyPr>
            <a:normAutofit fontScale="90000"/>
          </a:bodyPr>
          <a:lstStyle/>
          <a:p>
            <a:r>
              <a:rPr lang="en-US" sz="4800" dirty="0">
                <a:solidFill>
                  <a:schemeClr val="tx1"/>
                </a:solidFill>
                <a:latin typeface="Times New Roman" panose="02020603050405020304" pitchFamily="18" charset="0"/>
                <a:cs typeface="Times New Roman" panose="02020603050405020304" pitchFamily="18" charset="0"/>
              </a:rPr>
              <a:t>HOW DOES SEARCH ENGINES WORK ?</a:t>
            </a:r>
            <a:endParaRPr lang="en-IN" sz="4800" dirty="0">
              <a:solidFill>
                <a:schemeClr val="tx1"/>
              </a:solidFill>
              <a:latin typeface="Times New Roman" panose="02020603050405020304" pitchFamily="18" charset="0"/>
              <a:cs typeface="Times New Roman" panose="02020603050405020304" pitchFamily="18" charset="0"/>
            </a:endParaRPr>
          </a:p>
        </p:txBody>
      </p:sp>
      <p:pic>
        <p:nvPicPr>
          <p:cNvPr id="2097155" name="Content Placeholder 4"/>
          <p:cNvPicPr>
            <a:picLocks noGrp="1" noChangeAspect="1"/>
          </p:cNvPicPr>
          <p:nvPr>
            <p:ph idx="1"/>
          </p:nvPr>
        </p:nvPicPr>
        <p:blipFill rotWithShape="1">
          <a:blip r:embed="rId2"/>
          <a:srcRect t="16394" b="9928"/>
          <a:stretch>
            <a:fillRect/>
          </a:stretch>
        </p:blipFill>
        <p:spPr>
          <a:xfrm>
            <a:off x="701964" y="1893454"/>
            <a:ext cx="10806545" cy="4507345"/>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Content Placeholder 2"/>
          <p:cNvSpPr>
            <a:spLocks noGrp="1"/>
          </p:cNvSpPr>
          <p:nvPr>
            <p:ph idx="1"/>
          </p:nvPr>
        </p:nvSpPr>
        <p:spPr>
          <a:xfrm>
            <a:off x="707882" y="1239479"/>
            <a:ext cx="10911840" cy="4187952"/>
          </a:xfrm>
        </p:spPr>
        <p:txBody>
          <a:bodyPr>
            <a:normAutofit/>
          </a:bodyPr>
          <a:lstStyle/>
          <a:p>
            <a:pPr>
              <a:buFont typeface="Arial" panose="020B0604020202020204" pitchFamily="34" charset="0"/>
              <a:buChar char="•"/>
            </a:pPr>
            <a:r>
              <a:rPr lang="en-US" sz="2400" dirty="0"/>
              <a:t> </a:t>
            </a:r>
            <a:r>
              <a:rPr lang="en-US" sz="2400" dirty="0">
                <a:latin typeface="Times New Roman" panose="02020603050405020304" pitchFamily="18" charset="0"/>
                <a:cs typeface="Times New Roman" panose="02020603050405020304" pitchFamily="18" charset="0"/>
              </a:rPr>
              <a:t>Crawl: Scour the Internet for content, looking over the code/content for each URL they find.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Index: Store and organize the content found during the crawling process. Once a page is in the index, it’s in the running to be displayed as a result to relevant queries.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Rank: Provide the pieces of content that will best answer a searcher's query, which means that results are ordered by most relevant to least relevant.</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a:xfrm>
            <a:off x="567923" y="486125"/>
            <a:ext cx="10911840" cy="1051560"/>
          </a:xfrm>
        </p:spPr>
        <p:txBody>
          <a:bodyPr>
            <a:normAutofit/>
          </a:bodyPr>
          <a:lstStyle/>
          <a:p>
            <a:pPr algn="ctr"/>
            <a:r>
              <a:rPr lang="en-US" sz="4800" dirty="0">
                <a:solidFill>
                  <a:schemeClr val="tx1"/>
                </a:solidFill>
                <a:latin typeface="Times New Roman" panose="02020603050405020304" pitchFamily="18" charset="0"/>
                <a:cs typeface="Times New Roman" panose="02020603050405020304" pitchFamily="18" charset="0"/>
              </a:rPr>
              <a:t>DO’S AND DONT’S OF SEO</a:t>
            </a:r>
            <a:endParaRPr lang="en-IN" sz="4800" dirty="0">
              <a:solidFill>
                <a:schemeClr val="tx1"/>
              </a:solidFill>
              <a:latin typeface="Times New Roman" panose="02020603050405020304" pitchFamily="18" charset="0"/>
              <a:cs typeface="Times New Roman" panose="02020603050405020304" pitchFamily="18" charset="0"/>
            </a:endParaRPr>
          </a:p>
        </p:txBody>
      </p:sp>
      <p:graphicFrame>
        <p:nvGraphicFramePr>
          <p:cNvPr id="4194304" name="Table 4"/>
          <p:cNvGraphicFramePr>
            <a:graphicFrameLocks noGrp="1"/>
          </p:cNvGraphicFramePr>
          <p:nvPr>
            <p:ph idx="1"/>
            <p:extLst>
              <p:ext uri="{D42A27DB-BD31-4B8C-83A1-F6EECF244321}">
                <p14:modId xmlns:p14="http://schemas.microsoft.com/office/powerpoint/2010/main" val="3975598439"/>
              </p:ext>
            </p:extLst>
          </p:nvPr>
        </p:nvGraphicFramePr>
        <p:xfrm>
          <a:off x="567288" y="1715212"/>
          <a:ext cx="10912476" cy="3500848"/>
        </p:xfrm>
        <a:graphic>
          <a:graphicData uri="http://schemas.openxmlformats.org/drawingml/2006/table">
            <a:tbl>
              <a:tblPr firstRow="1" bandRow="1">
                <a:tableStyleId>{5C22544A-7EE6-4342-B048-85BDC9FD1C3A}</a:tableStyleId>
              </a:tblPr>
              <a:tblGrid>
                <a:gridCol w="5456238"/>
                <a:gridCol w="5456238"/>
              </a:tblGrid>
              <a:tr h="555172">
                <a:tc>
                  <a:txBody>
                    <a:bodyPr/>
                    <a:lstStyle/>
                    <a:p>
                      <a:r>
                        <a:rPr lang="en-US" dirty="0"/>
                        <a:t>                                    DO’S</a:t>
                      </a:r>
                      <a:endParaRPr lang="en-IN" dirty="0"/>
                    </a:p>
                  </a:txBody>
                  <a:tcPr marL="99204" marR="99204"/>
                </a:tc>
                <a:tc>
                  <a:txBody>
                    <a:bodyPr/>
                    <a:lstStyle/>
                    <a:p>
                      <a:r>
                        <a:rPr lang="en-US" dirty="0"/>
                        <a:t>                                    DON’T’S</a:t>
                      </a:r>
                      <a:endParaRPr lang="en-IN" dirty="0"/>
                    </a:p>
                  </a:txBody>
                  <a:tcPr marL="99204" marR="99204"/>
                </a:tc>
              </a:tr>
              <a:tr h="555172">
                <a:tc>
                  <a:txBody>
                    <a:bodyPr/>
                    <a:lstStyle/>
                    <a:p>
                      <a:r>
                        <a:rPr lang="en-US" sz="2000" dirty="0">
                          <a:latin typeface="Times New Roman" panose="02020603050405020304" pitchFamily="18" charset="0"/>
                          <a:cs typeface="Times New Roman" panose="02020603050405020304" pitchFamily="18" charset="0"/>
                        </a:rPr>
                        <a:t>Get backlinks from relevant sites</a:t>
                      </a:r>
                      <a:endParaRPr lang="en-IN" sz="2000" dirty="0">
                        <a:latin typeface="Times New Roman" panose="02020603050405020304" pitchFamily="18" charset="0"/>
                        <a:cs typeface="Times New Roman" panose="02020603050405020304" pitchFamily="18" charset="0"/>
                      </a:endParaRPr>
                    </a:p>
                  </a:txBody>
                  <a:tcPr marL="99204" marR="99204"/>
                </a:tc>
                <a:tc>
                  <a:txBody>
                    <a:bodyPr/>
                    <a:lstStyle/>
                    <a:p>
                      <a:r>
                        <a:rPr lang="en-US" dirty="0"/>
                        <a:t>Avoid backlinks from irrelevant sites</a:t>
                      </a:r>
                      <a:endParaRPr lang="en-IN" dirty="0"/>
                    </a:p>
                  </a:txBody>
                  <a:tcPr marL="99204" marR="99204"/>
                </a:tc>
              </a:tr>
              <a:tr h="555172">
                <a:tc>
                  <a:txBody>
                    <a:bodyPr/>
                    <a:lstStyle/>
                    <a:p>
                      <a:r>
                        <a:rPr lang="en-US" dirty="0"/>
                        <a:t>Use keywords in titles and tags in order to rank high in search engines</a:t>
                      </a:r>
                      <a:endParaRPr lang="en-IN" dirty="0"/>
                    </a:p>
                  </a:txBody>
                  <a:tcPr marL="99204" marR="99204"/>
                </a:tc>
                <a:tc>
                  <a:txBody>
                    <a:bodyPr/>
                    <a:lstStyle/>
                    <a:p>
                      <a:r>
                        <a:rPr lang="en-US" dirty="0"/>
                        <a:t>Do not duplicate title on multiple web pages</a:t>
                      </a:r>
                      <a:endParaRPr lang="en-IN" dirty="0"/>
                    </a:p>
                  </a:txBody>
                  <a:tcPr marL="99204" marR="99204"/>
                </a:tc>
              </a:tr>
              <a:tr h="555172">
                <a:tc>
                  <a:txBody>
                    <a:bodyPr/>
                    <a:lstStyle/>
                    <a:p>
                      <a:r>
                        <a:rPr lang="en-US" dirty="0"/>
                        <a:t>Write engaging and latest content</a:t>
                      </a:r>
                      <a:endParaRPr lang="en-IN" dirty="0"/>
                    </a:p>
                  </a:txBody>
                  <a:tcPr marL="99204" marR="99204"/>
                </a:tc>
                <a:tc>
                  <a:txBody>
                    <a:bodyPr/>
                    <a:lstStyle/>
                    <a:p>
                      <a:r>
                        <a:rPr lang="en-US" dirty="0"/>
                        <a:t>Do not copy other website’s content</a:t>
                      </a:r>
                      <a:endParaRPr lang="en-IN" dirty="0"/>
                    </a:p>
                  </a:txBody>
                  <a:tcPr marL="99204" marR="99204"/>
                </a:tc>
              </a:tr>
              <a:tr h="555172">
                <a:tc>
                  <a:txBody>
                    <a:bodyPr/>
                    <a:lstStyle/>
                    <a:p>
                      <a:r>
                        <a:rPr lang="en-US" dirty="0"/>
                        <a:t>Do keyword research</a:t>
                      </a:r>
                      <a:endParaRPr lang="en-IN" dirty="0"/>
                    </a:p>
                  </a:txBody>
                  <a:tcPr marL="99204" marR="99204"/>
                </a:tc>
                <a:tc>
                  <a:txBody>
                    <a:bodyPr/>
                    <a:lstStyle/>
                    <a:p>
                      <a:r>
                        <a:rPr lang="en-US" dirty="0"/>
                        <a:t>Avoid keyword stuffing</a:t>
                      </a:r>
                      <a:endParaRPr lang="en-IN" dirty="0"/>
                    </a:p>
                  </a:txBody>
                  <a:tcPr marL="99204" marR="99204"/>
                </a:tc>
              </a:tr>
              <a:tr h="555172">
                <a:tc>
                  <a:txBody>
                    <a:bodyPr/>
                    <a:lstStyle/>
                    <a:p>
                      <a:r>
                        <a:rPr lang="en-US" dirty="0"/>
                        <a:t>Make your websites user- friendly and mobile friendly</a:t>
                      </a:r>
                      <a:endParaRPr lang="en-IN" dirty="0"/>
                    </a:p>
                  </a:txBody>
                  <a:tcPr marL="99204" marR="99204"/>
                </a:tc>
                <a:tc>
                  <a:txBody>
                    <a:bodyPr/>
                    <a:lstStyle/>
                    <a:p>
                      <a:r>
                        <a:rPr lang="en-US" dirty="0"/>
                        <a:t>Avoid over optimizing of anchor text</a:t>
                      </a:r>
                      <a:endParaRPr lang="en-IN" dirty="0"/>
                    </a:p>
                  </a:txBody>
                  <a:tcPr marL="99204" marR="99204"/>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Title 1"/>
          <p:cNvSpPr>
            <a:spLocks noGrp="1"/>
          </p:cNvSpPr>
          <p:nvPr>
            <p:ph type="title"/>
          </p:nvPr>
        </p:nvSpPr>
        <p:spPr>
          <a:xfrm>
            <a:off x="633237" y="448802"/>
            <a:ext cx="10911840" cy="1051560"/>
          </a:xfrm>
        </p:spPr>
        <p:txBody>
          <a:bodyPr/>
          <a:lstStyle/>
          <a:p>
            <a:pPr algn="ctr"/>
            <a:r>
              <a:rPr lang="en-IN" dirty="0">
                <a:solidFill>
                  <a:schemeClr val="tx1"/>
                </a:solidFill>
                <a:latin typeface="Times New Roman" pitchFamily="18" charset="0"/>
                <a:cs typeface="Times New Roman" pitchFamily="18" charset="0"/>
              </a:rPr>
              <a:t>What is GOOGLE ANALYTICS</a:t>
            </a:r>
          </a:p>
        </p:txBody>
      </p:sp>
      <p:sp>
        <p:nvSpPr>
          <p:cNvPr id="1048612" name="Content Placeholder 2"/>
          <p:cNvSpPr>
            <a:spLocks noGrp="1"/>
          </p:cNvSpPr>
          <p:nvPr>
            <p:ph idx="1"/>
          </p:nvPr>
        </p:nvSpPr>
        <p:spPr>
          <a:xfrm>
            <a:off x="623907" y="1631364"/>
            <a:ext cx="10911840" cy="4187952"/>
          </a:xfrm>
        </p:spPr>
        <p:txBody>
          <a:bodyPr>
            <a:normAutofit/>
          </a:bodyPr>
          <a:lstStyle/>
          <a:p>
            <a:r>
              <a:rPr lang="en-IN" sz="2800" dirty="0">
                <a:solidFill>
                  <a:schemeClr val="tx2"/>
                </a:solidFill>
              </a:rPr>
              <a:t>• Free service offered by Google</a:t>
            </a:r>
          </a:p>
          <a:p>
            <a:r>
              <a:rPr lang="en-IN" sz="2800" dirty="0">
                <a:solidFill>
                  <a:schemeClr val="tx2"/>
                </a:solidFill>
              </a:rPr>
              <a:t>• The most widely used website statistics service*</a:t>
            </a:r>
          </a:p>
          <a:p>
            <a:r>
              <a:rPr lang="en-IN" sz="2800" dirty="0">
                <a:solidFill>
                  <a:schemeClr val="tx2"/>
                </a:solidFill>
              </a:rPr>
              <a:t>• Provides statistics and reports about visitors and</a:t>
            </a:r>
          </a:p>
          <a:p>
            <a:r>
              <a:rPr lang="en-IN" sz="2800" dirty="0">
                <a:solidFill>
                  <a:schemeClr val="tx2"/>
                </a:solidFill>
              </a:rPr>
              <a:t>     transactions on a website</a:t>
            </a:r>
          </a:p>
          <a:p>
            <a:r>
              <a:rPr lang="en-IN" sz="2800" dirty="0">
                <a:solidFill>
                  <a:schemeClr val="tx2"/>
                </a:solidFill>
              </a:rPr>
              <a:t>• At-a-glance dashboard view as well as detailed reports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a:xfrm>
            <a:off x="670560" y="495455"/>
            <a:ext cx="10911840" cy="1051560"/>
          </a:xfrm>
        </p:spPr>
        <p:txBody>
          <a:bodyPr/>
          <a:lstStyle/>
          <a:p>
            <a:r>
              <a:rPr lang="en-IN" dirty="0">
                <a:solidFill>
                  <a:schemeClr val="tx1"/>
                </a:solidFill>
                <a:latin typeface="Times New Roman" pitchFamily="18" charset="0"/>
                <a:cs typeface="Times New Roman" pitchFamily="18" charset="0"/>
              </a:rPr>
              <a:t>How does Google Analytics work?</a:t>
            </a:r>
          </a:p>
        </p:txBody>
      </p:sp>
      <p:sp>
        <p:nvSpPr>
          <p:cNvPr id="1048614" name="Content Placeholder 2"/>
          <p:cNvSpPr>
            <a:spLocks noGrp="1"/>
          </p:cNvSpPr>
          <p:nvPr>
            <p:ph idx="1"/>
          </p:nvPr>
        </p:nvSpPr>
        <p:spPr>
          <a:xfrm>
            <a:off x="409303" y="1929943"/>
            <a:ext cx="10911840" cy="4187952"/>
          </a:xfrm>
        </p:spPr>
        <p:txBody>
          <a:bodyPr>
            <a:noAutofit/>
          </a:bodyPr>
          <a:lstStyle/>
          <a:p>
            <a:r>
              <a:rPr lang="en-IN" sz="2400" dirty="0"/>
              <a:t>• Establish a User ID and password at</a:t>
            </a:r>
          </a:p>
          <a:p>
            <a:r>
              <a:rPr lang="en-IN" sz="2400" dirty="0"/>
              <a:t>            </a:t>
            </a:r>
            <a:r>
              <a:rPr lang="en-IN" sz="2400" dirty="0">
                <a:solidFill>
                  <a:srgbClr val="0070C0"/>
                </a:solidFill>
              </a:rPr>
              <a:t>google.com/analytics</a:t>
            </a:r>
          </a:p>
          <a:p>
            <a:r>
              <a:rPr lang="en-IN" sz="2400" dirty="0"/>
              <a:t>• Google then provides a “page tag” or Google Analytics Tracking Code that            needs to be added to each page of a website.</a:t>
            </a:r>
          </a:p>
          <a:p>
            <a:r>
              <a:rPr lang="en-IN" sz="2400" dirty="0"/>
              <a:t>• This tag collects data and sends it back to the Google servers for      processing.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itle 1"/>
          <p:cNvSpPr>
            <a:spLocks noGrp="1"/>
          </p:cNvSpPr>
          <p:nvPr>
            <p:ph type="title"/>
          </p:nvPr>
        </p:nvSpPr>
        <p:spPr>
          <a:xfrm>
            <a:off x="1097280" y="286604"/>
            <a:ext cx="10058400" cy="1280939"/>
          </a:xfrm>
        </p:spPr>
        <p:txBody>
          <a:bodyPr/>
          <a:lstStyle/>
          <a:p>
            <a:pPr algn="ctr"/>
            <a:r>
              <a:rPr lang="en-IN" dirty="0">
                <a:latin typeface="Times New Roman" pitchFamily="18" charset="0"/>
                <a:cs typeface="Times New Roman" pitchFamily="18" charset="0"/>
              </a:rPr>
              <a:t>How can it help a website?</a:t>
            </a:r>
          </a:p>
        </p:txBody>
      </p:sp>
      <p:sp>
        <p:nvSpPr>
          <p:cNvPr id="1048616" name="Content Placeholder 2"/>
          <p:cNvSpPr>
            <a:spLocks noGrp="1"/>
          </p:cNvSpPr>
          <p:nvPr>
            <p:ph idx="1"/>
          </p:nvPr>
        </p:nvSpPr>
        <p:spPr>
          <a:xfrm>
            <a:off x="1084217" y="1894114"/>
            <a:ext cx="10058400" cy="3870475"/>
          </a:xfrm>
        </p:spPr>
        <p:txBody>
          <a:bodyPr>
            <a:noAutofit/>
          </a:bodyPr>
          <a:lstStyle/>
          <a:p>
            <a:r>
              <a:rPr lang="en-IN" sz="2500" dirty="0">
                <a:solidFill>
                  <a:schemeClr val="tx2"/>
                </a:solidFill>
              </a:rPr>
              <a:t>• Helps with development and optimization of landing pages</a:t>
            </a:r>
          </a:p>
          <a:p>
            <a:r>
              <a:rPr lang="en-IN" sz="2500" dirty="0">
                <a:solidFill>
                  <a:schemeClr val="tx2"/>
                </a:solidFill>
              </a:rPr>
              <a:t>– How relevant were they to the visitor?</a:t>
            </a:r>
          </a:p>
          <a:p>
            <a:r>
              <a:rPr lang="en-IN" sz="2500" dirty="0">
                <a:solidFill>
                  <a:schemeClr val="tx2"/>
                </a:solidFill>
              </a:rPr>
              <a:t>• Identifies navigation challenges that may prevent visitors from getting to   your goal</a:t>
            </a:r>
          </a:p>
          <a:p>
            <a:r>
              <a:rPr lang="en-IN" sz="2500" dirty="0">
                <a:solidFill>
                  <a:schemeClr val="tx2"/>
                </a:solidFill>
              </a:rPr>
              <a:t>• Optimization of </a:t>
            </a:r>
            <a:r>
              <a:rPr lang="en-IN" sz="2500" dirty="0" err="1">
                <a:solidFill>
                  <a:schemeClr val="tx2"/>
                </a:solidFill>
              </a:rPr>
              <a:t>AdWords</a:t>
            </a:r>
            <a:r>
              <a:rPr lang="en-IN" sz="2500" dirty="0">
                <a:solidFill>
                  <a:schemeClr val="tx2"/>
                </a:solidFill>
              </a:rPr>
              <a:t> performance</a:t>
            </a:r>
          </a:p>
          <a:p>
            <a:r>
              <a:rPr lang="en-IN" sz="2500" dirty="0">
                <a:solidFill>
                  <a:schemeClr val="tx2"/>
                </a:solidFill>
              </a:rPr>
              <a:t>– keywords</a:t>
            </a:r>
          </a:p>
          <a:p>
            <a:r>
              <a:rPr lang="en-IN" sz="2500" dirty="0">
                <a:solidFill>
                  <a:schemeClr val="tx2"/>
                </a:solidFill>
              </a:rPr>
              <a:t>– timing</a:t>
            </a:r>
          </a:p>
          <a:p>
            <a:r>
              <a:rPr lang="en-IN" sz="2500" dirty="0">
                <a:solidFill>
                  <a:schemeClr val="tx2"/>
                </a:solidFill>
              </a:rPr>
              <a:t>– geographic differences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title"/>
          </p:nvPr>
        </p:nvSpPr>
        <p:spPr>
          <a:xfrm>
            <a:off x="549262" y="355496"/>
            <a:ext cx="10911840" cy="1051560"/>
          </a:xfrm>
        </p:spPr>
        <p:txBody>
          <a:bodyPr/>
          <a:lstStyle/>
          <a:p>
            <a:pPr algn="ctr"/>
            <a:r>
              <a:rPr lang="en-IN" dirty="0">
                <a:latin typeface="Times New Roman" pitchFamily="18" charset="0"/>
                <a:cs typeface="Times New Roman" pitchFamily="18" charset="0"/>
              </a:rPr>
              <a:t>Keywords Overview</a:t>
            </a:r>
          </a:p>
        </p:txBody>
      </p:sp>
      <p:sp>
        <p:nvSpPr>
          <p:cNvPr id="1048618" name="Content Placeholder 2"/>
          <p:cNvSpPr>
            <a:spLocks noGrp="1"/>
          </p:cNvSpPr>
          <p:nvPr>
            <p:ph idx="1"/>
          </p:nvPr>
        </p:nvSpPr>
        <p:spPr>
          <a:xfrm>
            <a:off x="586585" y="1659357"/>
            <a:ext cx="10911840" cy="4187952"/>
          </a:xfrm>
        </p:spPr>
        <p:txBody>
          <a:bodyPr>
            <a:normAutofit fontScale="95000" lnSpcReduction="10000"/>
          </a:bodyPr>
          <a:lstStyle/>
          <a:p>
            <a:r>
              <a:rPr lang="en-IN" sz="2600" dirty="0"/>
              <a:t>• There are two types of traffic that come to a site through search engines; organic (unpaid) and paid. By reviewing the keywords users are entering into search engines, web masters are able to get an overview of the organic traffic that is coming through their site.</a:t>
            </a:r>
          </a:p>
          <a:p>
            <a:r>
              <a:rPr lang="en-IN" sz="2600" dirty="0"/>
              <a:t>• if a keyword has a high ‘average time on site’ associated with it, the visit was probably of more value to the user than a visit resulting from a keyword with a low average time on site.</a:t>
            </a:r>
          </a:p>
          <a:p>
            <a:r>
              <a:rPr lang="en-IN" sz="2600" dirty="0"/>
              <a:t>• Although Google Analytics lets you do a multitude of comparisons on a website’s data it does not allow you to directly compare against other sites. </a:t>
            </a:r>
          </a:p>
          <a:p>
            <a:endParaRPr lang="en-IN"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3558" y="440356"/>
            <a:ext cx="10911840" cy="1051560"/>
          </a:xfrm>
        </p:spPr>
        <p:txBody>
          <a:bodyPr/>
          <a:lstStyle/>
          <a:p>
            <a:r>
              <a:rPr lang="en-US" dirty="0" smtClean="0"/>
              <a:t>Types Of SEO</a:t>
            </a:r>
            <a:endParaRPr lang="en-IN" dirty="0"/>
          </a:p>
        </p:txBody>
      </p:sp>
      <p:sp>
        <p:nvSpPr>
          <p:cNvPr id="3" name="Content Placeholder 2"/>
          <p:cNvSpPr>
            <a:spLocks noGrp="1"/>
          </p:cNvSpPr>
          <p:nvPr>
            <p:ph idx="1"/>
          </p:nvPr>
        </p:nvSpPr>
        <p:spPr>
          <a:xfrm>
            <a:off x="863065" y="1752760"/>
            <a:ext cx="10911840" cy="4187952"/>
          </a:xfrm>
        </p:spPr>
        <p:txBody>
          <a:bodyPr/>
          <a:lstStyle/>
          <a:p>
            <a:r>
              <a:rPr lang="en-US" dirty="0" smtClean="0"/>
              <a:t>White Hat SEO</a:t>
            </a:r>
          </a:p>
          <a:p>
            <a:r>
              <a:rPr lang="en-US" dirty="0" smtClean="0"/>
              <a:t>Black Hat SEO</a:t>
            </a:r>
          </a:p>
          <a:p>
            <a:r>
              <a:rPr lang="en-US" dirty="0" smtClean="0"/>
              <a:t>Grey Hat SEO- includes both white hat and black hat SEO</a:t>
            </a:r>
            <a:endParaRPr lang="en-IN" dirty="0"/>
          </a:p>
        </p:txBody>
      </p:sp>
    </p:spTree>
    <p:extLst>
      <p:ext uri="{BB962C8B-B14F-4D97-AF65-F5344CB8AC3E}">
        <p14:creationId xmlns:p14="http://schemas.microsoft.com/office/powerpoint/2010/main" val="3057531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434" y="421105"/>
            <a:ext cx="10911840" cy="1051560"/>
          </a:xfrm>
        </p:spPr>
        <p:txBody>
          <a:bodyPr/>
          <a:lstStyle/>
          <a:p>
            <a:r>
              <a:rPr lang="en-US" dirty="0" smtClean="0"/>
              <a:t>White Hat SEO</a:t>
            </a:r>
            <a:endParaRPr lang="en-IN" dirty="0"/>
          </a:p>
        </p:txBody>
      </p:sp>
      <p:sp>
        <p:nvSpPr>
          <p:cNvPr id="3" name="Content Placeholder 2"/>
          <p:cNvSpPr>
            <a:spLocks noGrp="1"/>
          </p:cNvSpPr>
          <p:nvPr>
            <p:ph idx="1"/>
          </p:nvPr>
        </p:nvSpPr>
        <p:spPr>
          <a:xfrm>
            <a:off x="699436" y="1905802"/>
            <a:ext cx="10911840" cy="3551722"/>
          </a:xfrm>
        </p:spPr>
        <p:txBody>
          <a:bodyPr>
            <a:normAutofit lnSpcReduction="10000"/>
          </a:bodyPr>
          <a:lstStyle/>
          <a:p>
            <a:r>
              <a:rPr lang="en-US" dirty="0" smtClean="0"/>
              <a:t>Follows google guideline and algorithm.</a:t>
            </a:r>
          </a:p>
          <a:p>
            <a:r>
              <a:rPr lang="en-US" dirty="0" smtClean="0"/>
              <a:t>Techniques that search engine recommend as a part of good design.</a:t>
            </a:r>
          </a:p>
          <a:p>
            <a:r>
              <a:rPr lang="en-US" dirty="0" smtClean="0"/>
              <a:t>Slow in process but are long lasting.</a:t>
            </a:r>
          </a:p>
          <a:p>
            <a:r>
              <a:rPr lang="en-US" dirty="0" smtClean="0"/>
              <a:t>Practices guideline are strictly given by google</a:t>
            </a:r>
          </a:p>
          <a:p>
            <a:r>
              <a:rPr lang="en-US" dirty="0" smtClean="0"/>
              <a:t>Most commonly practiced techniques are publishing good quality content , HTML Optimization and restructuring of website.</a:t>
            </a:r>
          </a:p>
          <a:p>
            <a:pPr marL="0" indent="0">
              <a:buNone/>
            </a:pPr>
            <a:endParaRPr lang="en-IN" dirty="0"/>
          </a:p>
        </p:txBody>
      </p:sp>
    </p:spTree>
    <p:extLst>
      <p:ext uri="{BB962C8B-B14F-4D97-AF65-F5344CB8AC3E}">
        <p14:creationId xmlns:p14="http://schemas.microsoft.com/office/powerpoint/2010/main" val="38634171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3" y="488482"/>
            <a:ext cx="10911840" cy="1051560"/>
          </a:xfrm>
        </p:spPr>
        <p:txBody>
          <a:bodyPr/>
          <a:lstStyle/>
          <a:p>
            <a:r>
              <a:rPr lang="en-US" dirty="0" smtClean="0"/>
              <a:t>Black Hat SEO</a:t>
            </a:r>
            <a:endParaRPr lang="en-IN" dirty="0"/>
          </a:p>
        </p:txBody>
      </p:sp>
      <p:sp>
        <p:nvSpPr>
          <p:cNvPr id="3" name="Content Placeholder 2"/>
          <p:cNvSpPr>
            <a:spLocks noGrp="1"/>
          </p:cNvSpPr>
          <p:nvPr>
            <p:ph idx="1"/>
          </p:nvPr>
        </p:nvSpPr>
        <p:spPr>
          <a:xfrm>
            <a:off x="670560" y="1655544"/>
            <a:ext cx="10911840" cy="4167740"/>
          </a:xfrm>
        </p:spPr>
        <p:txBody>
          <a:bodyPr>
            <a:normAutofit fontScale="92500" lnSpcReduction="20000"/>
          </a:bodyPr>
          <a:lstStyle/>
          <a:p>
            <a:r>
              <a:rPr lang="en-US" dirty="0" smtClean="0"/>
              <a:t>Don’t allow google guidelines and algorithm.</a:t>
            </a:r>
          </a:p>
          <a:p>
            <a:r>
              <a:rPr lang="en-US" dirty="0" smtClean="0"/>
              <a:t>Techniques that search engine do not approve and attempt.</a:t>
            </a:r>
          </a:p>
          <a:p>
            <a:r>
              <a:rPr lang="en-US" dirty="0" smtClean="0"/>
              <a:t>Refers to SEO practices that are violation of </a:t>
            </a:r>
            <a:r>
              <a:rPr lang="en-US" dirty="0" err="1" smtClean="0"/>
              <a:t>google’s</a:t>
            </a:r>
            <a:r>
              <a:rPr lang="en-US" dirty="0" smtClean="0"/>
              <a:t> webmaster guidelines</a:t>
            </a:r>
            <a:r>
              <a:rPr lang="en-US" dirty="0" smtClean="0"/>
              <a:t>.</a:t>
            </a:r>
          </a:p>
          <a:p>
            <a:r>
              <a:rPr lang="en-US" dirty="0" smtClean="0"/>
              <a:t>Shortcoming for higher rank.</a:t>
            </a:r>
          </a:p>
          <a:p>
            <a:r>
              <a:rPr lang="en-US" dirty="0" smtClean="0"/>
              <a:t>Also Called spamdexing.</a:t>
            </a:r>
          </a:p>
          <a:p>
            <a:r>
              <a:rPr lang="en-US" dirty="0" smtClean="0"/>
              <a:t>Most common Black hat SEO techniques include spam links, keyword stuffing, cloaking, hidden text, and hidden links.</a:t>
            </a:r>
          </a:p>
          <a:p>
            <a:r>
              <a:rPr lang="en-US" dirty="0" smtClean="0"/>
              <a:t>Traffic generated through these practices does not last nor are the rankings able to maintain their position on search engine research pages for longer time. </a:t>
            </a:r>
            <a:endParaRPr lang="en-US" dirty="0" smtClean="0"/>
          </a:p>
          <a:p>
            <a:endParaRPr lang="en-IN" dirty="0"/>
          </a:p>
        </p:txBody>
      </p:sp>
    </p:spTree>
    <p:extLst>
      <p:ext uri="{BB962C8B-B14F-4D97-AF65-F5344CB8AC3E}">
        <p14:creationId xmlns:p14="http://schemas.microsoft.com/office/powerpoint/2010/main" val="1848815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Content Placeholder 2"/>
          <p:cNvSpPr>
            <a:spLocks noGrp="1"/>
          </p:cNvSpPr>
          <p:nvPr>
            <p:ph idx="1"/>
          </p:nvPr>
        </p:nvSpPr>
        <p:spPr/>
        <p:txBody>
          <a:bodyPr/>
          <a:lstStyle/>
          <a:p>
            <a:endParaRPr lang="en-US" dirty="0"/>
          </a:p>
          <a:p>
            <a:endParaRPr lang="en-IN" dirty="0"/>
          </a:p>
          <a:p>
            <a:endParaRPr lang="en-IN" dirty="0"/>
          </a:p>
          <a:p>
            <a:r>
              <a:rPr lang="en-IN" dirty="0"/>
              <a:t>                                                </a:t>
            </a:r>
            <a:r>
              <a:rPr lang="en-IN" sz="6000" dirty="0">
                <a:solidFill>
                  <a:schemeClr val="tx1"/>
                </a:solidFill>
              </a:rPr>
              <a:t>THANK YOU</a:t>
            </a:r>
            <a:endParaRPr lang="en-IN" dirty="0"/>
          </a:p>
          <a:p>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18</TotalTime>
  <Words>1070</Words>
  <Application>Microsoft Office PowerPoint</Application>
  <PresentationFormat>Custom</PresentationFormat>
  <Paragraphs>98</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Aspect</vt:lpstr>
      <vt:lpstr>  Topic:- Unit - 2  SEARCH ENGINE OPTIMIZATION (SEO)    </vt:lpstr>
      <vt:lpstr>TERMINOLOGIES</vt:lpstr>
      <vt:lpstr>WHAT IS SEO ?</vt:lpstr>
      <vt:lpstr>WHY SEO IS IMPORTANT ?</vt:lpstr>
      <vt:lpstr>TYPES OF SEO</vt:lpstr>
      <vt:lpstr>ON – PAGE SEO</vt:lpstr>
      <vt:lpstr>OFF - PAGE SEO</vt:lpstr>
      <vt:lpstr>HOW DOES SEARCH ENGINES WORK ?</vt:lpstr>
      <vt:lpstr>PowerPoint Presentation</vt:lpstr>
      <vt:lpstr>DO’S AND DONT’S OF SEO</vt:lpstr>
      <vt:lpstr>What is GOOGLE ANALYTICS</vt:lpstr>
      <vt:lpstr>How does Google Analytics work?</vt:lpstr>
      <vt:lpstr>How can it help a website?</vt:lpstr>
      <vt:lpstr>Keywords Overview</vt:lpstr>
      <vt:lpstr>Types Of SEO</vt:lpstr>
      <vt:lpstr>White Hat SEO</vt:lpstr>
      <vt:lpstr>Black Hat SEO</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ENGINE OPTIMIZATION (SEO)</dc:title>
  <dc:creator>Akshita Pokharna</dc:creator>
  <cp:lastModifiedBy>Sangeeta Nagpure</cp:lastModifiedBy>
  <cp:revision>16</cp:revision>
  <dcterms:created xsi:type="dcterms:W3CDTF">2020-07-28T06:59:52Z</dcterms:created>
  <dcterms:modified xsi:type="dcterms:W3CDTF">2025-08-26T05:56:29Z</dcterms:modified>
</cp:coreProperties>
</file>