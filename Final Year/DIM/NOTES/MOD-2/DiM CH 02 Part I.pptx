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cba8e83070f3f7ab&amp;rlz=1C1UEAD_enIN1059IN1059&amp;cs=0&amp;q=XML+Sitemap&amp;sa=X&amp;ved=2ahUKEwjb_83kqumOAxVcUGcHHdtmObMQxccNegQIWhAB&amp;mstk=AUtExfCABDiVAg90z7f6QjrVSmdcVCkNMQ5NLetYBrOpa1S8Y20udE-iOYNceX0Jk_h1rlQ_xniK7xRmv5LHY_yVRxAN7YMy3Tw2fyHgeJF5HBBR50eJOPCO3g-jzxrEL1e4rloqE7OUFJxLYavgqi612Jkm28MKXd5eNl0AhInoE3UNOK-Jt5oSFDSdwM9eyEQhwG5j&amp;csui=3" TargetMode="External"/><Relationship Id="rId2" Type="http://schemas.openxmlformats.org/officeDocument/2006/relationships/hyperlink" Target="https://www.google.com/search?sca_esv=cba8e83070f3f7ab&amp;rlz=1C1UEAD_enIN1059IN1059&amp;cs=0&amp;q=Canonical+Tags&amp;sa=X&amp;ved=2ahUKEwjb_83kqumOAxVcUGcHHdtmObMQxccNegQIVhAB&amp;mstk=AUtExfCABDiVAg90z7f6QjrVSmdcVCkNMQ5NLetYBrOpa1S8Y20udE-iOYNceX0Jk_h1rlQ_xniK7xRmv5LHY_yVRxAN7YMy3Tw2fyHgeJF5HBBR50eJOPCO3g-jzxrEL1e4rloqE7OUFJxLYavgqi612Jkm28MKXd5eNl0AhInoE3UNOK-Jt5oSFDSdwM9eyEQhwG5j&amp;csui=3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CH 02</a:t>
            </a:r>
            <a:br>
              <a:rPr lang="en-IN" dirty="0" smtClean="0"/>
            </a:br>
            <a:r>
              <a:rPr lang="en-IN" dirty="0" smtClean="0"/>
              <a:t>Search </a:t>
            </a:r>
            <a:r>
              <a:rPr lang="en-IN" dirty="0"/>
              <a:t>Engine Optimization</a:t>
            </a:r>
          </a:p>
        </p:txBody>
      </p:sp>
    </p:spTree>
    <p:extLst>
      <p:ext uri="{BB962C8B-B14F-4D97-AF65-F5344CB8AC3E}">
        <p14:creationId xmlns:p14="http://schemas.microsoft.com/office/powerpoint/2010/main" val="80134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Keywords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It is the </a:t>
            </a:r>
            <a:r>
              <a:rPr lang="en-US" dirty="0"/>
              <a:t>words and phrases that people type into search engines (like Google) to find information, products, or </a:t>
            </a:r>
            <a:r>
              <a:rPr lang="en-US" dirty="0" smtClean="0"/>
              <a:t>services.</a:t>
            </a:r>
          </a:p>
          <a:p>
            <a:r>
              <a:rPr lang="en-US" dirty="0" smtClean="0"/>
              <a:t>E.g. wants to buy new jacket, then you can type “ men’s leather jacket” in google as keyword, even if this phrase consist of multiple words.</a:t>
            </a:r>
          </a:p>
          <a:p>
            <a:r>
              <a:rPr lang="en-IN" dirty="0" smtClean="0"/>
              <a:t> all keywords are group together into 4 main categories: Informational, Navigational, commercial, </a:t>
            </a:r>
            <a:r>
              <a:rPr lang="en-IN" dirty="0" err="1" smtClean="0"/>
              <a:t>trasanctional</a:t>
            </a:r>
            <a:r>
              <a:rPr lang="en-IN" dirty="0" smtClean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9599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Informational Keywords</a:t>
            </a:r>
            <a:r>
              <a:rPr lang="en-US" dirty="0" smtClean="0"/>
              <a:t>:</a:t>
            </a:r>
            <a:r>
              <a:rPr lang="en-IN" dirty="0" smtClean="0"/>
              <a:t> Searchers looking for answers to specific questions or general info.</a:t>
            </a:r>
          </a:p>
          <a:p>
            <a:r>
              <a:rPr lang="en-US" dirty="0" smtClean="0"/>
              <a:t>People just wants information. We call these searches for profitable keywords.</a:t>
            </a:r>
          </a:p>
          <a:p>
            <a:r>
              <a:rPr lang="en-US" dirty="0" smtClean="0"/>
              <a:t>E.g. coffee calories, national coffee day, difference between cold brew and iced coffee.</a:t>
            </a:r>
          </a:p>
          <a:p>
            <a:r>
              <a:rPr lang="en-US" dirty="0" smtClean="0"/>
              <a:t>These type of searches usually contain clues like ‘what’, ‘method, etc. and can be differentiated by ‘question term’.</a:t>
            </a:r>
          </a:p>
          <a:p>
            <a:r>
              <a:rPr lang="en-US" dirty="0" smtClean="0"/>
              <a:t>Google info. Search result page often include knowledge page, info. Boxes to provide quick </a:t>
            </a:r>
            <a:r>
              <a:rPr lang="en-US" dirty="0" err="1" smtClean="0"/>
              <a:t>ans</a:t>
            </a:r>
            <a:r>
              <a:rPr lang="en-US" dirty="0" smtClean="0"/>
              <a:t> when req.</a:t>
            </a:r>
          </a:p>
        </p:txBody>
      </p:sp>
    </p:spTree>
    <p:extLst>
      <p:ext uri="{BB962C8B-B14F-4D97-AF65-F5344CB8AC3E}">
        <p14:creationId xmlns:p14="http://schemas.microsoft.com/office/powerpoint/2010/main" val="3913711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Navigational keywords</a:t>
            </a:r>
            <a:r>
              <a:rPr lang="en-US" dirty="0" smtClean="0"/>
              <a:t>: searchers trying to find particular website or page.</a:t>
            </a:r>
          </a:p>
          <a:p>
            <a:r>
              <a:rPr lang="en-US" dirty="0" smtClean="0"/>
              <a:t>When you type company name or brand name into search engine, navigational search is performed.</a:t>
            </a:r>
          </a:p>
          <a:p>
            <a:r>
              <a:rPr lang="en-US" dirty="0" err="1" smtClean="0"/>
              <a:t>E.g</a:t>
            </a:r>
            <a:r>
              <a:rPr lang="en-US" dirty="0" smtClean="0"/>
              <a:t>: keywords like ‘YouTube, food blog, where is CCD located.</a:t>
            </a:r>
          </a:p>
          <a:p>
            <a:r>
              <a:rPr lang="en-US" dirty="0" smtClean="0"/>
              <a:t>The people behind the searches already know the company or brand and want to find the right website or location to access the product</a:t>
            </a:r>
          </a:p>
          <a:p>
            <a:r>
              <a:rPr lang="en-US" dirty="0" smtClean="0"/>
              <a:t>This can be a source of organic traffic if your brand or product is well-known or popular.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3885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Commercial website</a:t>
            </a:r>
            <a:r>
              <a:rPr lang="en-US" dirty="0" smtClean="0"/>
              <a:t>: searchers looking for brand or service,</a:t>
            </a:r>
          </a:p>
          <a:p>
            <a:r>
              <a:rPr lang="en-US" dirty="0" smtClean="0"/>
              <a:t>This reveals the searchers interest in particular product or service.</a:t>
            </a:r>
          </a:p>
          <a:p>
            <a:r>
              <a:rPr lang="en-US" dirty="0" smtClean="0"/>
              <a:t>This searches happen when user wants to learn more about particular product or services.</a:t>
            </a:r>
          </a:p>
          <a:p>
            <a:r>
              <a:rPr lang="en-US" dirty="0" smtClean="0"/>
              <a:t>E.g. like </a:t>
            </a:r>
            <a:r>
              <a:rPr lang="en-US" dirty="0" err="1" smtClean="0"/>
              <a:t>Ipad</a:t>
            </a:r>
            <a:r>
              <a:rPr lang="en-US" dirty="0" smtClean="0"/>
              <a:t> vs </a:t>
            </a:r>
            <a:r>
              <a:rPr lang="en-US" dirty="0" err="1" smtClean="0"/>
              <a:t>Ipad</a:t>
            </a:r>
            <a:r>
              <a:rPr lang="en-US" dirty="0" smtClean="0"/>
              <a:t> air, </a:t>
            </a:r>
            <a:r>
              <a:rPr lang="en-US" dirty="0" err="1" smtClean="0"/>
              <a:t>Ipad</a:t>
            </a:r>
            <a:r>
              <a:rPr lang="en-US" dirty="0" smtClean="0"/>
              <a:t> review, BIBA</a:t>
            </a:r>
          </a:p>
          <a:p>
            <a:r>
              <a:rPr lang="en-US" dirty="0" smtClean="0"/>
              <a:t>This can reveals individuals interest to purchase or engage someone in commercial activity in future.</a:t>
            </a:r>
          </a:p>
          <a:p>
            <a:r>
              <a:rPr lang="en-US" dirty="0" smtClean="0"/>
              <a:t>This is the opportunity to reach the audience who may turns into customer in future.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862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Transactional keywords</a:t>
            </a:r>
            <a:r>
              <a:rPr lang="en-US" dirty="0" smtClean="0"/>
              <a:t>: searchers are intended to complete an action or purchase.</a:t>
            </a:r>
          </a:p>
          <a:p>
            <a:r>
              <a:rPr lang="en-US" dirty="0" smtClean="0"/>
              <a:t>The keywords with highest purchase are transactional keywords.</a:t>
            </a:r>
          </a:p>
          <a:p>
            <a:r>
              <a:rPr lang="en-US" dirty="0" err="1" smtClean="0"/>
              <a:t>E.g</a:t>
            </a:r>
            <a:r>
              <a:rPr lang="en-US" dirty="0" smtClean="0"/>
              <a:t> buy crypto  online, food home delivery services, sandwich places near me that delivers.</a:t>
            </a:r>
          </a:p>
          <a:p>
            <a:r>
              <a:rPr lang="en-US" dirty="0" smtClean="0"/>
              <a:t>  These occurs when if someone is already searched for product, make decision, decided to purchase.</a:t>
            </a:r>
          </a:p>
          <a:p>
            <a:r>
              <a:rPr lang="en-US" dirty="0" smtClean="0"/>
              <a:t>Often used keywords are: Buy, Subscribe, sell.</a:t>
            </a:r>
          </a:p>
          <a:p>
            <a:r>
              <a:rPr lang="en-US" dirty="0" smtClean="0"/>
              <a:t>Also know by ‘Buyer keywords’.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4104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 Tag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They are </a:t>
            </a:r>
            <a:r>
              <a:rPr lang="en-US" dirty="0"/>
              <a:t>HTML elements that provide metadata about a webpage, and while not directly visible to </a:t>
            </a:r>
            <a:r>
              <a:rPr lang="en-US" dirty="0" smtClean="0"/>
              <a:t>users.</a:t>
            </a:r>
          </a:p>
          <a:p>
            <a:r>
              <a:rPr lang="en-US" dirty="0"/>
              <a:t>T</a:t>
            </a:r>
            <a:r>
              <a:rPr lang="en-US" dirty="0" smtClean="0"/>
              <a:t>hey </a:t>
            </a:r>
            <a:r>
              <a:rPr lang="en-US" dirty="0"/>
              <a:t>play a crucial role in SEO by influencing how search engines understand and display your </a:t>
            </a:r>
            <a:r>
              <a:rPr lang="en-US" dirty="0" smtClean="0"/>
              <a:t>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089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b="1" dirty="0"/>
              <a:t>Title </a:t>
            </a:r>
            <a:r>
              <a:rPr lang="en-US" b="1" dirty="0" smtClean="0"/>
              <a:t>Tag</a:t>
            </a:r>
            <a:r>
              <a:rPr lang="en-US" dirty="0" smtClean="0"/>
              <a:t>: The </a:t>
            </a:r>
            <a:r>
              <a:rPr lang="en-US" dirty="0"/>
              <a:t>title tag is displayed as the clickable headline in search engine results and is a primary factor in how search engines understand your page's content. </a:t>
            </a:r>
          </a:p>
          <a:p>
            <a:pPr fontAlgn="ctr"/>
            <a:r>
              <a:rPr lang="en-US" dirty="0"/>
              <a:t>It should be concise (around 60-65 characters), descriptive, and accurately reflect the page's content. </a:t>
            </a:r>
          </a:p>
          <a:p>
            <a:r>
              <a:rPr lang="en-US" dirty="0"/>
              <a:t>Each page should have a unique title tag.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62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 </a:t>
            </a:r>
            <a:r>
              <a:rPr lang="en-US" b="1" dirty="0"/>
              <a:t>Meta </a:t>
            </a:r>
            <a:r>
              <a:rPr lang="en-US" b="1" dirty="0" smtClean="0"/>
              <a:t>Description: </a:t>
            </a:r>
            <a:r>
              <a:rPr lang="en-US" dirty="0" smtClean="0"/>
              <a:t>The </a:t>
            </a:r>
            <a:r>
              <a:rPr lang="en-US" dirty="0"/>
              <a:t>meta description is a brief summary of your page's content that appears below the title tag in search results. </a:t>
            </a:r>
          </a:p>
          <a:p>
            <a:pPr fontAlgn="ctr"/>
            <a:r>
              <a:rPr lang="en-US" dirty="0"/>
              <a:t>It should be compelling and encourage users to click through to your page. </a:t>
            </a:r>
          </a:p>
          <a:p>
            <a:pPr fontAlgn="ctr"/>
            <a:r>
              <a:rPr lang="en-US" dirty="0"/>
              <a:t>Aim for a length of around 150-160 characters. </a:t>
            </a:r>
          </a:p>
          <a:p>
            <a:r>
              <a:rPr lang="en-US" dirty="0"/>
              <a:t>Each page should have a unique meta description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Synatax</a:t>
            </a:r>
            <a:r>
              <a:rPr lang="en-US" dirty="0" smtClean="0"/>
              <a:t>:</a:t>
            </a:r>
          </a:p>
          <a:p>
            <a:r>
              <a:rPr lang="en-US" dirty="0"/>
              <a:t>&lt;meta name="description" content="Learn how to use meta tags, headings, anchor text, and sitemaps to improve SEO and website visibility."&gt;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426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Meta </a:t>
            </a:r>
            <a:r>
              <a:rPr lang="en-US" b="1" dirty="0" smtClean="0"/>
              <a:t>Keywords</a:t>
            </a:r>
            <a:r>
              <a:rPr lang="en-US" dirty="0" smtClean="0"/>
              <a:t>: </a:t>
            </a:r>
            <a:r>
              <a:rPr lang="en-IN" dirty="0"/>
              <a:t>The Keyword meta tag includes individual keywords separated by commas</a:t>
            </a:r>
            <a:r>
              <a:rPr lang="en-US" dirty="0" smtClean="0"/>
              <a:t>.</a:t>
            </a:r>
            <a:r>
              <a:rPr lang="en-US" dirty="0"/>
              <a:t> </a:t>
            </a:r>
          </a:p>
          <a:p>
            <a:r>
              <a:rPr lang="en-IN" dirty="0" smtClean="0"/>
              <a:t>Search </a:t>
            </a:r>
            <a:r>
              <a:rPr lang="en-IN" dirty="0"/>
              <a:t>engine crawlers use the Keyword meta tag information to index the website and display it in the search results</a:t>
            </a:r>
            <a:r>
              <a:rPr lang="en-US" dirty="0" smtClean="0"/>
              <a:t>.</a:t>
            </a:r>
          </a:p>
          <a:p>
            <a:r>
              <a:rPr lang="en-IN" dirty="0"/>
              <a:t>The keywords should be descriptive and optimized to ensure that the search engine displays the website when users search for these specific </a:t>
            </a:r>
            <a:r>
              <a:rPr lang="en-IN" dirty="0" smtClean="0"/>
              <a:t>keywords.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 smtClean="0"/>
              <a:t>Syntax:</a:t>
            </a:r>
          </a:p>
          <a:p>
            <a:r>
              <a:rPr lang="en-US" dirty="0"/>
              <a:t>&lt;meta name="keywords" content</a:t>
            </a:r>
            <a:r>
              <a:rPr lang="en-US" dirty="0" smtClean="0"/>
              <a:t>=“Keyword1, Keyword2, Keyword3"&gt;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448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Meta </a:t>
            </a:r>
            <a:r>
              <a:rPr lang="en-IN" b="1" dirty="0" smtClean="0"/>
              <a:t>Author: </a:t>
            </a:r>
            <a:r>
              <a:rPr lang="en-US" dirty="0"/>
              <a:t> </a:t>
            </a:r>
            <a:r>
              <a:rPr lang="en-US" dirty="0" smtClean="0"/>
              <a:t>It to</a:t>
            </a:r>
            <a:r>
              <a:rPr lang="en-US" dirty="0"/>
              <a:t> a meta tag that specifies the author of a webpage</a:t>
            </a:r>
            <a:endParaRPr lang="en-IN" b="1" dirty="0" smtClean="0"/>
          </a:p>
          <a:p>
            <a:r>
              <a:rPr lang="en-US" dirty="0" smtClean="0"/>
              <a:t>Structural </a:t>
            </a:r>
            <a:r>
              <a:rPr lang="en-US" dirty="0"/>
              <a:t>Elements tagged with the @author tag will show an Author header in their description containing the contents of this </a:t>
            </a:r>
            <a:r>
              <a:rPr lang="en-US" dirty="0" smtClean="0"/>
              <a:t>tag.</a:t>
            </a:r>
          </a:p>
          <a:p>
            <a:r>
              <a:rPr lang="en-US" dirty="0"/>
              <a:t>If an e-mail address is provided in the tag then the name of the Author will link to the e-mail address instead of displaying it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Syntax:</a:t>
            </a:r>
          </a:p>
          <a:p>
            <a:r>
              <a:rPr lang="en-US" dirty="0"/>
              <a:t>&lt;meta name="author" content="Author Name"&gt;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42943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IN" b="1" dirty="0"/>
              <a:t>Meta Country / </a:t>
            </a:r>
            <a:r>
              <a:rPr lang="en-IN" b="1" dirty="0" smtClean="0"/>
              <a:t>Language: </a:t>
            </a:r>
            <a:r>
              <a:rPr lang="en-IN" dirty="0" smtClean="0"/>
              <a:t>It</a:t>
            </a:r>
            <a:r>
              <a:rPr lang="en-IN" b="1" dirty="0" smtClean="0"/>
              <a:t> </a:t>
            </a:r>
            <a:r>
              <a:rPr lang="en-US" dirty="0" smtClean="0"/>
              <a:t>is</a:t>
            </a:r>
            <a:r>
              <a:rPr lang="en-US" dirty="0"/>
              <a:t> used to specify the language and optionally the country for the content of a </a:t>
            </a:r>
            <a:r>
              <a:rPr lang="en-US" dirty="0" smtClean="0"/>
              <a:t>webpage.</a:t>
            </a:r>
          </a:p>
          <a:p>
            <a:r>
              <a:rPr lang="en-US" dirty="0"/>
              <a:t>This tag helps search engines understand which language and region the page is targeted towards, aiding in delivering relevant content to </a:t>
            </a:r>
            <a:r>
              <a:rPr lang="en-US" dirty="0" smtClean="0"/>
              <a:t>users.</a:t>
            </a:r>
          </a:p>
          <a:p>
            <a:r>
              <a:rPr lang="en-US" dirty="0" smtClean="0"/>
              <a:t>Syntax:</a:t>
            </a:r>
          </a:p>
          <a:p>
            <a:r>
              <a:rPr lang="en-IN" dirty="0"/>
              <a:t>&lt;meta name="</a:t>
            </a:r>
            <a:r>
              <a:rPr lang="en-IN" dirty="0" err="1"/>
              <a:t>geo.region</a:t>
            </a:r>
            <a:r>
              <a:rPr lang="en-IN" dirty="0"/>
              <a:t>" content="US"&gt;</a:t>
            </a:r>
          </a:p>
          <a:p>
            <a:r>
              <a:rPr lang="en-IN" dirty="0"/>
              <a:t>&lt;meta name="language" content="</a:t>
            </a:r>
            <a:r>
              <a:rPr lang="en-IN" dirty="0" err="1"/>
              <a:t>en</a:t>
            </a:r>
            <a:r>
              <a:rPr lang="en-IN" dirty="0" smtClean="0"/>
              <a:t>"&gt;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292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Robot Tag: </a:t>
            </a:r>
            <a:r>
              <a:rPr lang="en-US" dirty="0" smtClean="0"/>
              <a:t>They</a:t>
            </a:r>
            <a:r>
              <a:rPr lang="en-US" b="1" dirty="0" smtClean="0"/>
              <a:t> </a:t>
            </a:r>
            <a:r>
              <a:rPr lang="en-US" dirty="0" smtClean="0"/>
              <a:t>are</a:t>
            </a:r>
            <a:r>
              <a:rPr lang="en-US" dirty="0"/>
              <a:t> HTML elements used to provide instructions to search engine crawlers (also known as robots or bots) about how to handle a specific </a:t>
            </a:r>
            <a:r>
              <a:rPr lang="en-US" dirty="0" smtClean="0"/>
              <a:t>webpage.</a:t>
            </a:r>
          </a:p>
          <a:p>
            <a:r>
              <a:rPr lang="en-US" dirty="0"/>
              <a:t>tell search engines whether to index the page, follow links on the page, or even prevent caching of the page. </a:t>
            </a:r>
            <a:endParaRPr lang="en-US" dirty="0" smtClean="0"/>
          </a:p>
          <a:p>
            <a:r>
              <a:rPr lang="en-US" dirty="0" smtClean="0"/>
              <a:t>Essentially</a:t>
            </a:r>
            <a:r>
              <a:rPr lang="en-US" dirty="0"/>
              <a:t>, they give website owners granular control over how search engines interact with their content. </a:t>
            </a:r>
            <a:endParaRPr lang="en-US" dirty="0" smtClean="0"/>
          </a:p>
          <a:p>
            <a:r>
              <a:rPr lang="en-US" b="1" dirty="0" smtClean="0"/>
              <a:t>Syntax:</a:t>
            </a:r>
          </a:p>
          <a:p>
            <a:r>
              <a:rPr lang="en-US" dirty="0"/>
              <a:t>&lt;meta name="robots" content="index, follow</a:t>
            </a:r>
            <a:r>
              <a:rPr lang="en-US" dirty="0" smtClean="0"/>
              <a:t>"&gt;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65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Redirection Tag: </a:t>
            </a:r>
            <a:r>
              <a:rPr lang="en-US" dirty="0" smtClean="0"/>
              <a:t>They</a:t>
            </a:r>
            <a:r>
              <a:rPr lang="en-US" b="1" dirty="0" smtClean="0"/>
              <a:t> </a:t>
            </a:r>
            <a:r>
              <a:rPr lang="en-US" dirty="0" smtClean="0"/>
              <a:t>are</a:t>
            </a:r>
            <a:r>
              <a:rPr lang="en-US" dirty="0"/>
              <a:t> used to automatically redirect users and search engines from one URL to </a:t>
            </a:r>
            <a:r>
              <a:rPr lang="en-US" dirty="0" smtClean="0"/>
              <a:t>another.</a:t>
            </a:r>
          </a:p>
          <a:p>
            <a:r>
              <a:rPr lang="en-US" dirty="0"/>
              <a:t>This is useful when a page has moved, a link needs updating, or a broken URL needs to be </a:t>
            </a:r>
            <a:r>
              <a:rPr lang="en-US" dirty="0" smtClean="0"/>
              <a:t>fixed.</a:t>
            </a:r>
          </a:p>
          <a:p>
            <a:r>
              <a:rPr lang="en-US" dirty="0"/>
              <a:t>EO Tip: Use 301 (permanent) or 302 (temporary</a:t>
            </a:r>
            <a:r>
              <a:rPr lang="en-US" dirty="0" smtClean="0"/>
              <a:t>)</a:t>
            </a:r>
          </a:p>
          <a:p>
            <a:r>
              <a:rPr lang="en-US" dirty="0" smtClean="0"/>
              <a:t>Syntax:</a:t>
            </a:r>
          </a:p>
          <a:p>
            <a:r>
              <a:rPr lang="en-IN" dirty="0"/>
              <a:t>&lt;meta http-</a:t>
            </a:r>
            <a:r>
              <a:rPr lang="en-IN" dirty="0" err="1"/>
              <a:t>equiv</a:t>
            </a:r>
            <a:r>
              <a:rPr lang="en-IN" dirty="0"/>
              <a:t>="refresh" content="5;url=https://www.newsite.com</a:t>
            </a:r>
            <a:r>
              <a:rPr lang="en-IN" dirty="0" smtClean="0"/>
              <a:t>/"&gt;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213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US" b="1" dirty="0"/>
              <a:t>Heading tags </a:t>
            </a:r>
            <a:r>
              <a:rPr lang="en-US" b="1" dirty="0" smtClean="0"/>
              <a:t>(&lt;</a:t>
            </a:r>
            <a:r>
              <a:rPr lang="en-US" b="1" dirty="0"/>
              <a:t>h1&gt; to &lt;h6</a:t>
            </a:r>
            <a:r>
              <a:rPr lang="en-US" b="1" dirty="0" smtClean="0"/>
              <a:t>&gt;): </a:t>
            </a:r>
            <a:r>
              <a:rPr lang="en-US" dirty="0" smtClean="0"/>
              <a:t>They are</a:t>
            </a:r>
            <a:r>
              <a:rPr lang="en-US" dirty="0"/>
              <a:t> used to define headings and subheadings on a webpage, structuring the content for both readers and search </a:t>
            </a:r>
            <a:r>
              <a:rPr lang="en-US" dirty="0" smtClean="0"/>
              <a:t>engines.</a:t>
            </a:r>
          </a:p>
          <a:p>
            <a:r>
              <a:rPr lang="en-US" dirty="0"/>
              <a:t>Define headings in your content, from most important (H1) to least (H6</a:t>
            </a:r>
            <a:r>
              <a:rPr lang="en-US" dirty="0" smtClean="0"/>
              <a:t>).</a:t>
            </a:r>
          </a:p>
          <a:p>
            <a:r>
              <a:rPr lang="en-US" b="1" dirty="0" smtClean="0"/>
              <a:t>Syntax:</a:t>
            </a:r>
          </a:p>
          <a:p>
            <a:r>
              <a:rPr lang="pt-BR" dirty="0"/>
              <a:t>&lt;h1&gt;Ultimate SEO Guide for Beginners&lt;/h1&gt;</a:t>
            </a:r>
          </a:p>
          <a:p>
            <a:r>
              <a:rPr lang="pt-BR" dirty="0"/>
              <a:t>&lt;h2&gt;Understanding Meta Tags&lt;/h2&gt;</a:t>
            </a:r>
          </a:p>
          <a:p>
            <a:r>
              <a:rPr lang="pt-BR" dirty="0"/>
              <a:t>&lt;h3&gt;Meta Description&lt;/h3</a:t>
            </a:r>
            <a:r>
              <a:rPr lang="pt-BR" dirty="0" smtClean="0"/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6981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r>
              <a:rPr lang="en-IN" b="1" dirty="0"/>
              <a:t>Anchor </a:t>
            </a:r>
            <a:r>
              <a:rPr lang="en-IN" b="1" dirty="0" smtClean="0"/>
              <a:t>Text Tag: </a:t>
            </a:r>
            <a:r>
              <a:rPr lang="en-IN" dirty="0" smtClean="0"/>
              <a:t>It </a:t>
            </a:r>
            <a:r>
              <a:rPr lang="en-US" dirty="0" smtClean="0"/>
              <a:t>is</a:t>
            </a:r>
            <a:r>
              <a:rPr lang="en-US" dirty="0"/>
              <a:t> used to create hyperlinks that connect to other web pages or sections within the same </a:t>
            </a:r>
            <a:r>
              <a:rPr lang="en-US" dirty="0" smtClean="0"/>
              <a:t>page.</a:t>
            </a:r>
          </a:p>
          <a:p>
            <a:r>
              <a:rPr lang="en-US" dirty="0"/>
              <a:t>The anchor text is the visible, clickable text within that link, providing context to both users and search engines about the linked </a:t>
            </a:r>
            <a:r>
              <a:rPr lang="en-US" dirty="0" smtClean="0"/>
              <a:t>page.</a:t>
            </a:r>
          </a:p>
          <a:p>
            <a:r>
              <a:rPr lang="en-US" b="1" dirty="0" smtClean="0"/>
              <a:t>Syntax:</a:t>
            </a:r>
          </a:p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="https://example.com/</a:t>
            </a:r>
            <a:r>
              <a:rPr lang="en-US" dirty="0" err="1"/>
              <a:t>seo</a:t>
            </a:r>
            <a:r>
              <a:rPr lang="en-US" dirty="0"/>
              <a:t>-guide"&gt;Learn SEO best practices&lt;/a</a:t>
            </a:r>
            <a:r>
              <a:rPr lang="en-US" dirty="0" smtClean="0"/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401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Link </a:t>
            </a:r>
            <a:r>
              <a:rPr lang="en-IN" b="1" dirty="0" smtClean="0"/>
              <a:t>Title Tag: </a:t>
            </a:r>
            <a:r>
              <a:rPr lang="en-US" dirty="0"/>
              <a:t>The link title tag, also known as the title attribute, provides additional information about a </a:t>
            </a:r>
            <a:r>
              <a:rPr lang="en-US" dirty="0" smtClean="0"/>
              <a:t>hyperlink</a:t>
            </a:r>
            <a:r>
              <a:rPr lang="en-IN" dirty="0" smtClean="0"/>
              <a:t>.</a:t>
            </a:r>
          </a:p>
          <a:p>
            <a:r>
              <a:rPr lang="en-US" dirty="0"/>
              <a:t>If a link's anchor text is "Read more," </a:t>
            </a:r>
            <a:r>
              <a:rPr lang="en-US" dirty="0" smtClean="0"/>
              <a:t>but the </a:t>
            </a:r>
            <a:r>
              <a:rPr lang="en-US" dirty="0"/>
              <a:t>title attribute could be "Read more about the history of the company" to provide more specific information about the linked page. </a:t>
            </a:r>
            <a:endParaRPr lang="en-US" dirty="0" smtClean="0"/>
          </a:p>
          <a:p>
            <a:r>
              <a:rPr lang="en-US" dirty="0" smtClean="0"/>
              <a:t>Syntax:</a:t>
            </a:r>
          </a:p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="https://example.com/</a:t>
            </a:r>
            <a:r>
              <a:rPr lang="en-US" dirty="0" err="1"/>
              <a:t>seo</a:t>
            </a:r>
            <a:r>
              <a:rPr lang="en-US" dirty="0"/>
              <a:t>-guide" title="Comprehensive SEO Guide"&gt;Learn SEO best practices&lt;/a</a:t>
            </a:r>
            <a:r>
              <a:rPr lang="en-US" dirty="0" smtClean="0"/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763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Sitemap Tag: </a:t>
            </a:r>
            <a:r>
              <a:rPr lang="en-US" dirty="0"/>
              <a:t>a specific tag used to provide information about a URL on a </a:t>
            </a:r>
            <a:r>
              <a:rPr lang="en-US" dirty="0" smtClean="0"/>
              <a:t>website.</a:t>
            </a:r>
          </a:p>
          <a:p>
            <a:r>
              <a:rPr lang="en-US" dirty="0"/>
              <a:t>Lists all important URLs of your site to help search engines index it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Syntax:</a:t>
            </a:r>
          </a:p>
          <a:p>
            <a:pPr marL="0" indent="0">
              <a:buNone/>
            </a:pPr>
            <a:r>
              <a:rPr lang="en-IN" dirty="0"/>
              <a:t>&lt;?xml version="1.0" encoding="UTF-8"?&gt;</a:t>
            </a:r>
          </a:p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urlset</a:t>
            </a:r>
            <a:r>
              <a:rPr lang="en-IN" dirty="0"/>
              <a:t> </a:t>
            </a:r>
            <a:r>
              <a:rPr lang="en-IN" dirty="0" err="1"/>
              <a:t>xmlns</a:t>
            </a:r>
            <a:r>
              <a:rPr lang="en-IN" dirty="0"/>
              <a:t>="http://www.sitemaps.org/schemas/sitemap/0.9"&gt;</a:t>
            </a:r>
          </a:p>
          <a:p>
            <a:pPr marL="0" indent="0">
              <a:buNone/>
            </a:pPr>
            <a:r>
              <a:rPr lang="en-IN" dirty="0"/>
              <a:t> &lt;</a:t>
            </a:r>
            <a:r>
              <a:rPr lang="en-IN" dirty="0" err="1"/>
              <a:t>url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&lt;</a:t>
            </a:r>
            <a:r>
              <a:rPr lang="en-IN" dirty="0" err="1"/>
              <a:t>loc</a:t>
            </a:r>
            <a:r>
              <a:rPr lang="en-IN" dirty="0"/>
              <a:t>&gt;https://example.com/&lt;/loc&gt;</a:t>
            </a:r>
          </a:p>
          <a:p>
            <a:pPr marL="0" indent="0">
              <a:buNone/>
            </a:pPr>
            <a:r>
              <a:rPr lang="en-IN" dirty="0"/>
              <a:t>   &lt;</a:t>
            </a:r>
            <a:r>
              <a:rPr lang="en-IN" dirty="0" err="1"/>
              <a:t>lastmod</a:t>
            </a:r>
            <a:r>
              <a:rPr lang="en-IN" dirty="0"/>
              <a:t>&gt;2025-07-31&lt;/</a:t>
            </a:r>
            <a:r>
              <a:rPr lang="en-IN" dirty="0" err="1"/>
              <a:t>lastmod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&lt;</a:t>
            </a:r>
            <a:r>
              <a:rPr lang="en-IN" dirty="0" err="1"/>
              <a:t>changefreq</a:t>
            </a:r>
            <a:r>
              <a:rPr lang="en-IN" dirty="0"/>
              <a:t>&gt;monthly&lt;/</a:t>
            </a:r>
            <a:r>
              <a:rPr lang="en-IN" dirty="0" err="1"/>
              <a:t>changefreq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&lt;priority&gt;1.0&lt;/priority&gt;</a:t>
            </a:r>
          </a:p>
          <a:p>
            <a:pPr marL="0" indent="0">
              <a:buNone/>
            </a:pPr>
            <a:r>
              <a:rPr lang="en-IN" dirty="0"/>
              <a:t> &lt;/</a:t>
            </a:r>
            <a:r>
              <a:rPr lang="en-IN" dirty="0" err="1"/>
              <a:t>url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&lt;/</a:t>
            </a:r>
            <a:r>
              <a:rPr lang="en-IN" dirty="0" err="1"/>
              <a:t>urlset</a:t>
            </a:r>
            <a:r>
              <a:rPr lang="en-IN" dirty="0"/>
              <a:t>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1889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 Optimization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It refers </a:t>
            </a:r>
            <a:r>
              <a:rPr lang="en-US" dirty="0"/>
              <a:t>to the practice of improving the quality, relevance, and visibility of website content to rank higher in search engine results pages (SERPs) and attract more organic </a:t>
            </a:r>
            <a:r>
              <a:rPr lang="en-US" dirty="0" smtClean="0"/>
              <a:t>traffic.</a:t>
            </a:r>
          </a:p>
          <a:p>
            <a:r>
              <a:rPr lang="en-US" dirty="0"/>
              <a:t>This involves making content more appealing to both search engines and users </a:t>
            </a:r>
            <a:r>
              <a:rPr lang="en-US" dirty="0" smtClean="0"/>
              <a:t>by</a:t>
            </a:r>
          </a:p>
          <a:p>
            <a:r>
              <a:rPr lang="en-US" dirty="0" smtClean="0"/>
              <a:t> </a:t>
            </a:r>
            <a:r>
              <a:rPr lang="en-US" dirty="0"/>
              <a:t>incorporating relevant keywords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/>
              <a:t>optimizing meta descriptions and titles, enhancing readability, and </a:t>
            </a:r>
            <a:endParaRPr lang="en-US" dirty="0" smtClean="0"/>
          </a:p>
          <a:p>
            <a:r>
              <a:rPr lang="en-US" dirty="0" smtClean="0"/>
              <a:t>ensuring </a:t>
            </a:r>
            <a:r>
              <a:rPr lang="en-US" dirty="0"/>
              <a:t>a positive user </a:t>
            </a:r>
            <a:r>
              <a:rPr lang="en-US" dirty="0" smtClean="0"/>
              <a:t>experience.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009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terminology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ctr"/>
            <a:r>
              <a:rPr lang="en-US" b="1" dirty="0"/>
              <a:t>Understanding Search Intent: </a:t>
            </a:r>
          </a:p>
          <a:p>
            <a:pPr fontAlgn="ctr"/>
            <a:r>
              <a:rPr lang="en-US" dirty="0"/>
              <a:t>Begin by understanding what users are searching for when they use specific keywords. This helps tailor your content to meet their needs and expectations. </a:t>
            </a:r>
          </a:p>
          <a:p>
            <a:r>
              <a:rPr lang="en-US" dirty="0"/>
              <a:t>Consider the different types of search intent (informational, navigational, transactional, commercial) and create content that aligns with each.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8137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pPr fontAlgn="ctr"/>
            <a:r>
              <a:rPr lang="en-IN" b="1" dirty="0" smtClean="0"/>
              <a:t>Keyword </a:t>
            </a:r>
            <a:r>
              <a:rPr lang="en-IN" b="1" dirty="0"/>
              <a:t>Research and Integration</a:t>
            </a:r>
            <a:r>
              <a:rPr lang="en-IN" b="1" dirty="0" smtClean="0"/>
              <a:t>:</a:t>
            </a:r>
          </a:p>
          <a:p>
            <a:pPr fontAlgn="ctr"/>
            <a:r>
              <a:rPr lang="en-US" dirty="0" smtClean="0"/>
              <a:t>Identify </a:t>
            </a:r>
            <a:r>
              <a:rPr lang="en-US" dirty="0"/>
              <a:t>relevant keywords that your target audience is using to search for information related to your content. </a:t>
            </a:r>
          </a:p>
          <a:p>
            <a:pPr fontAlgn="ctr"/>
            <a:r>
              <a:rPr lang="en-US" dirty="0"/>
              <a:t>Strategically incorporate these keywords into your content, including the title, headings, body text, and image alt text. </a:t>
            </a:r>
          </a:p>
          <a:p>
            <a:r>
              <a:rPr lang="en-US" dirty="0"/>
              <a:t>Avoid keyword stuffing (excessively using keywords), as it can negatively impact readability and user experience. </a:t>
            </a:r>
          </a:p>
        </p:txBody>
      </p:sp>
    </p:spTree>
    <p:extLst>
      <p:ext uri="{BB962C8B-B14F-4D97-AF65-F5344CB8AC3E}">
        <p14:creationId xmlns:p14="http://schemas.microsoft.com/office/powerpoint/2010/main" val="847979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Content Quality and Relevance:</a:t>
            </a:r>
          </a:p>
          <a:p>
            <a:pPr fontAlgn="ctr"/>
            <a:r>
              <a:rPr lang="en-US" dirty="0"/>
              <a:t>Create </a:t>
            </a:r>
            <a:r>
              <a:rPr lang="en-US" b="1" dirty="0">
                <a:solidFill>
                  <a:srgbClr val="FF0000"/>
                </a:solidFill>
              </a:rPr>
              <a:t>high-quality</a:t>
            </a:r>
            <a:r>
              <a:rPr lang="en-US" dirty="0"/>
              <a:t>, informative, and engaging content that provides value to your audience. </a:t>
            </a:r>
          </a:p>
          <a:p>
            <a:pPr fontAlgn="ctr"/>
            <a:r>
              <a:rPr lang="en-US" dirty="0"/>
              <a:t>Ensure your </a:t>
            </a:r>
            <a:r>
              <a:rPr lang="en-US" b="1" dirty="0">
                <a:solidFill>
                  <a:srgbClr val="FF0000"/>
                </a:solidFill>
              </a:rPr>
              <a:t>content is well-researched</a:t>
            </a:r>
            <a:r>
              <a:rPr lang="en-US" dirty="0"/>
              <a:t>, accurate, and up-to-date. </a:t>
            </a:r>
          </a:p>
          <a:p>
            <a:r>
              <a:rPr lang="en-US" dirty="0"/>
              <a:t>Cover </a:t>
            </a:r>
            <a:r>
              <a:rPr lang="en-US" b="1" dirty="0">
                <a:solidFill>
                  <a:srgbClr val="FF0000"/>
                </a:solidFill>
              </a:rPr>
              <a:t>topics in-depth and address </a:t>
            </a:r>
            <a:r>
              <a:rPr lang="en-US" b="1" dirty="0" smtClean="0">
                <a:solidFill>
                  <a:srgbClr val="FF0000"/>
                </a:solidFill>
              </a:rPr>
              <a:t>user’s </a:t>
            </a:r>
            <a:r>
              <a:rPr lang="en-US" b="1" dirty="0">
                <a:solidFill>
                  <a:srgbClr val="FF0000"/>
                </a:solidFill>
              </a:rPr>
              <a:t>questions </a:t>
            </a:r>
            <a:r>
              <a:rPr lang="en-US" dirty="0"/>
              <a:t>effectively. </a:t>
            </a:r>
            <a:endParaRPr lang="en-US" dirty="0" smtClean="0"/>
          </a:p>
          <a:p>
            <a:pPr fontAlgn="ctr"/>
            <a:r>
              <a:rPr lang="en-US" b="1" dirty="0"/>
              <a:t>Optimizing Meta Descriptions and Titles: </a:t>
            </a:r>
          </a:p>
          <a:p>
            <a:pPr fontAlgn="ctr"/>
            <a:r>
              <a:rPr lang="en-US" dirty="0"/>
              <a:t>Write </a:t>
            </a:r>
            <a:r>
              <a:rPr lang="en-US" dirty="0">
                <a:solidFill>
                  <a:srgbClr val="FF0000"/>
                </a:solidFill>
              </a:rPr>
              <a:t>compelling meta descriptions </a:t>
            </a:r>
            <a:r>
              <a:rPr lang="en-US" dirty="0"/>
              <a:t>that accurately summarize your page content and encourage clicks. </a:t>
            </a:r>
          </a:p>
          <a:p>
            <a:r>
              <a:rPr lang="en-US" dirty="0">
                <a:solidFill>
                  <a:srgbClr val="FF0000"/>
                </a:solidFill>
              </a:rPr>
              <a:t>Craft clear and concise </a:t>
            </a:r>
            <a:r>
              <a:rPr lang="en-US" dirty="0"/>
              <a:t>title tags that accurately reflect the page content and include relevant keywords.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169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en-US" b="1" dirty="0"/>
              <a:t>Improving Readability and User Experience:</a:t>
            </a:r>
          </a:p>
          <a:p>
            <a:pPr fontAlgn="ctr"/>
            <a:r>
              <a:rPr lang="en-US" dirty="0"/>
              <a:t>Structure your content </a:t>
            </a:r>
            <a:r>
              <a:rPr lang="en-US" b="1" dirty="0">
                <a:solidFill>
                  <a:srgbClr val="FF0000"/>
                </a:solidFill>
              </a:rPr>
              <a:t>with headings, subheadings, bullet points, and short paragraphs</a:t>
            </a:r>
            <a:r>
              <a:rPr lang="en-US" dirty="0"/>
              <a:t> for better readability. </a:t>
            </a:r>
          </a:p>
          <a:p>
            <a:pPr fontAlgn="ctr"/>
            <a:r>
              <a:rPr lang="en-US" dirty="0"/>
              <a:t>Use visual elements like </a:t>
            </a:r>
            <a:r>
              <a:rPr lang="en-US" dirty="0">
                <a:solidFill>
                  <a:srgbClr val="FF0000"/>
                </a:solidFill>
              </a:rPr>
              <a:t>images and videos </a:t>
            </a:r>
            <a:r>
              <a:rPr lang="en-US" dirty="0"/>
              <a:t>to enhance engagement and make the content more digestible. </a:t>
            </a:r>
          </a:p>
          <a:p>
            <a:r>
              <a:rPr lang="en-US" dirty="0"/>
              <a:t>Ensure your website is </a:t>
            </a:r>
            <a:r>
              <a:rPr lang="en-US" dirty="0">
                <a:solidFill>
                  <a:srgbClr val="FF0000"/>
                </a:solidFill>
              </a:rPr>
              <a:t>mobile-friendly and loads quickly. </a:t>
            </a:r>
          </a:p>
        </p:txBody>
      </p:sp>
    </p:spTree>
    <p:extLst>
      <p:ext uri="{BB962C8B-B14F-4D97-AF65-F5344CB8AC3E}">
        <p14:creationId xmlns:p14="http://schemas.microsoft.com/office/powerpoint/2010/main" val="2631821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92500" lnSpcReduction="10000"/>
          </a:bodyPr>
          <a:lstStyle/>
          <a:p>
            <a:pPr fontAlgn="ctr"/>
            <a:r>
              <a:rPr lang="en-US" b="1" dirty="0"/>
              <a:t>Internal and External Linking: </a:t>
            </a:r>
          </a:p>
          <a:p>
            <a:r>
              <a:rPr lang="en-US" dirty="0"/>
              <a:t>Include relevant internal links to other pages on your website to improve </a:t>
            </a:r>
            <a:r>
              <a:rPr lang="en-US" dirty="0">
                <a:solidFill>
                  <a:srgbClr val="FF0000"/>
                </a:solidFill>
              </a:rPr>
              <a:t>navigation</a:t>
            </a:r>
            <a:r>
              <a:rPr lang="en-US" dirty="0"/>
              <a:t> and user engagement.</a:t>
            </a:r>
          </a:p>
          <a:p>
            <a:r>
              <a:rPr lang="en-US" dirty="0"/>
              <a:t>Consider adding external links to reputable websites to add credibility to your content.</a:t>
            </a:r>
          </a:p>
          <a:p>
            <a:r>
              <a:rPr lang="en-US" b="1" dirty="0" smtClean="0"/>
              <a:t>Monitoring </a:t>
            </a:r>
            <a:r>
              <a:rPr lang="en-US" b="1" dirty="0"/>
              <a:t>and Updating Content:</a:t>
            </a:r>
          </a:p>
          <a:p>
            <a:pPr fontAlgn="ctr"/>
            <a:r>
              <a:rPr lang="en-US" dirty="0"/>
              <a:t>Track your content's performance using </a:t>
            </a:r>
            <a:r>
              <a:rPr lang="en-US" dirty="0">
                <a:solidFill>
                  <a:srgbClr val="FF0000"/>
                </a:solidFill>
              </a:rPr>
              <a:t>analytics tools</a:t>
            </a:r>
            <a:r>
              <a:rPr lang="en-US" dirty="0"/>
              <a:t> to identify areas for improvement. </a:t>
            </a:r>
          </a:p>
          <a:p>
            <a:r>
              <a:rPr lang="en-US" dirty="0"/>
              <a:t>Regularly </a:t>
            </a:r>
            <a:r>
              <a:rPr lang="en-US" dirty="0">
                <a:solidFill>
                  <a:srgbClr val="FF0000"/>
                </a:solidFill>
              </a:rPr>
              <a:t>update your content </a:t>
            </a:r>
            <a:r>
              <a:rPr lang="en-US" dirty="0"/>
              <a:t>to ensure it remains relevant, accurate, and </a:t>
            </a:r>
            <a:r>
              <a:rPr lang="en-US" dirty="0" smtClean="0"/>
              <a:t>engaging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9513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Short-Term Content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Focuses on </a:t>
            </a:r>
            <a:r>
              <a:rPr lang="en-US" dirty="0">
                <a:solidFill>
                  <a:srgbClr val="FF0000"/>
                </a:solidFill>
              </a:rPr>
              <a:t>quick wins</a:t>
            </a:r>
            <a:r>
              <a:rPr lang="en-US" dirty="0"/>
              <a:t>, like </a:t>
            </a:r>
            <a:r>
              <a:rPr lang="en-US" dirty="0">
                <a:solidFill>
                  <a:srgbClr val="FF0000"/>
                </a:solidFill>
              </a:rPr>
              <a:t>seasonal promotions or limited-time offers</a:t>
            </a:r>
            <a:r>
              <a:rPr lang="en-US" dirty="0"/>
              <a:t>, and may include social media posts, short blog posts, or email marketing campaigns</a:t>
            </a:r>
            <a:r>
              <a:rPr lang="en-US" dirty="0" smtClean="0"/>
              <a:t>.</a:t>
            </a:r>
          </a:p>
          <a:p>
            <a:r>
              <a:rPr lang="en-US" dirty="0"/>
              <a:t>These methods aim to </a:t>
            </a:r>
            <a:r>
              <a:rPr lang="en-US" dirty="0">
                <a:solidFill>
                  <a:srgbClr val="FF0000"/>
                </a:solidFill>
              </a:rPr>
              <a:t>drive traffic, boost visibility, and generate revenue within a shorter timeframe</a:t>
            </a:r>
            <a:r>
              <a:rPr lang="en-US" dirty="0"/>
              <a:t>, while also contributing to broader, long-term SEO goals.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439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Example:</a:t>
            </a:r>
            <a:r>
              <a:rPr lang="en-US" dirty="0"/>
              <a:t> </a:t>
            </a:r>
            <a:r>
              <a:rPr lang="en-US" dirty="0" smtClean="0"/>
              <a:t>A </a:t>
            </a:r>
            <a:r>
              <a:rPr lang="en-US" dirty="0"/>
              <a:t>clothing store might use short-term content to promote a summer sale, while simultaneously creating long-term content like a style guide to attract readers and build authority on fashion topics. </a:t>
            </a:r>
            <a:endParaRPr lang="en-US" dirty="0" smtClean="0"/>
          </a:p>
          <a:p>
            <a:pPr fontAlgn="ctr">
              <a:buFont typeface="Wingdings" panose="05000000000000000000" pitchFamily="2" charset="2"/>
              <a:buChar char="Ø"/>
            </a:pPr>
            <a:r>
              <a:rPr lang="en-US" b="1" dirty="0"/>
              <a:t>aid advertising (PPC):</a:t>
            </a:r>
            <a:r>
              <a:rPr lang="en-US" dirty="0"/>
              <a:t> Targeted ads on search engines or social media platforms that appear quickly. </a:t>
            </a:r>
          </a:p>
          <a:p>
            <a:pPr fontAlgn="ctr">
              <a:buFont typeface="Wingdings" panose="05000000000000000000" pitchFamily="2" charset="2"/>
              <a:buChar char="Ø"/>
            </a:pPr>
            <a:r>
              <a:rPr lang="en-US" b="1" dirty="0"/>
              <a:t>Optimized product descriptions:</a:t>
            </a:r>
            <a:r>
              <a:rPr lang="en-US" dirty="0"/>
              <a:t> Well-written, keyword-rich descriptions for e-commerce sites to improve visibility in search results. </a:t>
            </a:r>
          </a:p>
          <a:p>
            <a:pPr fontAlgn="ctr">
              <a:buFont typeface="Wingdings" panose="05000000000000000000" pitchFamily="2" charset="2"/>
              <a:buChar char="Ø"/>
            </a:pPr>
            <a:r>
              <a:rPr lang="en-US" b="1" dirty="0"/>
              <a:t>Social media updates:</a:t>
            </a:r>
            <a:r>
              <a:rPr lang="en-US" dirty="0"/>
              <a:t> Engaging, concise posts on social media platforms like X or LinkedIn to drive traffic and engagement. </a:t>
            </a:r>
          </a:p>
          <a:p>
            <a:pPr fontAlgn="ctr">
              <a:buFont typeface="Wingdings" panose="05000000000000000000" pitchFamily="2" charset="2"/>
              <a:buChar char="Ø"/>
            </a:pPr>
            <a:r>
              <a:rPr lang="en-US" b="1" dirty="0"/>
              <a:t>Short blog posts:</a:t>
            </a:r>
            <a:r>
              <a:rPr lang="en-US" dirty="0"/>
              <a:t> Articles focused on specific, timely topics, often under 1,000 words.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Infographics:</a:t>
            </a:r>
            <a:r>
              <a:rPr lang="en-US" dirty="0"/>
              <a:t> Visually appealing content that quickly conveys information and can be easily shared. </a:t>
            </a:r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918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fontAlgn="ctr"/>
            <a:r>
              <a:rPr lang="en-US" b="1" dirty="0"/>
              <a:t>Goal:</a:t>
            </a:r>
            <a:r>
              <a:rPr lang="en-US" dirty="0"/>
              <a:t> To generate immediate results, such as increased traffic, leads, or sales. </a:t>
            </a:r>
          </a:p>
          <a:p>
            <a:r>
              <a:rPr lang="en-US" b="1" dirty="0"/>
              <a:t>Relationship with long-term SEO:</a:t>
            </a:r>
            <a:r>
              <a:rPr lang="en-US" dirty="0"/>
              <a:t> While short-term tactics aim for quick gains, they can also contribute to long-term SEO success by building brand awareness, driving traffic to the website, and improving user engagement.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4640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terminology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Identify relevant </a:t>
            </a:r>
            <a:r>
              <a:rPr lang="en-US" b="1" dirty="0" smtClean="0"/>
              <a:t>keywords:</a:t>
            </a:r>
            <a:r>
              <a:rPr lang="en-US" dirty="0"/>
              <a:t> </a:t>
            </a:r>
            <a:r>
              <a:rPr lang="en-US" dirty="0" smtClean="0"/>
              <a:t>Conduct </a:t>
            </a:r>
            <a:r>
              <a:rPr lang="en-US" dirty="0"/>
              <a:t>keyword research to understand what users are searching for and incorporate those keywords into your content. </a:t>
            </a:r>
          </a:p>
          <a:p>
            <a:r>
              <a:rPr lang="en-US" b="1" dirty="0"/>
              <a:t>Optimize content for search </a:t>
            </a:r>
            <a:r>
              <a:rPr lang="en-US" b="1" dirty="0" smtClean="0"/>
              <a:t>engines: </a:t>
            </a:r>
            <a:r>
              <a:rPr lang="en-US" dirty="0" smtClean="0"/>
              <a:t>Ensure </a:t>
            </a:r>
            <a:r>
              <a:rPr lang="en-US" dirty="0"/>
              <a:t>your content is well-structured, easy to read, and includes relevant keywords. </a:t>
            </a:r>
          </a:p>
          <a:p>
            <a:r>
              <a:rPr lang="en-US" b="1" dirty="0"/>
              <a:t>Leverage social </a:t>
            </a:r>
            <a:r>
              <a:rPr lang="en-US" b="1" dirty="0" smtClean="0"/>
              <a:t>media:</a:t>
            </a:r>
            <a:r>
              <a:rPr lang="en-US" dirty="0"/>
              <a:t> </a:t>
            </a:r>
            <a:r>
              <a:rPr lang="en-US" dirty="0" smtClean="0"/>
              <a:t>Share </a:t>
            </a:r>
            <a:r>
              <a:rPr lang="en-US" dirty="0"/>
              <a:t>your </a:t>
            </a:r>
            <a:r>
              <a:rPr lang="en-US" dirty="0" smtClean="0"/>
              <a:t>short-term </a:t>
            </a:r>
            <a:r>
              <a:rPr lang="en-US" dirty="0"/>
              <a:t>content on social media platforms to reach a wider audience and drive traffic to your website. </a:t>
            </a:r>
          </a:p>
          <a:p>
            <a:r>
              <a:rPr lang="en-US" b="1" dirty="0"/>
              <a:t>Track your </a:t>
            </a:r>
            <a:r>
              <a:rPr lang="en-US" b="1" dirty="0" smtClean="0"/>
              <a:t>results:</a:t>
            </a:r>
            <a:r>
              <a:rPr lang="en-US" dirty="0"/>
              <a:t> </a:t>
            </a:r>
            <a:r>
              <a:rPr lang="en-US" dirty="0" smtClean="0"/>
              <a:t>Monitor </a:t>
            </a:r>
            <a:r>
              <a:rPr lang="en-US" dirty="0"/>
              <a:t>your website traffic, engagement metrics, and sales to see how your short-term SEO content is performing. </a:t>
            </a:r>
          </a:p>
        </p:txBody>
      </p:sp>
    </p:spTree>
    <p:extLst>
      <p:ext uri="{BB962C8B-B14F-4D97-AF65-F5344CB8AC3E}">
        <p14:creationId xmlns:p14="http://schemas.microsoft.com/office/powerpoint/2010/main" val="48438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Autofit/>
          </a:bodyPr>
          <a:lstStyle/>
          <a:p>
            <a:r>
              <a:rPr lang="en-US" sz="2200" b="1" dirty="0"/>
              <a:t>Quick </a:t>
            </a:r>
            <a:r>
              <a:rPr lang="en-US" sz="2200" b="1" dirty="0" smtClean="0"/>
              <a:t>results:</a:t>
            </a:r>
            <a:r>
              <a:rPr lang="en-US" sz="2200" dirty="0"/>
              <a:t> </a:t>
            </a:r>
            <a:r>
              <a:rPr lang="en-US" sz="2200" dirty="0" smtClean="0"/>
              <a:t>Short-term </a:t>
            </a:r>
            <a:r>
              <a:rPr lang="en-US" sz="2200" dirty="0"/>
              <a:t>strategies can provide faster results than long-term SEO efforts, such as building backlinks. </a:t>
            </a:r>
          </a:p>
          <a:p>
            <a:r>
              <a:rPr lang="en-US" sz="2200" b="1" dirty="0"/>
              <a:t>Targeted </a:t>
            </a:r>
            <a:r>
              <a:rPr lang="en-US" sz="2200" b="1" dirty="0" smtClean="0"/>
              <a:t>traffic:</a:t>
            </a:r>
            <a:r>
              <a:rPr lang="en-US" sz="2200" dirty="0"/>
              <a:t> </a:t>
            </a:r>
            <a:r>
              <a:rPr lang="en-US" sz="2200" dirty="0" smtClean="0"/>
              <a:t>Paid </a:t>
            </a:r>
            <a:r>
              <a:rPr lang="en-US" sz="2200" dirty="0"/>
              <a:t>advertising allows you to target specific demographics and interests, ensuring your content reaches the right audience. </a:t>
            </a:r>
          </a:p>
          <a:p>
            <a:r>
              <a:rPr lang="en-US" sz="2200" b="1" dirty="0"/>
              <a:t>Increased brand </a:t>
            </a:r>
            <a:r>
              <a:rPr lang="en-US" sz="2200" b="1" dirty="0" smtClean="0"/>
              <a:t>visibility:</a:t>
            </a:r>
            <a:r>
              <a:rPr lang="en-US" sz="2200" dirty="0"/>
              <a:t> </a:t>
            </a:r>
            <a:r>
              <a:rPr lang="en-US" sz="2200" dirty="0" smtClean="0"/>
              <a:t>Short-term </a:t>
            </a:r>
            <a:r>
              <a:rPr lang="en-US" sz="2200" dirty="0"/>
              <a:t>strategies can help you get your brand noticed quickly, especially in competitive markets. </a:t>
            </a:r>
          </a:p>
          <a:p>
            <a:r>
              <a:rPr lang="en-US" sz="2200" b="1" dirty="0"/>
              <a:t>Cost-effective (sometimes</a:t>
            </a:r>
            <a:r>
              <a:rPr lang="en-US" sz="2200" b="1" dirty="0" smtClean="0"/>
              <a:t>):</a:t>
            </a:r>
            <a:r>
              <a:rPr lang="en-US" sz="2200" dirty="0"/>
              <a:t> </a:t>
            </a:r>
            <a:r>
              <a:rPr lang="en-US" sz="2200" dirty="0" smtClean="0"/>
              <a:t>While </a:t>
            </a:r>
            <a:r>
              <a:rPr lang="en-US" sz="2200" dirty="0"/>
              <a:t>paid advertising can be costly, other short-term strategies like social media marketing can be relatively inexpensive. </a:t>
            </a:r>
          </a:p>
          <a:p>
            <a:r>
              <a:rPr lang="en-US" sz="2200" b="1" dirty="0"/>
              <a:t>Inform long-term </a:t>
            </a:r>
            <a:r>
              <a:rPr lang="en-US" sz="2200" b="1" dirty="0" smtClean="0"/>
              <a:t>strategy:</a:t>
            </a:r>
            <a:r>
              <a:rPr lang="en-US" sz="2200" dirty="0"/>
              <a:t> </a:t>
            </a:r>
            <a:r>
              <a:rPr lang="en-US" sz="2200" dirty="0" smtClean="0"/>
              <a:t>Data </a:t>
            </a:r>
            <a:r>
              <a:rPr lang="en-US" sz="2200" dirty="0"/>
              <a:t>from short-term campaigns can provide valuable insights for your broader SEO and content strategy. </a:t>
            </a:r>
          </a:p>
        </p:txBody>
      </p:sp>
    </p:spTree>
    <p:extLst>
      <p:ext uri="{BB962C8B-B14F-4D97-AF65-F5344CB8AC3E}">
        <p14:creationId xmlns:p14="http://schemas.microsoft.com/office/powerpoint/2010/main" val="2871959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Long-Term Content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</a:t>
            </a:r>
            <a:r>
              <a:rPr lang="en-US" dirty="0"/>
              <a:t>focuses on creating and distributing valuable, relevant, and engaging content to attract and retain a target audience over an </a:t>
            </a:r>
            <a:r>
              <a:rPr lang="en-US" dirty="0" smtClean="0"/>
              <a:t>extended period.</a:t>
            </a:r>
          </a:p>
          <a:p>
            <a:r>
              <a:rPr lang="en-US" dirty="0"/>
              <a:t>It's a fundamental part of building a strong online presence and driving organic traffic to a website.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992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Define </a:t>
            </a:r>
            <a:r>
              <a:rPr lang="en-US" b="1" dirty="0" smtClean="0"/>
              <a:t>Goals:</a:t>
            </a:r>
            <a:r>
              <a:rPr lang="en-US" dirty="0"/>
              <a:t> </a:t>
            </a:r>
            <a:r>
              <a:rPr lang="en-US" dirty="0" smtClean="0"/>
              <a:t>Determine </a:t>
            </a:r>
            <a:r>
              <a:rPr lang="en-US" dirty="0"/>
              <a:t>what you want to achieve with your content marketing (e.g., increase brand awareness, generate leads, drive sales). </a:t>
            </a:r>
          </a:p>
          <a:p>
            <a:r>
              <a:rPr lang="en-US" b="1" dirty="0"/>
              <a:t>Identify Your </a:t>
            </a:r>
            <a:r>
              <a:rPr lang="en-US" b="1" dirty="0" smtClean="0"/>
              <a:t>Audience:</a:t>
            </a:r>
            <a:r>
              <a:rPr lang="en-US" dirty="0"/>
              <a:t> </a:t>
            </a:r>
            <a:r>
              <a:rPr lang="en-US" dirty="0" smtClean="0"/>
              <a:t>Understand </a:t>
            </a:r>
            <a:r>
              <a:rPr lang="en-US" dirty="0"/>
              <a:t>your target audience's needs, interests, and search behavior. </a:t>
            </a:r>
          </a:p>
          <a:p>
            <a:r>
              <a:rPr lang="en-US" b="1" dirty="0"/>
              <a:t>Keyword </a:t>
            </a:r>
            <a:r>
              <a:rPr lang="en-US" b="1" dirty="0" smtClean="0"/>
              <a:t>Research:</a:t>
            </a:r>
            <a:r>
              <a:rPr lang="en-US" dirty="0"/>
              <a:t> </a:t>
            </a:r>
            <a:r>
              <a:rPr lang="en-US" dirty="0" smtClean="0"/>
              <a:t>Identify </a:t>
            </a:r>
            <a:r>
              <a:rPr lang="en-US" dirty="0"/>
              <a:t>relevant keywords that your audience is searching for and incorporate them naturally into your content. </a:t>
            </a:r>
          </a:p>
          <a:p>
            <a:r>
              <a:rPr lang="en-US" b="1" dirty="0"/>
              <a:t>Content </a:t>
            </a:r>
            <a:r>
              <a:rPr lang="en-US" b="1" dirty="0" smtClean="0"/>
              <a:t>Calendar:</a:t>
            </a:r>
            <a:r>
              <a:rPr lang="en-US" dirty="0"/>
              <a:t> </a:t>
            </a:r>
            <a:r>
              <a:rPr lang="en-US" dirty="0" smtClean="0"/>
              <a:t>Create </a:t>
            </a:r>
            <a:r>
              <a:rPr lang="en-US" dirty="0"/>
              <a:t>a content calendar to plan and schedule content creation and distribution.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6029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Evergreen </a:t>
            </a:r>
            <a:r>
              <a:rPr lang="en-US" b="1" dirty="0" smtClean="0"/>
              <a:t>Content:</a:t>
            </a:r>
            <a:r>
              <a:rPr lang="en-US" dirty="0"/>
              <a:t> </a:t>
            </a:r>
            <a:r>
              <a:rPr lang="en-US" dirty="0" smtClean="0"/>
              <a:t>Focus </a:t>
            </a:r>
            <a:r>
              <a:rPr lang="en-US" dirty="0"/>
              <a:t>on creating content that remains relevant and valuable for a long time, such as how-to guides, tutorials, and in-depth articles. </a:t>
            </a:r>
          </a:p>
          <a:p>
            <a:r>
              <a:rPr lang="en-US" b="1" dirty="0"/>
              <a:t>High-Quality </a:t>
            </a:r>
            <a:r>
              <a:rPr lang="en-US" b="1" dirty="0" smtClean="0"/>
              <a:t>Content:</a:t>
            </a:r>
            <a:r>
              <a:rPr lang="en-US" dirty="0"/>
              <a:t> </a:t>
            </a:r>
            <a:r>
              <a:rPr lang="en-US" dirty="0" smtClean="0"/>
              <a:t>Ensure </a:t>
            </a:r>
            <a:r>
              <a:rPr lang="en-US" dirty="0"/>
              <a:t>your content is well-written, informative, engaging, and addresses the needs of your target audience. </a:t>
            </a:r>
          </a:p>
          <a:p>
            <a:r>
              <a:rPr lang="en-US" b="1" dirty="0"/>
              <a:t>Content </a:t>
            </a:r>
            <a:r>
              <a:rPr lang="en-US" b="1" dirty="0" smtClean="0"/>
              <a:t>Variety:</a:t>
            </a:r>
            <a:r>
              <a:rPr lang="en-US" dirty="0"/>
              <a:t> </a:t>
            </a:r>
            <a:r>
              <a:rPr lang="en-US" dirty="0" smtClean="0"/>
              <a:t>Diversify </a:t>
            </a:r>
            <a:r>
              <a:rPr lang="en-US" dirty="0"/>
              <a:t>your content formats (blog posts, videos, infographics, podcasts, etc.) to cater to different preferences and platforms. </a:t>
            </a:r>
          </a:p>
          <a:p>
            <a:r>
              <a:rPr lang="en-US" b="1" dirty="0"/>
              <a:t>Long-Form </a:t>
            </a:r>
            <a:r>
              <a:rPr lang="en-US" b="1" dirty="0" smtClean="0"/>
              <a:t>Content:</a:t>
            </a:r>
            <a:r>
              <a:rPr lang="en-US" dirty="0"/>
              <a:t> </a:t>
            </a:r>
            <a:r>
              <a:rPr lang="en-US" dirty="0" smtClean="0"/>
              <a:t>Consider </a:t>
            </a:r>
            <a:r>
              <a:rPr lang="en-US" dirty="0"/>
              <a:t>creating in-depth, long-form content that can rank for a wider range of keywords and attract more backlinks. </a:t>
            </a:r>
          </a:p>
          <a:p>
            <a:r>
              <a:rPr lang="en-US" b="1" dirty="0"/>
              <a:t>Optimize for </a:t>
            </a:r>
            <a:r>
              <a:rPr lang="en-US" b="1" dirty="0" smtClean="0"/>
              <a:t>Keywords: </a:t>
            </a:r>
            <a:r>
              <a:rPr lang="en-US" dirty="0" smtClean="0"/>
              <a:t>Incorporate </a:t>
            </a:r>
            <a:r>
              <a:rPr lang="en-US" dirty="0"/>
              <a:t>relevant keywords naturally throughout your content and optimize meta descriptions, image alt text, and other on-page elements. </a:t>
            </a:r>
          </a:p>
        </p:txBody>
      </p:sp>
    </p:spTree>
    <p:extLst>
      <p:ext uri="{BB962C8B-B14F-4D97-AF65-F5344CB8AC3E}">
        <p14:creationId xmlns:p14="http://schemas.microsoft.com/office/powerpoint/2010/main" val="1304919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Website </a:t>
            </a:r>
            <a:r>
              <a:rPr lang="en-US" b="1" dirty="0" smtClean="0"/>
              <a:t>Optimization:</a:t>
            </a:r>
            <a:r>
              <a:rPr lang="en-US" dirty="0"/>
              <a:t> </a:t>
            </a:r>
            <a:r>
              <a:rPr lang="en-US" dirty="0" smtClean="0"/>
              <a:t>Ensure </a:t>
            </a:r>
            <a:r>
              <a:rPr lang="en-US" dirty="0"/>
              <a:t>your website is user-friendly, mobile-friendly, and optimized for search engines. </a:t>
            </a:r>
          </a:p>
          <a:p>
            <a:r>
              <a:rPr lang="en-US" b="1" dirty="0"/>
              <a:t>Social Media </a:t>
            </a:r>
            <a:r>
              <a:rPr lang="en-US" b="1" dirty="0" smtClean="0"/>
              <a:t>Promotion:</a:t>
            </a:r>
            <a:r>
              <a:rPr lang="en-US" dirty="0"/>
              <a:t> </a:t>
            </a:r>
            <a:r>
              <a:rPr lang="en-US" dirty="0" smtClean="0"/>
              <a:t>Share </a:t>
            </a:r>
            <a:r>
              <a:rPr lang="en-US" dirty="0"/>
              <a:t>your content on relevant social media platforms to reach a wider audience. </a:t>
            </a:r>
          </a:p>
          <a:p>
            <a:r>
              <a:rPr lang="en-US" b="1" dirty="0"/>
              <a:t>Link </a:t>
            </a:r>
            <a:r>
              <a:rPr lang="en-US" b="1" dirty="0" smtClean="0"/>
              <a:t>Building:</a:t>
            </a:r>
            <a:r>
              <a:rPr lang="en-US" dirty="0"/>
              <a:t> </a:t>
            </a:r>
            <a:r>
              <a:rPr lang="en-US" dirty="0" smtClean="0"/>
              <a:t>Build </a:t>
            </a:r>
            <a:r>
              <a:rPr lang="en-US" dirty="0"/>
              <a:t>high-quality backlinks from reputable websites to increase your website's authority and ranking. </a:t>
            </a:r>
          </a:p>
          <a:p>
            <a:r>
              <a:rPr lang="en-US" b="1" dirty="0"/>
              <a:t>Content </a:t>
            </a:r>
            <a:r>
              <a:rPr lang="en-US" b="1" dirty="0" smtClean="0"/>
              <a:t>Promotion:</a:t>
            </a:r>
            <a:r>
              <a:rPr lang="en-US" dirty="0"/>
              <a:t> </a:t>
            </a:r>
            <a:r>
              <a:rPr lang="en-US" dirty="0" smtClean="0"/>
              <a:t>Promote </a:t>
            </a:r>
            <a:r>
              <a:rPr lang="en-US" dirty="0"/>
              <a:t>your content through email marketing, paid advertising, and other channels. </a:t>
            </a:r>
          </a:p>
        </p:txBody>
      </p:sp>
    </p:spTree>
    <p:extLst>
      <p:ext uri="{BB962C8B-B14F-4D97-AF65-F5344CB8AC3E}">
        <p14:creationId xmlns:p14="http://schemas.microsoft.com/office/powerpoint/2010/main" val="515942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Track Key </a:t>
            </a:r>
            <a:r>
              <a:rPr lang="en-US" b="1" dirty="0" smtClean="0"/>
              <a:t>Metrics:</a:t>
            </a:r>
            <a:r>
              <a:rPr lang="en-US" dirty="0"/>
              <a:t> </a:t>
            </a:r>
            <a:r>
              <a:rPr lang="en-US" dirty="0" smtClean="0"/>
              <a:t>Monitor </a:t>
            </a:r>
            <a:r>
              <a:rPr lang="en-US" dirty="0"/>
              <a:t>website traffic, keyword rankings, engagement metrics (bounce rate, time on page), and conversions. </a:t>
            </a:r>
          </a:p>
          <a:p>
            <a:r>
              <a:rPr lang="en-US" b="1" dirty="0"/>
              <a:t>Analyze </a:t>
            </a:r>
            <a:r>
              <a:rPr lang="en-US" b="1" dirty="0" smtClean="0"/>
              <a:t>Results:</a:t>
            </a:r>
            <a:r>
              <a:rPr lang="en-US" dirty="0"/>
              <a:t> </a:t>
            </a:r>
            <a:r>
              <a:rPr lang="en-US" dirty="0" smtClean="0"/>
              <a:t>Identify </a:t>
            </a:r>
            <a:r>
              <a:rPr lang="en-US" dirty="0"/>
              <a:t>what's working and what's not, and adjust your strategy accordingly. </a:t>
            </a:r>
          </a:p>
          <a:p>
            <a:r>
              <a:rPr lang="en-US" b="1" dirty="0"/>
              <a:t>Content </a:t>
            </a:r>
            <a:r>
              <a:rPr lang="en-US" b="1" dirty="0" smtClean="0"/>
              <a:t>Refreshing:</a:t>
            </a:r>
            <a:r>
              <a:rPr lang="en-US" dirty="0"/>
              <a:t> </a:t>
            </a:r>
            <a:r>
              <a:rPr lang="en-US" dirty="0" smtClean="0"/>
              <a:t>Regularly </a:t>
            </a:r>
            <a:r>
              <a:rPr lang="en-US" dirty="0"/>
              <a:t>update and refresh your content to keep it relevant and engaging, and to signal to search engines that your site is active and authoritative. </a:t>
            </a:r>
          </a:p>
        </p:txBody>
      </p:sp>
    </p:spTree>
    <p:extLst>
      <p:ext uri="{BB962C8B-B14F-4D97-AF65-F5344CB8AC3E}">
        <p14:creationId xmlns:p14="http://schemas.microsoft.com/office/powerpoint/2010/main" val="2022534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Sustainable </a:t>
            </a:r>
            <a:r>
              <a:rPr lang="en-US" b="1" dirty="0" smtClean="0"/>
              <a:t>Traffic:</a:t>
            </a:r>
            <a:r>
              <a:rPr lang="en-US" dirty="0"/>
              <a:t> </a:t>
            </a:r>
            <a:r>
              <a:rPr lang="en-US" dirty="0" smtClean="0"/>
              <a:t>Long-term </a:t>
            </a:r>
            <a:r>
              <a:rPr lang="en-US" dirty="0"/>
              <a:t>SEO focuses on attracting organic traffic that is consistent and sustainable, rather than relying on short-term trends or tactics. </a:t>
            </a:r>
          </a:p>
          <a:p>
            <a:r>
              <a:rPr lang="en-US" b="1" dirty="0"/>
              <a:t>Increased </a:t>
            </a:r>
            <a:r>
              <a:rPr lang="en-US" b="1" dirty="0" smtClean="0"/>
              <a:t>Authority:</a:t>
            </a:r>
            <a:r>
              <a:rPr lang="en-US" dirty="0"/>
              <a:t> </a:t>
            </a:r>
            <a:r>
              <a:rPr lang="en-US" dirty="0" smtClean="0"/>
              <a:t>By </a:t>
            </a:r>
            <a:r>
              <a:rPr lang="en-US" dirty="0"/>
              <a:t>consistently producing high-quality content, you can establish yourself as an authority in your niche, which can lead to higher rankings and more traffic. </a:t>
            </a:r>
          </a:p>
          <a:p>
            <a:r>
              <a:rPr lang="en-US" b="1" dirty="0" smtClean="0"/>
              <a:t>Cost-Effective:</a:t>
            </a:r>
            <a:r>
              <a:rPr lang="en-US" dirty="0"/>
              <a:t> </a:t>
            </a:r>
            <a:r>
              <a:rPr lang="en-US" dirty="0" smtClean="0"/>
              <a:t>While </a:t>
            </a:r>
            <a:r>
              <a:rPr lang="en-US" dirty="0"/>
              <a:t>it requires patience and consistent effort, long-term SEO can be a highly cost-effective marketing strategy, especially when compared to paid advertising. </a:t>
            </a:r>
          </a:p>
          <a:p>
            <a:r>
              <a:rPr lang="en-US" b="1" dirty="0"/>
              <a:t>Improved User </a:t>
            </a:r>
            <a:r>
              <a:rPr lang="en-US" b="1" dirty="0" smtClean="0"/>
              <a:t>Experience:</a:t>
            </a:r>
            <a:r>
              <a:rPr lang="en-US" dirty="0"/>
              <a:t> </a:t>
            </a:r>
            <a:r>
              <a:rPr lang="en-US" dirty="0" smtClean="0"/>
              <a:t>Focusing </a:t>
            </a:r>
            <a:r>
              <a:rPr lang="en-US" dirty="0"/>
              <a:t>on creating valuable content and optimizing your website for user experience can lead to higher engagement and conversions. </a:t>
            </a:r>
          </a:p>
        </p:txBody>
      </p:sp>
    </p:spTree>
    <p:extLst>
      <p:ext uri="{BB962C8B-B14F-4D97-AF65-F5344CB8AC3E}">
        <p14:creationId xmlns:p14="http://schemas.microsoft.com/office/powerpoint/2010/main" val="1295713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r>
              <a:rPr lang="en-US" dirty="0" smtClean="0"/>
              <a:t>It </a:t>
            </a:r>
            <a:r>
              <a:rPr lang="en-US" dirty="0"/>
              <a:t>refers to the strategic equilibrium between optimizing website content for search engines and ensuring it provides value and a positive user </a:t>
            </a:r>
            <a:r>
              <a:rPr lang="en-US" dirty="0" smtClean="0"/>
              <a:t>experience.</a:t>
            </a:r>
          </a:p>
          <a:p>
            <a:r>
              <a:rPr lang="en-US" dirty="0"/>
              <a:t>This means creating content that is both informative and engaging while also being easily discoverable by search engines through proper keyword usage, structure, and other technical aspects.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8923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terminology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300" b="1" dirty="0"/>
              <a:t>Quality vs. </a:t>
            </a:r>
            <a:r>
              <a:rPr lang="en-US" sz="2300" b="1" dirty="0" smtClean="0"/>
              <a:t>Quantity:</a:t>
            </a:r>
            <a:r>
              <a:rPr lang="en-US" sz="2300" dirty="0"/>
              <a:t> </a:t>
            </a:r>
            <a:r>
              <a:rPr lang="en-US" sz="2300" dirty="0" smtClean="0"/>
              <a:t>Publishing </a:t>
            </a:r>
            <a:r>
              <a:rPr lang="en-US" sz="2300" dirty="0"/>
              <a:t>frequently is important, but it should not come at the expense of quality. Focus on creating in-depth, informative content that genuinely helps the target audience. </a:t>
            </a:r>
          </a:p>
          <a:p>
            <a:r>
              <a:rPr lang="en-US" sz="2300" b="1" dirty="0"/>
              <a:t>Relevance and User </a:t>
            </a:r>
            <a:r>
              <a:rPr lang="en-US" sz="2300" b="1" dirty="0" smtClean="0"/>
              <a:t>Intent:</a:t>
            </a:r>
            <a:r>
              <a:rPr lang="en-US" sz="2300" dirty="0"/>
              <a:t> </a:t>
            </a:r>
            <a:r>
              <a:rPr lang="en-US" sz="2300" dirty="0" smtClean="0"/>
              <a:t>Content </a:t>
            </a:r>
            <a:r>
              <a:rPr lang="en-US" sz="2300" dirty="0"/>
              <a:t>should align with what users are searching for and address their specific needs and queries. </a:t>
            </a:r>
          </a:p>
          <a:p>
            <a:r>
              <a:rPr lang="en-US" sz="2300" b="1" dirty="0"/>
              <a:t>Keyword </a:t>
            </a:r>
            <a:r>
              <a:rPr lang="en-US" sz="2300" b="1" dirty="0" smtClean="0"/>
              <a:t>Optimization:</a:t>
            </a:r>
            <a:r>
              <a:rPr lang="en-US" sz="2300" dirty="0"/>
              <a:t> </a:t>
            </a:r>
            <a:r>
              <a:rPr lang="en-US" sz="2300" dirty="0" smtClean="0"/>
              <a:t>While </a:t>
            </a:r>
            <a:r>
              <a:rPr lang="en-US" sz="2300" dirty="0"/>
              <a:t>keywords are crucial, avoid keyword stuffing. Integrate them naturally into the content and focus on creating a seamless reading experience. </a:t>
            </a:r>
          </a:p>
          <a:p>
            <a:r>
              <a:rPr lang="en-US" sz="2300" b="1" dirty="0"/>
              <a:t>User Experience (UX</a:t>
            </a:r>
            <a:r>
              <a:rPr lang="en-US" sz="2300" b="1" dirty="0" smtClean="0"/>
              <a:t>):</a:t>
            </a:r>
            <a:r>
              <a:rPr lang="en-US" sz="2300" dirty="0"/>
              <a:t> </a:t>
            </a:r>
            <a:r>
              <a:rPr lang="en-US" sz="2300" dirty="0" smtClean="0"/>
              <a:t>Ensure </a:t>
            </a:r>
            <a:r>
              <a:rPr lang="en-US" sz="2300" dirty="0"/>
              <a:t>content is easily readable, well-structured, and accessible on all devices. This includes proper formatting, use of headings, and multimedia elements. </a:t>
            </a:r>
          </a:p>
        </p:txBody>
      </p:sp>
    </p:spTree>
    <p:extLst>
      <p:ext uri="{BB962C8B-B14F-4D97-AF65-F5344CB8AC3E}">
        <p14:creationId xmlns:p14="http://schemas.microsoft.com/office/powerpoint/2010/main" val="19737410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Technical </a:t>
            </a:r>
            <a:r>
              <a:rPr lang="en-US" b="1" dirty="0" smtClean="0"/>
              <a:t>SEO:</a:t>
            </a:r>
            <a:r>
              <a:rPr lang="en-US" dirty="0"/>
              <a:t> </a:t>
            </a:r>
            <a:r>
              <a:rPr lang="en-US" dirty="0" smtClean="0"/>
              <a:t>Optimize </a:t>
            </a:r>
            <a:r>
              <a:rPr lang="en-US" dirty="0"/>
              <a:t>elements like meta descriptions, title tags, and image alt text to help search engines understand the content. </a:t>
            </a:r>
          </a:p>
          <a:p>
            <a:r>
              <a:rPr lang="en-US" b="1" dirty="0"/>
              <a:t>Content Promotion and </a:t>
            </a:r>
            <a:r>
              <a:rPr lang="en-US" b="1" dirty="0" smtClean="0"/>
              <a:t>Distribution:</a:t>
            </a:r>
            <a:r>
              <a:rPr lang="en-US" dirty="0"/>
              <a:t> </a:t>
            </a:r>
            <a:r>
              <a:rPr lang="en-US" dirty="0" smtClean="0"/>
              <a:t>Promote </a:t>
            </a:r>
            <a:r>
              <a:rPr lang="en-US" dirty="0"/>
              <a:t>content across various channels to reach a wider audience and build backlinks. </a:t>
            </a:r>
          </a:p>
          <a:p>
            <a:r>
              <a:rPr lang="en-US" b="1" dirty="0"/>
              <a:t>Balancing On-Page and Off-Page </a:t>
            </a:r>
            <a:r>
              <a:rPr lang="en-US" b="1" dirty="0" smtClean="0"/>
              <a:t>SEO:</a:t>
            </a:r>
            <a:r>
              <a:rPr lang="en-US" dirty="0"/>
              <a:t> </a:t>
            </a:r>
            <a:r>
              <a:rPr lang="en-US" dirty="0" smtClean="0"/>
              <a:t>Optimize </a:t>
            </a:r>
            <a:r>
              <a:rPr lang="en-US" dirty="0"/>
              <a:t>content and technical elements of the website (on-page) while also building backlinks and mentions from other reputable websites (off-page). </a:t>
            </a:r>
          </a:p>
          <a:p>
            <a:r>
              <a:rPr lang="en-US" b="1" dirty="0"/>
              <a:t>Continuous </a:t>
            </a:r>
            <a:r>
              <a:rPr lang="en-US" b="1" dirty="0" smtClean="0"/>
              <a:t>Improvement:</a:t>
            </a:r>
            <a:r>
              <a:rPr lang="en-US" dirty="0"/>
              <a:t> </a:t>
            </a:r>
            <a:r>
              <a:rPr lang="en-US" dirty="0" smtClean="0"/>
              <a:t>Regularly </a:t>
            </a:r>
            <a:r>
              <a:rPr lang="en-US" dirty="0"/>
              <a:t>update and improve content based on performance data and user feedback. </a:t>
            </a:r>
          </a:p>
        </p:txBody>
      </p:sp>
    </p:spTree>
    <p:extLst>
      <p:ext uri="{BB962C8B-B14F-4D97-AF65-F5344CB8AC3E}">
        <p14:creationId xmlns:p14="http://schemas.microsoft.com/office/powerpoint/2010/main" val="2115375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Creation Motives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Brand Awareness &amp; </a:t>
            </a:r>
            <a:r>
              <a:rPr lang="en-US" b="1" dirty="0" smtClean="0"/>
              <a:t>Visibility:</a:t>
            </a:r>
            <a:r>
              <a:rPr lang="en-US" dirty="0"/>
              <a:t> </a:t>
            </a:r>
            <a:r>
              <a:rPr lang="en-US" dirty="0" smtClean="0"/>
              <a:t>Content </a:t>
            </a:r>
            <a:r>
              <a:rPr lang="en-US" dirty="0"/>
              <a:t>helps build brand authority and trust, increasing visibility and recognition.</a:t>
            </a:r>
          </a:p>
          <a:p>
            <a:r>
              <a:rPr lang="en-US" b="1" dirty="0"/>
              <a:t>Supporting the Customer </a:t>
            </a:r>
            <a:r>
              <a:rPr lang="en-US" b="1" dirty="0" smtClean="0"/>
              <a:t>Journey:</a:t>
            </a:r>
            <a:r>
              <a:rPr lang="en-US" dirty="0"/>
              <a:t> </a:t>
            </a:r>
            <a:r>
              <a:rPr lang="en-US" dirty="0" smtClean="0"/>
              <a:t>Content </a:t>
            </a:r>
            <a:r>
              <a:rPr lang="en-US" dirty="0"/>
              <a:t>can guide users through different stages of the customer journey, from awareness to purchase.</a:t>
            </a:r>
          </a:p>
          <a:p>
            <a:r>
              <a:rPr lang="en-US" b="1" dirty="0"/>
              <a:t>Boosting Inbound </a:t>
            </a:r>
            <a:r>
              <a:rPr lang="en-US" b="1" dirty="0" smtClean="0"/>
              <a:t>Traffic:</a:t>
            </a:r>
            <a:r>
              <a:rPr lang="en-US" dirty="0"/>
              <a:t> </a:t>
            </a:r>
            <a:r>
              <a:rPr lang="en-US" dirty="0" smtClean="0"/>
              <a:t>High-quality </a:t>
            </a:r>
            <a:r>
              <a:rPr lang="en-US" dirty="0"/>
              <a:t>content attracts organic traffic to a website.</a:t>
            </a:r>
          </a:p>
          <a:p>
            <a:r>
              <a:rPr lang="en-US" b="1" dirty="0"/>
              <a:t>Improving Conversion </a:t>
            </a:r>
            <a:r>
              <a:rPr lang="en-US" b="1" dirty="0" smtClean="0"/>
              <a:t>Rates:</a:t>
            </a:r>
            <a:r>
              <a:rPr lang="en-US" dirty="0"/>
              <a:t> </a:t>
            </a:r>
            <a:r>
              <a:rPr lang="en-US" dirty="0" smtClean="0"/>
              <a:t>Content </a:t>
            </a:r>
            <a:r>
              <a:rPr lang="en-US" dirty="0"/>
              <a:t>can be tailored to encourage conversions, such as signing up for a newsletter or making a purchase.</a:t>
            </a:r>
          </a:p>
          <a:p>
            <a:r>
              <a:rPr lang="en-US" b="1" dirty="0"/>
              <a:t>Building </a:t>
            </a:r>
            <a:r>
              <a:rPr lang="en-US" b="1" dirty="0" smtClean="0"/>
              <a:t>Authority:</a:t>
            </a:r>
            <a:r>
              <a:rPr lang="en-US" dirty="0"/>
              <a:t> </a:t>
            </a:r>
            <a:r>
              <a:rPr lang="en-US" dirty="0" smtClean="0"/>
              <a:t>Content </a:t>
            </a:r>
            <a:r>
              <a:rPr lang="en-US" dirty="0"/>
              <a:t>focused on specific topics can establish a website as a trusted source of information. </a:t>
            </a:r>
          </a:p>
        </p:txBody>
      </p:sp>
    </p:spTree>
    <p:extLst>
      <p:ext uri="{BB962C8B-B14F-4D97-AF65-F5344CB8AC3E}">
        <p14:creationId xmlns:p14="http://schemas.microsoft.com/office/powerpoint/2010/main" val="3087438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 Duplication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It refers </a:t>
            </a:r>
            <a:r>
              <a:rPr lang="en-US" dirty="0"/>
              <a:t>to identical or near-identical content appearing on multiple URLs, which can negatively impact a website's search engine rankings and overall </a:t>
            </a:r>
            <a:r>
              <a:rPr lang="en-US" dirty="0" smtClean="0"/>
              <a:t>performance.</a:t>
            </a:r>
          </a:p>
          <a:p>
            <a:pPr fontAlgn="ctr"/>
            <a:r>
              <a:rPr lang="en-US" dirty="0"/>
              <a:t>This issue can arise both </a:t>
            </a:r>
            <a:r>
              <a:rPr lang="en-US" dirty="0" smtClean="0"/>
              <a:t>on page </a:t>
            </a:r>
            <a:r>
              <a:rPr lang="en-US" dirty="0"/>
              <a:t>(within the same website) and </a:t>
            </a:r>
            <a:r>
              <a:rPr lang="en-US" dirty="0" smtClean="0"/>
              <a:t>off page </a:t>
            </a:r>
            <a:r>
              <a:rPr lang="en-US" dirty="0"/>
              <a:t>(with other websites). </a:t>
            </a:r>
            <a:endParaRPr lang="en-US" dirty="0" smtClean="0"/>
          </a:p>
          <a:p>
            <a:pPr fontAlgn="ctr"/>
            <a:r>
              <a:rPr lang="en-US" dirty="0" smtClean="0"/>
              <a:t>Addressing </a:t>
            </a:r>
            <a:r>
              <a:rPr lang="en-US" dirty="0"/>
              <a:t>duplicate content is crucial for maintaining a strong online presence and maximizing SEO effectiveness. 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752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Search Engine Rankings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300" b="1" dirty="0"/>
              <a:t>Confusion for Search </a:t>
            </a:r>
            <a:r>
              <a:rPr lang="en-US" sz="2300" b="1" dirty="0" smtClean="0"/>
              <a:t>Engines:</a:t>
            </a:r>
            <a:r>
              <a:rPr lang="en-US" sz="2300" dirty="0"/>
              <a:t> </a:t>
            </a:r>
            <a:r>
              <a:rPr lang="en-US" sz="2300" dirty="0" smtClean="0"/>
              <a:t>When </a:t>
            </a:r>
            <a:r>
              <a:rPr lang="en-US" sz="2300" dirty="0"/>
              <a:t>search engines encounter duplicate content, they struggle to determine which version is the most relevant and authoritative, leading to inconsistent indexing and potentially lower rankings for all versions. </a:t>
            </a:r>
          </a:p>
          <a:p>
            <a:r>
              <a:rPr lang="en-US" sz="2300" b="1" dirty="0"/>
              <a:t>Diluted Link </a:t>
            </a:r>
            <a:r>
              <a:rPr lang="en-US" sz="2300" b="1" dirty="0" smtClean="0"/>
              <a:t>Equity:</a:t>
            </a:r>
            <a:r>
              <a:rPr lang="en-US" sz="2300" dirty="0"/>
              <a:t> </a:t>
            </a:r>
            <a:r>
              <a:rPr lang="en-US" sz="2300" dirty="0" smtClean="0"/>
              <a:t>If </a:t>
            </a:r>
            <a:r>
              <a:rPr lang="en-US" sz="2300" dirty="0"/>
              <a:t>backlinks are spread across multiple duplicate pages, the overall link juice (authority) is diluted, weakening the impact of each backlink. </a:t>
            </a:r>
          </a:p>
          <a:p>
            <a:r>
              <a:rPr lang="en-US" sz="2300" b="1" dirty="0"/>
              <a:t>Reduced </a:t>
            </a:r>
            <a:r>
              <a:rPr lang="en-US" sz="2300" b="1" dirty="0" smtClean="0"/>
              <a:t>Visibility:</a:t>
            </a:r>
            <a:r>
              <a:rPr lang="en-US" sz="2300" dirty="0"/>
              <a:t> </a:t>
            </a:r>
            <a:r>
              <a:rPr lang="en-US" sz="2300" dirty="0" smtClean="0"/>
              <a:t>Search </a:t>
            </a:r>
            <a:r>
              <a:rPr lang="en-US" sz="2300" dirty="0"/>
              <a:t>engines may choose to display only one version of the content in search results, potentially burying the original content or making it less visible. </a:t>
            </a:r>
          </a:p>
          <a:p>
            <a:r>
              <a:rPr lang="en-US" sz="2300" b="1" dirty="0"/>
              <a:t>Potential for </a:t>
            </a:r>
            <a:r>
              <a:rPr lang="en-US" sz="2300" b="1" dirty="0" smtClean="0"/>
              <a:t>Penalties:</a:t>
            </a:r>
            <a:r>
              <a:rPr lang="en-US" sz="2300" dirty="0"/>
              <a:t> </a:t>
            </a:r>
            <a:r>
              <a:rPr lang="en-US" sz="2300" dirty="0" smtClean="0"/>
              <a:t>While </a:t>
            </a:r>
            <a:r>
              <a:rPr lang="en-US" sz="2300" dirty="0"/>
              <a:t>manual penalties for duplicate content are rare, repeated attempts to manipulate search results with duplicate content can trigger penalties. </a:t>
            </a:r>
          </a:p>
        </p:txBody>
      </p:sp>
    </p:spTree>
    <p:extLst>
      <p:ext uri="{BB962C8B-B14F-4D97-AF65-F5344CB8AC3E}">
        <p14:creationId xmlns:p14="http://schemas.microsoft.com/office/powerpoint/2010/main" val="30961799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Duplicate Content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URL </a:t>
            </a:r>
            <a:r>
              <a:rPr lang="en-US" b="1" dirty="0" smtClean="0"/>
              <a:t>Variations:</a:t>
            </a:r>
            <a:r>
              <a:rPr lang="en-US" dirty="0"/>
              <a:t> </a:t>
            </a:r>
            <a:r>
              <a:rPr lang="en-US" dirty="0" smtClean="0"/>
              <a:t>Different </a:t>
            </a:r>
            <a:r>
              <a:rPr lang="en-US" dirty="0"/>
              <a:t>URLs pointing to the same content (e.g., with or without trailing slashes, www or non-www versions) can create duplicate content issues. </a:t>
            </a:r>
          </a:p>
          <a:p>
            <a:r>
              <a:rPr lang="en-US" b="1" dirty="0"/>
              <a:t>Content </a:t>
            </a:r>
            <a:r>
              <a:rPr lang="en-US" b="1" dirty="0" smtClean="0"/>
              <a:t>Syndication:</a:t>
            </a:r>
            <a:r>
              <a:rPr lang="en-US" dirty="0"/>
              <a:t> </a:t>
            </a:r>
            <a:r>
              <a:rPr lang="en-US" dirty="0" smtClean="0"/>
              <a:t>Sharing </a:t>
            </a:r>
            <a:r>
              <a:rPr lang="en-US" dirty="0"/>
              <a:t>content across multiple websites (with permission) can also lead to duplication if not handled carefully. </a:t>
            </a:r>
          </a:p>
          <a:p>
            <a:r>
              <a:rPr lang="en-US" b="1" dirty="0"/>
              <a:t>Printer-Friendly </a:t>
            </a:r>
            <a:r>
              <a:rPr lang="en-US" b="1" dirty="0" smtClean="0"/>
              <a:t>Pages:</a:t>
            </a:r>
            <a:r>
              <a:rPr lang="en-US" dirty="0"/>
              <a:t> </a:t>
            </a:r>
            <a:r>
              <a:rPr lang="en-US" dirty="0" smtClean="0"/>
              <a:t>Creating </a:t>
            </a:r>
            <a:r>
              <a:rPr lang="en-US" dirty="0"/>
              <a:t>separate printer-friendly versions of pages can result in duplicate content if not properly managed. </a:t>
            </a:r>
          </a:p>
          <a:p>
            <a:r>
              <a:rPr lang="en-US" b="1" dirty="0"/>
              <a:t>CMS </a:t>
            </a:r>
            <a:r>
              <a:rPr lang="en-US" b="1" dirty="0" smtClean="0"/>
              <a:t>Issues:</a:t>
            </a:r>
            <a:r>
              <a:rPr lang="en-US" dirty="0"/>
              <a:t> </a:t>
            </a:r>
            <a:r>
              <a:rPr lang="en-US" dirty="0" smtClean="0"/>
              <a:t>Some </a:t>
            </a:r>
            <a:r>
              <a:rPr lang="en-US" dirty="0"/>
              <a:t>content management systems (CMS) may unintentionally create duplicate content due to technical glitches or improper configuration. </a:t>
            </a:r>
          </a:p>
        </p:txBody>
      </p:sp>
    </p:spTree>
    <p:extLst>
      <p:ext uri="{BB962C8B-B14F-4D97-AF65-F5344CB8AC3E}">
        <p14:creationId xmlns:p14="http://schemas.microsoft.com/office/powerpoint/2010/main" val="36763843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Fix Duplicate Content Issues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ctr"/>
            <a:r>
              <a:rPr lang="en-US" u="sng" dirty="0">
                <a:hlinkClick r:id="rId2"/>
              </a:rPr>
              <a:t>Canonical Tags</a:t>
            </a:r>
            <a:r>
              <a:rPr lang="en-US" b="1" dirty="0"/>
              <a:t>:</a:t>
            </a:r>
            <a:r>
              <a:rPr lang="en-US" dirty="0"/>
              <a:t> Use canonical tags to specify the preferred version of a page when multiple versions exist. </a:t>
            </a:r>
          </a:p>
          <a:p>
            <a:pPr fontAlgn="ctr"/>
            <a:r>
              <a:rPr lang="en-US" b="1" dirty="0"/>
              <a:t>301 Redirects:</a:t>
            </a:r>
            <a:r>
              <a:rPr lang="en-US" dirty="0"/>
              <a:t> Use 301 redirects to permanently redirect duplicate URLs to the preferred version. </a:t>
            </a:r>
          </a:p>
          <a:p>
            <a:pPr fontAlgn="ctr"/>
            <a:r>
              <a:rPr lang="en-US" dirty="0">
                <a:hlinkClick r:id="rId3"/>
              </a:rPr>
              <a:t>XML Sitemap</a:t>
            </a:r>
            <a:r>
              <a:rPr lang="en-US" b="1" dirty="0"/>
              <a:t> Updates:</a:t>
            </a:r>
            <a:r>
              <a:rPr lang="en-US" dirty="0"/>
              <a:t> Ensure your XML sitemap only includes the canonical URLs. </a:t>
            </a:r>
          </a:p>
          <a:p>
            <a:r>
              <a:rPr lang="en-US" b="1" dirty="0"/>
              <a:t>URL Rewrites:</a:t>
            </a:r>
            <a:r>
              <a:rPr lang="en-US" dirty="0"/>
              <a:t> Implement URL rewrites to create cleaner, more consistent URLs. </a:t>
            </a:r>
          </a:p>
        </p:txBody>
      </p:sp>
    </p:spTree>
    <p:extLst>
      <p:ext uri="{BB962C8B-B14F-4D97-AF65-F5344CB8AC3E}">
        <p14:creationId xmlns:p14="http://schemas.microsoft.com/office/powerpoint/2010/main" val="35771069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8229600" cy="5592763"/>
          </a:xfrm>
        </p:spPr>
        <p:txBody>
          <a:bodyPr>
            <a:normAutofit fontScale="85000" lnSpcReduction="10000"/>
          </a:bodyPr>
          <a:lstStyle/>
          <a:p>
            <a:pPr fontAlgn="ctr"/>
            <a:r>
              <a:rPr lang="en-IN" b="1" dirty="0"/>
              <a:t>Content Management System (</a:t>
            </a:r>
            <a:r>
              <a:rPr lang="en-IN" b="1" dirty="0" smtClean="0"/>
              <a:t>CMS) Configuration</a:t>
            </a:r>
            <a:r>
              <a:rPr lang="en-IN" b="1" dirty="0"/>
              <a:t>:</a:t>
            </a:r>
            <a:r>
              <a:rPr lang="en-IN" dirty="0"/>
              <a:t> Configure your CMS to avoid generating duplicate content in the first place. </a:t>
            </a:r>
          </a:p>
          <a:p>
            <a:pPr fontAlgn="ctr"/>
            <a:r>
              <a:rPr lang="en-IN" b="1" dirty="0"/>
              <a:t>Content Syndication Strategy:</a:t>
            </a:r>
            <a:r>
              <a:rPr lang="en-IN" dirty="0"/>
              <a:t> Develop a clear content syndication strategy that minimizes duplication. </a:t>
            </a:r>
          </a:p>
          <a:p>
            <a:pPr fontAlgn="ctr"/>
            <a:r>
              <a:rPr lang="en-IN" b="1" dirty="0"/>
              <a:t>Internal Linking Optimization:</a:t>
            </a:r>
            <a:r>
              <a:rPr lang="en-IN" dirty="0"/>
              <a:t> Ensure that internal links point to the canonical versions of pages. </a:t>
            </a:r>
          </a:p>
          <a:p>
            <a:pPr fontAlgn="ctr"/>
            <a:r>
              <a:rPr lang="en-IN" b="1" dirty="0"/>
              <a:t>Duplicate Content Audits:</a:t>
            </a:r>
            <a:r>
              <a:rPr lang="en-IN" dirty="0"/>
              <a:t> Regularly audit your website for duplicate content using tools like Google Search Console or specialized SEO tools. </a:t>
            </a:r>
          </a:p>
          <a:p>
            <a:r>
              <a:rPr lang="en-IN" b="1" dirty="0"/>
              <a:t>Create Unique Content:</a:t>
            </a:r>
            <a:r>
              <a:rPr lang="en-IN" dirty="0"/>
              <a:t> Prioritize creating unique and valuable content for each page to avoid duplication. </a:t>
            </a:r>
          </a:p>
        </p:txBody>
      </p:sp>
    </p:spTree>
    <p:extLst>
      <p:ext uri="{BB962C8B-B14F-4D97-AF65-F5344CB8AC3E}">
        <p14:creationId xmlns:p14="http://schemas.microsoft.com/office/powerpoint/2010/main" val="7471849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Importance of Addressing Duplicate </a:t>
            </a:r>
            <a:r>
              <a:rPr lang="en-US" dirty="0" smtClean="0"/>
              <a:t>Content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Improved </a:t>
            </a:r>
            <a:r>
              <a:rPr lang="en-US" b="1"/>
              <a:t>User </a:t>
            </a:r>
            <a:r>
              <a:rPr lang="en-US" b="1" smtClean="0"/>
              <a:t>Experience:</a:t>
            </a:r>
            <a:r>
              <a:rPr lang="en-US" dirty="0"/>
              <a:t> </a:t>
            </a:r>
            <a:r>
              <a:rPr lang="en-US" smtClean="0"/>
              <a:t>By </a:t>
            </a:r>
            <a:r>
              <a:rPr lang="en-US" dirty="0"/>
              <a:t>resolving duplicate content issues, you ensure that users find the information they need without encountering repetitive content. </a:t>
            </a:r>
          </a:p>
          <a:p>
            <a:r>
              <a:rPr lang="en-US" b="1" dirty="0"/>
              <a:t>Enhanced Brand </a:t>
            </a:r>
            <a:r>
              <a:rPr lang="en-US" b="1" dirty="0" smtClean="0"/>
              <a:t>Authority:</a:t>
            </a:r>
            <a:r>
              <a:rPr lang="en-US" dirty="0"/>
              <a:t> </a:t>
            </a:r>
            <a:r>
              <a:rPr lang="en-US" dirty="0" smtClean="0"/>
              <a:t>Consistent</a:t>
            </a:r>
            <a:r>
              <a:rPr lang="en-US" dirty="0"/>
              <a:t>, unique content helps establish your brand as a reliable and authoritative source of information. </a:t>
            </a:r>
          </a:p>
          <a:p>
            <a:r>
              <a:rPr lang="en-US" b="1" dirty="0"/>
              <a:t>Increased Organic </a:t>
            </a:r>
            <a:r>
              <a:rPr lang="en-US" b="1" dirty="0" smtClean="0"/>
              <a:t>Traffic:</a:t>
            </a:r>
            <a:r>
              <a:rPr lang="en-US" dirty="0"/>
              <a:t> </a:t>
            </a:r>
            <a:r>
              <a:rPr lang="en-US" dirty="0" smtClean="0"/>
              <a:t>By </a:t>
            </a:r>
            <a:r>
              <a:rPr lang="en-US" dirty="0"/>
              <a:t>improving your website's SEO, you can attract more organic traffic and improve your overall online visibility. </a:t>
            </a:r>
          </a:p>
        </p:txBody>
      </p:sp>
    </p:spTree>
    <p:extLst>
      <p:ext uri="{BB962C8B-B14F-4D97-AF65-F5344CB8AC3E}">
        <p14:creationId xmlns:p14="http://schemas.microsoft.com/office/powerpoint/2010/main" val="2671691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1307</Words>
  <Application>Microsoft Office PowerPoint</Application>
  <PresentationFormat>On-screen Show (4:3)</PresentationFormat>
  <Paragraphs>215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CH 02 Search Engine Optimization</vt:lpstr>
      <vt:lpstr>Keywords</vt:lpstr>
      <vt:lpstr>PowerPoint Presentation</vt:lpstr>
      <vt:lpstr>PowerPoint Presentation</vt:lpstr>
      <vt:lpstr>PowerPoint Presentation</vt:lpstr>
      <vt:lpstr>PowerPoint Presentation</vt:lpstr>
      <vt:lpstr>Meta Tag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 Optimization</vt:lpstr>
      <vt:lpstr>Key terminology</vt:lpstr>
      <vt:lpstr>PowerPoint Presentation</vt:lpstr>
      <vt:lpstr>PowerPoint Presentation</vt:lpstr>
      <vt:lpstr>PowerPoint Presentation</vt:lpstr>
      <vt:lpstr>PowerPoint Presentation</vt:lpstr>
      <vt:lpstr>Short-Term Content</vt:lpstr>
      <vt:lpstr>PowerPoint Presentation</vt:lpstr>
      <vt:lpstr>PowerPoint Presentation</vt:lpstr>
      <vt:lpstr>Key terminology</vt:lpstr>
      <vt:lpstr>Benefits</vt:lpstr>
      <vt:lpstr>Long-Term Content</vt:lpstr>
      <vt:lpstr>PowerPoint Presentation</vt:lpstr>
      <vt:lpstr>Content Creation</vt:lpstr>
      <vt:lpstr>Content Distribution</vt:lpstr>
      <vt:lpstr>Monitoring and Analysis</vt:lpstr>
      <vt:lpstr> Importance</vt:lpstr>
      <vt:lpstr>PowerPoint Presentation</vt:lpstr>
      <vt:lpstr>Key terminology</vt:lpstr>
      <vt:lpstr>PowerPoint Presentation</vt:lpstr>
      <vt:lpstr>Content Creation Motives</vt:lpstr>
      <vt:lpstr>Content Duplication Issues</vt:lpstr>
      <vt:lpstr>Impact on Search Engine Rankings</vt:lpstr>
      <vt:lpstr>How Duplicate Content Happens</vt:lpstr>
      <vt:lpstr>How to Fix Duplicate Content Issues</vt:lpstr>
      <vt:lpstr>PowerPoint Presentation</vt:lpstr>
      <vt:lpstr>Importance of Addressing Duplicate Content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 02 Search Engine Optimization</dc:title>
  <dc:creator>SSN</dc:creator>
  <cp:lastModifiedBy>Sangeeta Nagpure</cp:lastModifiedBy>
  <cp:revision>168</cp:revision>
  <dcterms:created xsi:type="dcterms:W3CDTF">2006-08-16T00:00:00Z</dcterms:created>
  <dcterms:modified xsi:type="dcterms:W3CDTF">2025-08-13T04:54:08Z</dcterms:modified>
</cp:coreProperties>
</file>