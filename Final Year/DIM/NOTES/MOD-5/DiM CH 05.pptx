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1276" y="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Case study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9598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Case Study: Facebook as a Digital Marketing Platform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Facebook remains one of the most powerful tools for digital marketing, with over </a:t>
            </a:r>
            <a:r>
              <a:rPr lang="en-US" b="1" dirty="0"/>
              <a:t>3 billion active users</a:t>
            </a:r>
            <a:r>
              <a:rPr lang="en-US" dirty="0"/>
              <a:t> globally.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allows businesses of all sizes to </a:t>
            </a:r>
            <a:r>
              <a:rPr lang="en-US" b="1" dirty="0"/>
              <a:t>build an online presence</a:t>
            </a:r>
            <a:r>
              <a:rPr lang="en-US" dirty="0"/>
              <a:t>, </a:t>
            </a:r>
            <a:r>
              <a:rPr lang="en-US" b="1" dirty="0"/>
              <a:t>engage communities</a:t>
            </a:r>
            <a:r>
              <a:rPr lang="en-US" dirty="0"/>
              <a:t>, and </a:t>
            </a:r>
            <a:r>
              <a:rPr lang="en-US" b="1" dirty="0"/>
              <a:t>promote events and products</a:t>
            </a:r>
            <a:r>
              <a:rPr lang="en-US" dirty="0"/>
              <a:t> </a:t>
            </a:r>
            <a:r>
              <a:rPr lang="en-US" dirty="0" smtClean="0"/>
              <a:t>effectively.</a:t>
            </a:r>
          </a:p>
          <a:p>
            <a:r>
              <a:rPr lang="en-US" dirty="0" smtClean="0"/>
              <a:t>This </a:t>
            </a:r>
            <a:r>
              <a:rPr lang="en-US" dirty="0"/>
              <a:t>case study explores how businesses can use Facebook features — </a:t>
            </a:r>
            <a:r>
              <a:rPr lang="en-US" b="1" dirty="0"/>
              <a:t>Pages, Groups, Events, and Marketing Plans</a:t>
            </a:r>
            <a:r>
              <a:rPr lang="en-US" dirty="0"/>
              <a:t> — to reach and retain customers.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3024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81000"/>
            <a:ext cx="8229600" cy="54403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Creating a Page for Your Business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dirty="0"/>
              <a:t>Objective</a:t>
            </a:r>
          </a:p>
          <a:p>
            <a:r>
              <a:rPr lang="en-US" sz="2000" dirty="0"/>
              <a:t>To establish an official digital identity for the brand on Facebook, showcase products or services, and communicate directly with customers.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dirty="0"/>
              <a:t>Steps to Create a Page</a:t>
            </a:r>
          </a:p>
          <a:p>
            <a:r>
              <a:rPr lang="en-US" sz="2000" dirty="0"/>
              <a:t>Log into Facebook → Select </a:t>
            </a:r>
            <a:r>
              <a:rPr lang="en-US" sz="2000" b="1" dirty="0"/>
              <a:t>“Create Page.”</a:t>
            </a:r>
            <a:endParaRPr lang="en-US" sz="2000" dirty="0"/>
          </a:p>
          <a:p>
            <a:r>
              <a:rPr lang="en-US" sz="2000" dirty="0"/>
              <a:t>Choose </a:t>
            </a:r>
            <a:r>
              <a:rPr lang="en-US" sz="2000" b="1" dirty="0"/>
              <a:t>Page Name</a:t>
            </a:r>
            <a:r>
              <a:rPr lang="en-US" sz="2000" dirty="0"/>
              <a:t>, </a:t>
            </a:r>
            <a:r>
              <a:rPr lang="en-US" sz="2000" b="1" dirty="0"/>
              <a:t>Category</a:t>
            </a:r>
            <a:r>
              <a:rPr lang="en-US" sz="2000" dirty="0"/>
              <a:t> (e.g., Restaurant, Clothing Store), and </a:t>
            </a:r>
            <a:r>
              <a:rPr lang="en-US" sz="2000" b="1" dirty="0"/>
              <a:t>Description</a:t>
            </a:r>
            <a:r>
              <a:rPr lang="en-US" sz="2000" dirty="0"/>
              <a:t>.</a:t>
            </a:r>
          </a:p>
          <a:p>
            <a:r>
              <a:rPr lang="en-US" sz="2000" dirty="0"/>
              <a:t>Add </a:t>
            </a:r>
            <a:r>
              <a:rPr lang="en-US" sz="2000" b="1" dirty="0"/>
              <a:t>Profile Picture</a:t>
            </a:r>
            <a:r>
              <a:rPr lang="en-US" sz="2000" dirty="0"/>
              <a:t>, </a:t>
            </a:r>
            <a:r>
              <a:rPr lang="en-US" sz="2000" b="1" dirty="0"/>
              <a:t>Cover Photo</a:t>
            </a:r>
            <a:r>
              <a:rPr lang="en-US" sz="2000" dirty="0"/>
              <a:t>, and </a:t>
            </a:r>
            <a:r>
              <a:rPr lang="en-US" sz="2000" b="1" dirty="0"/>
              <a:t>Contact Details</a:t>
            </a:r>
            <a:r>
              <a:rPr lang="en-US" sz="2000" dirty="0"/>
              <a:t>.</a:t>
            </a:r>
          </a:p>
          <a:p>
            <a:r>
              <a:rPr lang="en-US" sz="2000" dirty="0"/>
              <a:t>Use </a:t>
            </a:r>
            <a:r>
              <a:rPr lang="en-US" sz="2000" b="1" dirty="0"/>
              <a:t>Call-to-Action (CTA)</a:t>
            </a:r>
            <a:r>
              <a:rPr lang="en-US" sz="2000" dirty="0"/>
              <a:t> buttons like “Shop Now,” “Contact Us,” or “Send Message.”</a:t>
            </a:r>
          </a:p>
          <a:p>
            <a:r>
              <a:rPr lang="en-US" sz="2000" dirty="0"/>
              <a:t>Regularly post updates, product launches, offers, and videos.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dirty="0"/>
              <a:t>Example</a:t>
            </a:r>
          </a:p>
          <a:p>
            <a:r>
              <a:rPr lang="en-US" sz="2000" b="1" dirty="0"/>
              <a:t>Company:</a:t>
            </a:r>
            <a:r>
              <a:rPr lang="en-US" sz="2000" dirty="0"/>
              <a:t> “Café Aroma” – a local coffee shop</a:t>
            </a:r>
            <a:br>
              <a:rPr lang="en-US" sz="2000" dirty="0"/>
            </a:br>
            <a:r>
              <a:rPr lang="en-US" sz="2000" b="1" dirty="0"/>
              <a:t>Approach:</a:t>
            </a:r>
            <a:r>
              <a:rPr lang="en-US" sz="2000" dirty="0"/>
              <a:t> Created a Facebook Page to share menus, daily specials, and photos.</a:t>
            </a:r>
            <a:br>
              <a:rPr lang="en-US" sz="2000" dirty="0"/>
            </a:br>
            <a:r>
              <a:rPr lang="en-US" sz="2000" b="1" dirty="0"/>
              <a:t>Result:</a:t>
            </a:r>
            <a:r>
              <a:rPr lang="en-US" sz="2000" dirty="0"/>
              <a:t> Reached over 5,000 followers in 3 months, increasing footfall by 25</a:t>
            </a:r>
            <a:r>
              <a:rPr lang="en-US" sz="2000" dirty="0" smtClean="0"/>
              <a:t>%.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50270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81000"/>
            <a:ext cx="8229600" cy="54403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Facing Facebook Groups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dirty="0"/>
              <a:t>Objective</a:t>
            </a:r>
          </a:p>
          <a:p>
            <a:r>
              <a:rPr lang="en-US" sz="2000" dirty="0"/>
              <a:t>To build and nurture a community around a shared interest or brand — fostering discussion, feedback, and loyalty.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dirty="0"/>
              <a:t>Benefits of Facebook Groups</a:t>
            </a:r>
          </a:p>
          <a:p>
            <a:r>
              <a:rPr lang="en-US" sz="2000" dirty="0"/>
              <a:t>Encourage </a:t>
            </a:r>
            <a:r>
              <a:rPr lang="en-US" sz="2000" b="1" dirty="0"/>
              <a:t>two-way communication</a:t>
            </a:r>
            <a:r>
              <a:rPr lang="en-US" sz="2000" dirty="0"/>
              <a:t> with customers.</a:t>
            </a:r>
          </a:p>
          <a:p>
            <a:r>
              <a:rPr lang="en-US" sz="2000" dirty="0"/>
              <a:t>Create </a:t>
            </a:r>
            <a:r>
              <a:rPr lang="en-US" sz="2000" b="1" dirty="0"/>
              <a:t>brand advocates</a:t>
            </a:r>
            <a:r>
              <a:rPr lang="en-US" sz="2000" dirty="0"/>
              <a:t> who share experiences and ideas.</a:t>
            </a:r>
          </a:p>
          <a:p>
            <a:r>
              <a:rPr lang="en-US" sz="2000" dirty="0"/>
              <a:t>Gather </a:t>
            </a:r>
            <a:r>
              <a:rPr lang="en-US" sz="2000" b="1" dirty="0"/>
              <a:t>market insights</a:t>
            </a:r>
            <a:r>
              <a:rPr lang="en-US" sz="2000" dirty="0"/>
              <a:t> from customer interactions.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dirty="0"/>
              <a:t>Strategy</a:t>
            </a:r>
          </a:p>
          <a:p>
            <a:r>
              <a:rPr lang="en-US" sz="2000" dirty="0"/>
              <a:t>Create or join groups related to your business domain.</a:t>
            </a:r>
          </a:p>
          <a:p>
            <a:r>
              <a:rPr lang="en-US" sz="2000" dirty="0"/>
              <a:t>Share expert tips, polls, and behind-the-scenes content.</a:t>
            </a:r>
          </a:p>
          <a:p>
            <a:r>
              <a:rPr lang="en-US" sz="2000" dirty="0"/>
              <a:t>Moderate discussions and answer queries promptly.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dirty="0"/>
              <a:t>Example</a:t>
            </a:r>
          </a:p>
          <a:p>
            <a:r>
              <a:rPr lang="en-US" sz="2000" b="1" dirty="0"/>
              <a:t>Company:</a:t>
            </a:r>
            <a:r>
              <a:rPr lang="en-US" sz="2000" dirty="0"/>
              <a:t> “</a:t>
            </a:r>
            <a:r>
              <a:rPr lang="en-US" sz="2000" dirty="0" err="1"/>
              <a:t>FitLife</a:t>
            </a:r>
            <a:r>
              <a:rPr lang="en-US" sz="2000" dirty="0"/>
              <a:t> Nutrition”</a:t>
            </a:r>
            <a:br>
              <a:rPr lang="en-US" sz="2000" dirty="0"/>
            </a:br>
            <a:r>
              <a:rPr lang="en-US" sz="2000" b="1" dirty="0"/>
              <a:t>Action:</a:t>
            </a:r>
            <a:r>
              <a:rPr lang="en-US" sz="2000" dirty="0"/>
              <a:t> Created a group for fitness enthusiasts to share diet tips and product feedback.</a:t>
            </a:r>
            <a:br>
              <a:rPr lang="en-US" sz="2000" dirty="0"/>
            </a:br>
            <a:r>
              <a:rPr lang="en-US" sz="2000" b="1" dirty="0"/>
              <a:t>Result:</a:t>
            </a:r>
            <a:r>
              <a:rPr lang="en-US" sz="2000" dirty="0"/>
              <a:t> Built a community of 10,000 members who became loyal customers and helped with word-of-mouth marketing.</a:t>
            </a:r>
          </a:p>
        </p:txBody>
      </p:sp>
    </p:spTree>
    <p:extLst>
      <p:ext uri="{BB962C8B-B14F-4D97-AF65-F5344CB8AC3E}">
        <p14:creationId xmlns:p14="http://schemas.microsoft.com/office/powerpoint/2010/main" val="1650159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81000"/>
            <a:ext cx="8229600" cy="54403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Hosting Facebook Events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dirty="0"/>
              <a:t>Objective</a:t>
            </a:r>
          </a:p>
          <a:p>
            <a:r>
              <a:rPr lang="en-US" sz="2000" dirty="0"/>
              <a:t>To promote online or offline events — such as sales, product launches, webinars, or workshops — and increase participation through social sharing.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dirty="0"/>
              <a:t>Features of Facebook Events</a:t>
            </a:r>
          </a:p>
          <a:p>
            <a:r>
              <a:rPr lang="en-US" sz="2000" dirty="0"/>
              <a:t>Set event date, time, and location.</a:t>
            </a:r>
          </a:p>
          <a:p>
            <a:r>
              <a:rPr lang="en-US" sz="2000" dirty="0"/>
              <a:t>Add event banner, description, and RSVP options.</a:t>
            </a:r>
          </a:p>
          <a:p>
            <a:r>
              <a:rPr lang="en-US" sz="2000" dirty="0"/>
              <a:t>Invite followers and share the event in groups.</a:t>
            </a:r>
          </a:p>
          <a:p>
            <a:r>
              <a:rPr lang="en-US" sz="2000" dirty="0"/>
              <a:t>Post updates and reminders before and during the event.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dirty="0"/>
              <a:t>Example</a:t>
            </a:r>
          </a:p>
          <a:p>
            <a:r>
              <a:rPr lang="en-US" sz="2000" b="1" dirty="0"/>
              <a:t>Company:</a:t>
            </a:r>
            <a:r>
              <a:rPr lang="en-US" sz="2000" dirty="0"/>
              <a:t> “Glow Cosmetics”</a:t>
            </a:r>
            <a:br>
              <a:rPr lang="en-US" sz="2000" dirty="0"/>
            </a:br>
            <a:r>
              <a:rPr lang="en-US" sz="2000" b="1" dirty="0"/>
              <a:t>Action:</a:t>
            </a:r>
            <a:r>
              <a:rPr lang="en-US" sz="2000" dirty="0"/>
              <a:t> Hosted a Facebook Live event for a new product launch.</a:t>
            </a:r>
            <a:br>
              <a:rPr lang="en-US" sz="2000" dirty="0"/>
            </a:br>
            <a:r>
              <a:rPr lang="en-US" sz="2000" b="1" dirty="0"/>
              <a:t>Result:</a:t>
            </a:r>
            <a:r>
              <a:rPr lang="en-US" sz="2000" dirty="0"/>
              <a:t> 2,000 live viewers and 30% increase in product sales during the event week.</a:t>
            </a:r>
          </a:p>
        </p:txBody>
      </p:sp>
    </p:spTree>
    <p:extLst>
      <p:ext uri="{BB962C8B-B14F-4D97-AF65-F5344CB8AC3E}">
        <p14:creationId xmlns:p14="http://schemas.microsoft.com/office/powerpoint/2010/main" val="1170313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81000"/>
            <a:ext cx="8229600" cy="54403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Developing a Facebook Marketing Plan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dirty="0"/>
              <a:t>Objective</a:t>
            </a:r>
          </a:p>
          <a:p>
            <a:r>
              <a:rPr lang="en-US" sz="2000" dirty="0"/>
              <a:t>To strategically use Facebook features for achieving marketing goals like awareness, engagement, and conversion.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dirty="0"/>
              <a:t>Steps in a Facebook Marketing Plan</a:t>
            </a:r>
          </a:p>
          <a:p>
            <a:r>
              <a:rPr lang="en-US" sz="2000" b="1" dirty="0"/>
              <a:t>Set Goals:</a:t>
            </a:r>
            <a:r>
              <a:rPr lang="en-US" sz="2000" dirty="0"/>
              <a:t> (e.g., Increase brand awareness by 30%).</a:t>
            </a:r>
          </a:p>
          <a:p>
            <a:r>
              <a:rPr lang="en-US" sz="2000" b="1" dirty="0"/>
              <a:t>Identify Target Audience:</a:t>
            </a:r>
            <a:r>
              <a:rPr lang="en-US" sz="2000" dirty="0"/>
              <a:t> Age, gender, location, interests.</a:t>
            </a:r>
          </a:p>
          <a:p>
            <a:r>
              <a:rPr lang="en-US" sz="2000" b="1" dirty="0"/>
              <a:t>Create Content Strategy:</a:t>
            </a:r>
            <a:r>
              <a:rPr lang="en-US" sz="2000" dirty="0"/>
              <a:t> Mix of posts, videos, stories, and reels.</a:t>
            </a:r>
          </a:p>
          <a:p>
            <a:r>
              <a:rPr lang="en-US" sz="2000" b="1" dirty="0"/>
              <a:t>Schedule and Consistency:</a:t>
            </a:r>
            <a:r>
              <a:rPr lang="en-US" sz="2000" dirty="0"/>
              <a:t> Use tools like </a:t>
            </a:r>
            <a:r>
              <a:rPr lang="en-US" sz="2000" b="1" dirty="0"/>
              <a:t>Meta Business Suite</a:t>
            </a:r>
            <a:r>
              <a:rPr lang="en-US" sz="2000" dirty="0"/>
              <a:t> to plan posts.</a:t>
            </a:r>
          </a:p>
          <a:p>
            <a:r>
              <a:rPr lang="en-US" sz="2000" b="1" dirty="0"/>
              <a:t>Engage and Respond:</a:t>
            </a:r>
            <a:r>
              <a:rPr lang="en-US" sz="2000" dirty="0"/>
              <a:t> Reply to comments and messages promptly.</a:t>
            </a:r>
          </a:p>
          <a:p>
            <a:r>
              <a:rPr lang="en-US" sz="2000" b="1" dirty="0"/>
              <a:t>Measure Performance:</a:t>
            </a:r>
            <a:r>
              <a:rPr lang="en-US" sz="2000" dirty="0"/>
              <a:t> Use </a:t>
            </a:r>
            <a:r>
              <a:rPr lang="en-US" sz="2000" b="1" dirty="0"/>
              <a:t>Facebook Insights</a:t>
            </a:r>
            <a:r>
              <a:rPr lang="en-US" sz="2000" dirty="0"/>
              <a:t> for analytics (reach, engagement, conversions).</a:t>
            </a:r>
          </a:p>
          <a:p>
            <a:r>
              <a:rPr lang="en-US" sz="2000" b="1" dirty="0"/>
              <a:t>Run Paid Ads:</a:t>
            </a:r>
            <a:r>
              <a:rPr lang="en-US" sz="2000" dirty="0"/>
              <a:t> Targeted Facebook Ads for wider reach.</a:t>
            </a:r>
          </a:p>
        </p:txBody>
      </p:sp>
    </p:spTree>
    <p:extLst>
      <p:ext uri="{BB962C8B-B14F-4D97-AF65-F5344CB8AC3E}">
        <p14:creationId xmlns:p14="http://schemas.microsoft.com/office/powerpoint/2010/main" val="2644438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81000"/>
            <a:ext cx="8229600" cy="544036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b="1" dirty="0"/>
              <a:t>Example</a:t>
            </a:r>
          </a:p>
          <a:p>
            <a:r>
              <a:rPr lang="en-US" sz="2000" b="1" dirty="0"/>
              <a:t>Company:</a:t>
            </a:r>
            <a:r>
              <a:rPr lang="en-US" sz="2000" dirty="0"/>
              <a:t> “</a:t>
            </a:r>
            <a:r>
              <a:rPr lang="en-US" sz="2000" dirty="0" err="1"/>
              <a:t>GreenScape</a:t>
            </a:r>
            <a:r>
              <a:rPr lang="en-US" sz="2000" dirty="0"/>
              <a:t> Nursery”</a:t>
            </a:r>
            <a:br>
              <a:rPr lang="en-US" sz="2000" dirty="0"/>
            </a:br>
            <a:r>
              <a:rPr lang="en-US" sz="2000" b="1" dirty="0"/>
              <a:t>Goal:</a:t>
            </a:r>
            <a:r>
              <a:rPr lang="en-US" sz="2000" dirty="0"/>
              <a:t> Increase online plant orders.</a:t>
            </a:r>
            <a:br>
              <a:rPr lang="en-US" sz="2000" dirty="0"/>
            </a:br>
            <a:r>
              <a:rPr lang="en-US" sz="2000" b="1" dirty="0"/>
              <a:t>Strategy:</a:t>
            </a:r>
            <a:endParaRPr lang="en-US" sz="2000" dirty="0"/>
          </a:p>
          <a:p>
            <a:r>
              <a:rPr lang="en-US" sz="2000" dirty="0"/>
              <a:t>Created Facebook Page and ran seasonal ad campaigns.</a:t>
            </a:r>
          </a:p>
          <a:p>
            <a:r>
              <a:rPr lang="en-US" sz="2000" dirty="0"/>
              <a:t>Hosted Q&amp;A sessions via Facebook Live.</a:t>
            </a:r>
            <a:br>
              <a:rPr lang="en-US" sz="2000" dirty="0"/>
            </a:br>
            <a:r>
              <a:rPr lang="en-US" sz="2000" b="1" dirty="0"/>
              <a:t>Result:</a:t>
            </a:r>
            <a:r>
              <a:rPr lang="en-US" sz="2000" dirty="0"/>
              <a:t> 45% growth in followers and 60% rise in online sales in 6 months</a:t>
            </a:r>
            <a:r>
              <a:rPr lang="en-US" sz="2000" dirty="0" smtClean="0"/>
              <a:t>.</a:t>
            </a:r>
          </a:p>
          <a:p>
            <a:pPr marL="0" indent="0">
              <a:buNone/>
            </a:pPr>
            <a:endParaRPr lang="en-US" sz="20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dirty="0"/>
              <a:t>Advantages of Facebook Marketing</a:t>
            </a:r>
          </a:p>
          <a:p>
            <a:r>
              <a:rPr lang="en-US" sz="2000" dirty="0" smtClean="0"/>
              <a:t>Global </a:t>
            </a:r>
            <a:r>
              <a:rPr lang="en-US" sz="2000" dirty="0"/>
              <a:t>reach with precise audience </a:t>
            </a:r>
            <a:r>
              <a:rPr lang="en-US" sz="2000" dirty="0" smtClean="0"/>
              <a:t>targeting.</a:t>
            </a:r>
          </a:p>
          <a:p>
            <a:r>
              <a:rPr lang="en-US" sz="2000" dirty="0" smtClean="0"/>
              <a:t>Cost-effective </a:t>
            </a:r>
            <a:r>
              <a:rPr lang="en-US" sz="2000" dirty="0"/>
              <a:t>advertising </a:t>
            </a:r>
            <a:r>
              <a:rPr lang="en-US" sz="2000" dirty="0" smtClean="0"/>
              <a:t>options.</a:t>
            </a:r>
          </a:p>
          <a:p>
            <a:r>
              <a:rPr lang="en-US" sz="2000" dirty="0" smtClean="0"/>
              <a:t>Real-time </a:t>
            </a:r>
            <a:r>
              <a:rPr lang="en-US" sz="2000" dirty="0"/>
              <a:t>engagement with </a:t>
            </a:r>
            <a:r>
              <a:rPr lang="en-US" sz="2000" dirty="0" smtClean="0"/>
              <a:t>customers.</a:t>
            </a:r>
          </a:p>
          <a:p>
            <a:r>
              <a:rPr lang="en-US" sz="2000" dirty="0" smtClean="0"/>
              <a:t>Insights </a:t>
            </a:r>
            <a:r>
              <a:rPr lang="en-US" sz="2000" dirty="0"/>
              <a:t>and analytics for performance tracking.</a:t>
            </a:r>
          </a:p>
        </p:txBody>
      </p:sp>
    </p:spTree>
    <p:extLst>
      <p:ext uri="{BB962C8B-B14F-4D97-AF65-F5344CB8AC3E}">
        <p14:creationId xmlns:p14="http://schemas.microsoft.com/office/powerpoint/2010/main" val="3547875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Case Study: Digital Marketing through WhatsApp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WhatsApp, one of the world’s most popular messaging apps, has evolved beyond personal communication into a </a:t>
            </a:r>
            <a:r>
              <a:rPr lang="en-US" b="1" dirty="0"/>
              <a:t>powerful digital marketing platform</a:t>
            </a:r>
            <a:r>
              <a:rPr lang="en-US" dirty="0"/>
              <a:t>. With more than </a:t>
            </a:r>
            <a:r>
              <a:rPr lang="en-US" b="1" dirty="0"/>
              <a:t>2 billion users globally</a:t>
            </a:r>
            <a:r>
              <a:rPr lang="en-US" dirty="0"/>
              <a:t>, WhatsApp enables businesses to engage customers directly, personally, and instantly.</a:t>
            </a:r>
          </a:p>
          <a:p>
            <a:pPr algn="just"/>
            <a:r>
              <a:rPr lang="en-US" dirty="0"/>
              <a:t>It is part of </a:t>
            </a:r>
            <a:r>
              <a:rPr lang="en-US" b="1" dirty="0"/>
              <a:t>conversational marketing</a:t>
            </a:r>
            <a:r>
              <a:rPr lang="en-US" dirty="0"/>
              <a:t>, where brands communicate with customers in real time — sharing updates, offers, support, and personalized recommendations.</a:t>
            </a:r>
          </a:p>
          <a:p>
            <a:pPr marL="0" indent="0" algn="just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2240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Objectives of WhatsApp Marketing</a:t>
            </a:r>
          </a:p>
          <a:p>
            <a:r>
              <a:rPr lang="en-US" dirty="0"/>
              <a:t>Build direct and personal communication with customers.</a:t>
            </a:r>
          </a:p>
          <a:p>
            <a:r>
              <a:rPr lang="en-US" dirty="0"/>
              <a:t>Deliver quick customer support and feedback.</a:t>
            </a:r>
          </a:p>
          <a:p>
            <a:r>
              <a:rPr lang="en-US" dirty="0"/>
              <a:t>Promote products, services, and special offers.</a:t>
            </a:r>
          </a:p>
          <a:p>
            <a:r>
              <a:rPr lang="en-US" dirty="0"/>
              <a:t>Improve customer retention and loyalty.</a:t>
            </a:r>
          </a:p>
          <a:p>
            <a:r>
              <a:rPr lang="en-US" dirty="0"/>
              <a:t>Drive website traffic and sales through WhatsApp links.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366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Key Tools and Platforms</a:t>
            </a:r>
          </a:p>
          <a:p>
            <a:r>
              <a:rPr lang="en-US" b="1" dirty="0"/>
              <a:t>WhatsApp Business App</a:t>
            </a:r>
            <a:r>
              <a:rPr lang="en-US" dirty="0"/>
              <a:t> – For small businesses to manage customer chats, labels, automated messages, and catalogs.</a:t>
            </a:r>
          </a:p>
          <a:p>
            <a:r>
              <a:rPr lang="en-US" b="1" dirty="0"/>
              <a:t>WhatsApp Business API</a:t>
            </a:r>
            <a:r>
              <a:rPr lang="en-US" dirty="0"/>
              <a:t> – For medium to large businesses that need automation, CRM integration, and bulk messaging.</a:t>
            </a:r>
          </a:p>
          <a:p>
            <a:r>
              <a:rPr lang="en-US" b="1" dirty="0"/>
              <a:t>Click-to-Chat Links</a:t>
            </a:r>
            <a:r>
              <a:rPr lang="en-US" dirty="0"/>
              <a:t> – Shareable links that allow customers to directly open a WhatsApp chat with the brand.</a:t>
            </a:r>
          </a:p>
          <a:p>
            <a:r>
              <a:rPr lang="en-US" b="1" dirty="0"/>
              <a:t>QR Codes</a:t>
            </a:r>
            <a:r>
              <a:rPr lang="en-US" dirty="0"/>
              <a:t> – </a:t>
            </a:r>
            <a:r>
              <a:rPr lang="en-US" dirty="0" err="1"/>
              <a:t>Scannable</a:t>
            </a:r>
            <a:r>
              <a:rPr lang="en-US" dirty="0"/>
              <a:t> codes on packaging or websites for direct customer interaction.</a:t>
            </a:r>
          </a:p>
          <a:p>
            <a:r>
              <a:rPr lang="en-US" b="1" dirty="0"/>
              <a:t>Broadcast Lists</a:t>
            </a:r>
            <a:r>
              <a:rPr lang="en-US" dirty="0"/>
              <a:t> – To send promotional messages to multiple contacts at once (without creating a group</a:t>
            </a:r>
            <a:r>
              <a:rPr lang="en-US" dirty="0" smtClean="0"/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9248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Marketing Strategies</a:t>
            </a:r>
          </a:p>
          <a:p>
            <a:r>
              <a:rPr lang="en-US" b="1" dirty="0"/>
              <a:t>Personalized Messaging</a:t>
            </a:r>
            <a:endParaRPr lang="en-US" dirty="0"/>
          </a:p>
          <a:p>
            <a:pPr lvl="1"/>
            <a:r>
              <a:rPr lang="en-US" dirty="0"/>
              <a:t>Use customer names and preferences for tailored offers.</a:t>
            </a:r>
          </a:p>
          <a:p>
            <a:pPr lvl="1"/>
            <a:r>
              <a:rPr lang="en-US" dirty="0"/>
              <a:t>Example: Sending birthday discounts or product restock alerts.</a:t>
            </a:r>
          </a:p>
          <a:p>
            <a:r>
              <a:rPr lang="en-US" b="1" dirty="0"/>
              <a:t>Customer Support &amp; Service</a:t>
            </a:r>
            <a:endParaRPr lang="en-US" dirty="0"/>
          </a:p>
          <a:p>
            <a:pPr lvl="1"/>
            <a:r>
              <a:rPr lang="en-US" dirty="0"/>
              <a:t>Offer 24/7 chat assistance for inquiries or complaints.</a:t>
            </a:r>
          </a:p>
          <a:p>
            <a:pPr lvl="1"/>
            <a:r>
              <a:rPr lang="en-US" dirty="0"/>
              <a:t>Example: Airlines and banks using WhatsApp bots for booking or balance info.</a:t>
            </a:r>
          </a:p>
          <a:p>
            <a:r>
              <a:rPr lang="en-US" b="1" dirty="0"/>
              <a:t>Product Catalog &amp; Showcase</a:t>
            </a:r>
            <a:endParaRPr lang="en-US" dirty="0"/>
          </a:p>
          <a:p>
            <a:pPr lvl="1"/>
            <a:r>
              <a:rPr lang="en-US" dirty="0"/>
              <a:t>Display images, descriptions, and prices of products in WhatsApp Business Catalog.</a:t>
            </a:r>
          </a:p>
          <a:p>
            <a:pPr lvl="1"/>
            <a:r>
              <a:rPr lang="en-US" dirty="0"/>
              <a:t>Example: A boutique showcasing new arrivals directly through chat.</a:t>
            </a:r>
          </a:p>
          <a:p>
            <a:r>
              <a:rPr lang="en-US" b="1" dirty="0"/>
              <a:t>Broadcast Promotions</a:t>
            </a:r>
            <a:endParaRPr lang="en-US" dirty="0"/>
          </a:p>
          <a:p>
            <a:pPr lvl="1"/>
            <a:r>
              <a:rPr lang="en-US" dirty="0"/>
              <a:t>Share time-limited deals, festival offers, or product launches to customers.</a:t>
            </a:r>
          </a:p>
          <a:p>
            <a:r>
              <a:rPr lang="en-US" b="1" dirty="0"/>
              <a:t>Interactive Content</a:t>
            </a:r>
            <a:endParaRPr lang="en-US" dirty="0"/>
          </a:p>
          <a:p>
            <a:pPr lvl="1"/>
            <a:r>
              <a:rPr lang="en-US" dirty="0"/>
              <a:t>Send videos, polls, and quick-reply buttons to engage users.</a:t>
            </a:r>
          </a:p>
          <a:p>
            <a:r>
              <a:rPr lang="en-US" b="1" dirty="0"/>
              <a:t>Integration with Other Channels</a:t>
            </a:r>
            <a:endParaRPr lang="en-US" dirty="0"/>
          </a:p>
          <a:p>
            <a:pPr lvl="1"/>
            <a:r>
              <a:rPr lang="en-US" dirty="0"/>
              <a:t>Add “Message Us on WhatsApp” buttons on Instagram, Facebook, and websites.</a:t>
            </a:r>
          </a:p>
        </p:txBody>
      </p:sp>
    </p:spTree>
    <p:extLst>
      <p:ext uri="{BB962C8B-B14F-4D97-AF65-F5344CB8AC3E}">
        <p14:creationId xmlns:p14="http://schemas.microsoft.com/office/powerpoint/2010/main" val="2165623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Example Case: </a:t>
            </a:r>
            <a:r>
              <a:rPr lang="en-US" sz="2200" b="1" dirty="0" err="1"/>
              <a:t>JioMart</a:t>
            </a:r>
            <a:endParaRPr lang="en-US" sz="2200" b="1" dirty="0"/>
          </a:p>
          <a:p>
            <a:r>
              <a:rPr lang="en-US" sz="2200" b="1" dirty="0"/>
              <a:t>Company:</a:t>
            </a:r>
            <a:r>
              <a:rPr lang="en-US" sz="2200" dirty="0"/>
              <a:t> </a:t>
            </a:r>
            <a:r>
              <a:rPr lang="en-US" sz="2200" dirty="0" err="1"/>
              <a:t>JioMart</a:t>
            </a:r>
            <a:r>
              <a:rPr lang="en-US" sz="2200" dirty="0"/>
              <a:t> (India)</a:t>
            </a:r>
          </a:p>
          <a:p>
            <a:r>
              <a:rPr lang="en-US" sz="2200" b="1" dirty="0"/>
              <a:t>Objective:</a:t>
            </a:r>
            <a:r>
              <a:rPr lang="en-US" sz="2200" dirty="0"/>
              <a:t> Simplify grocery ordering through chat.</a:t>
            </a:r>
          </a:p>
          <a:p>
            <a:r>
              <a:rPr lang="en-US" sz="2200" b="1" dirty="0"/>
              <a:t>Strategy:</a:t>
            </a:r>
            <a:endParaRPr lang="en-US" sz="2200" dirty="0"/>
          </a:p>
          <a:p>
            <a:pPr lvl="1"/>
            <a:r>
              <a:rPr lang="en-US" sz="2200" dirty="0"/>
              <a:t>Customers message “Hi” on WhatsApp to the </a:t>
            </a:r>
            <a:r>
              <a:rPr lang="en-US" sz="2200" dirty="0" err="1"/>
              <a:t>JioMart</a:t>
            </a:r>
            <a:r>
              <a:rPr lang="en-US" sz="2200" dirty="0"/>
              <a:t> number.</a:t>
            </a:r>
          </a:p>
          <a:p>
            <a:pPr lvl="1"/>
            <a:r>
              <a:rPr lang="en-US" sz="2200" dirty="0"/>
              <a:t>They receive a product catalog and place orders directly.</a:t>
            </a:r>
          </a:p>
          <a:p>
            <a:r>
              <a:rPr lang="en-US" sz="2200" b="1" dirty="0"/>
              <a:t>Result:</a:t>
            </a:r>
            <a:endParaRPr lang="en-US" sz="2200" dirty="0"/>
          </a:p>
          <a:p>
            <a:pPr lvl="1"/>
            <a:r>
              <a:rPr lang="en-US" sz="2200" dirty="0"/>
              <a:t>Increased customer convenience and sales.</a:t>
            </a:r>
          </a:p>
          <a:p>
            <a:pPr lvl="1"/>
            <a:r>
              <a:rPr lang="en-US" sz="2200" dirty="0"/>
              <a:t>Enhanced engagement through automated responses.</a:t>
            </a:r>
          </a:p>
          <a:p>
            <a:pPr marL="0" indent="0">
              <a:buNone/>
            </a:pPr>
            <a:r>
              <a:rPr lang="en-US" sz="2200" b="1" dirty="0"/>
              <a:t>Advantages</a:t>
            </a:r>
          </a:p>
          <a:p>
            <a:r>
              <a:rPr lang="en-US" sz="2200" dirty="0" smtClean="0"/>
              <a:t>Instant </a:t>
            </a:r>
            <a:r>
              <a:rPr lang="en-US" sz="2200" dirty="0"/>
              <a:t>communication and high message open rates (over 90</a:t>
            </a:r>
            <a:r>
              <a:rPr lang="en-US" sz="2200" dirty="0" smtClean="0"/>
              <a:t>%).</a:t>
            </a:r>
          </a:p>
          <a:p>
            <a:r>
              <a:rPr lang="en-US" sz="2200" dirty="0" smtClean="0"/>
              <a:t>Cost-effective </a:t>
            </a:r>
            <a:r>
              <a:rPr lang="en-US" sz="2200" dirty="0"/>
              <a:t>compared to SMS or traditional </a:t>
            </a:r>
            <a:r>
              <a:rPr lang="en-US" sz="2200" dirty="0" smtClean="0"/>
              <a:t>advertising.</a:t>
            </a:r>
          </a:p>
          <a:p>
            <a:r>
              <a:rPr lang="en-US" sz="2200" dirty="0" smtClean="0"/>
              <a:t>Builds </a:t>
            </a:r>
            <a:r>
              <a:rPr lang="en-US" sz="2200" dirty="0"/>
              <a:t>trust through one-on-one </a:t>
            </a:r>
            <a:r>
              <a:rPr lang="en-US" sz="2200" dirty="0" smtClean="0"/>
              <a:t>interaction.</a:t>
            </a:r>
          </a:p>
          <a:p>
            <a:r>
              <a:rPr lang="en-US" sz="2200" dirty="0" smtClean="0"/>
              <a:t>Supports </a:t>
            </a:r>
            <a:r>
              <a:rPr lang="en-US" sz="2200" dirty="0"/>
              <a:t>multimedia marketing (images, videos, documents).</a:t>
            </a:r>
          </a:p>
          <a:p>
            <a:pPr marL="457200" lvl="1" indent="0">
              <a:buNone/>
            </a:pPr>
            <a:endParaRPr lang="en-US" sz="2200" dirty="0" smtClean="0"/>
          </a:p>
        </p:txBody>
      </p:sp>
    </p:spTree>
    <p:extLst>
      <p:ext uri="{BB962C8B-B14F-4D97-AF65-F5344CB8AC3E}">
        <p14:creationId xmlns:p14="http://schemas.microsoft.com/office/powerpoint/2010/main" val="12168256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err="1"/>
              <a:t>Analyzing</a:t>
            </a:r>
            <a:r>
              <a:rPr lang="en-IN" b="1" dirty="0"/>
              <a:t> Facebook Metrics for Better Marketing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US" dirty="0"/>
              <a:t>In digital marketing, </a:t>
            </a:r>
            <a:r>
              <a:rPr lang="en-US" b="1" dirty="0"/>
              <a:t>data analytics</a:t>
            </a:r>
            <a:r>
              <a:rPr lang="en-US" dirty="0"/>
              <a:t> is essential for understanding audience behavior and campaign performance.</a:t>
            </a:r>
            <a:br>
              <a:rPr lang="en-US" dirty="0"/>
            </a:br>
            <a:r>
              <a:rPr lang="en-US" dirty="0"/>
              <a:t>Facebook provides a variety of </a:t>
            </a:r>
            <a:r>
              <a:rPr lang="en-US" b="1" dirty="0"/>
              <a:t>metrics and tools</a:t>
            </a:r>
            <a:r>
              <a:rPr lang="en-US" dirty="0"/>
              <a:t> to help businesses measure how well their content performs — both on Facebook itself and in driving traffic to external websites.</a:t>
            </a:r>
          </a:p>
          <a:p>
            <a:pPr algn="just"/>
            <a:r>
              <a:rPr lang="en-US" dirty="0"/>
              <a:t>This case study explains how marketers can analyze Facebook metrics effectively by using four key activities: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Checking referrals from websites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Monitoring post comments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Measuring link effectiveness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Using Facebook Grader for performance evaluation</a:t>
            </a:r>
          </a:p>
          <a:p>
            <a:pPr marL="0" indent="0" algn="just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5403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28600"/>
            <a:ext cx="8229600" cy="5668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700" b="1" dirty="0"/>
              <a:t>Checking Referrals from Websites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700" b="1" dirty="0"/>
              <a:t>Objective</a:t>
            </a:r>
          </a:p>
          <a:p>
            <a:r>
              <a:rPr lang="en-US" sz="1700" dirty="0"/>
              <a:t>To identify how much web traffic originates from Facebook and understand which posts or ads drive the most visitors.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700" b="1" dirty="0"/>
              <a:t>Tools Used</a:t>
            </a:r>
          </a:p>
          <a:p>
            <a:r>
              <a:rPr lang="en-US" sz="1700" b="1" dirty="0"/>
              <a:t>Facebook Insights (Page Analytics)</a:t>
            </a:r>
            <a:endParaRPr lang="en-US" sz="1700" dirty="0"/>
          </a:p>
          <a:p>
            <a:r>
              <a:rPr lang="en-US" sz="1700" b="1" dirty="0"/>
              <a:t>Google Analytics (Referral Traffic Reports)</a:t>
            </a:r>
            <a:endParaRPr lang="en-US" sz="17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1700" b="1" dirty="0"/>
              <a:t>Process</a:t>
            </a:r>
          </a:p>
          <a:p>
            <a:r>
              <a:rPr lang="en-US" sz="1700" dirty="0"/>
              <a:t>Link your website with </a:t>
            </a:r>
            <a:r>
              <a:rPr lang="en-US" sz="1700" b="1" dirty="0"/>
              <a:t>Facebook Pixel</a:t>
            </a:r>
            <a:r>
              <a:rPr lang="en-US" sz="1700" dirty="0"/>
              <a:t> to track visitor actions.</a:t>
            </a:r>
          </a:p>
          <a:p>
            <a:r>
              <a:rPr lang="en-US" sz="1700" dirty="0"/>
              <a:t>In </a:t>
            </a:r>
            <a:r>
              <a:rPr lang="en-US" sz="1700" b="1" dirty="0"/>
              <a:t>Google Analytics</a:t>
            </a:r>
            <a:r>
              <a:rPr lang="en-US" sz="1700" dirty="0"/>
              <a:t>, go to:</a:t>
            </a:r>
            <a:br>
              <a:rPr lang="en-US" sz="1700" dirty="0"/>
            </a:br>
            <a:r>
              <a:rPr lang="en-US" sz="1700" b="1" dirty="0"/>
              <a:t>Acquisition → Social → Network Referrals</a:t>
            </a:r>
            <a:r>
              <a:rPr lang="en-US" sz="1700" dirty="0"/>
              <a:t>.</a:t>
            </a:r>
          </a:p>
          <a:p>
            <a:r>
              <a:rPr lang="en-US" sz="1700" dirty="0"/>
              <a:t>Observe metrics like:</a:t>
            </a:r>
          </a:p>
          <a:p>
            <a:pPr lvl="1"/>
            <a:r>
              <a:rPr lang="en-US" sz="1700" dirty="0"/>
              <a:t>Number of sessions from Facebook.</a:t>
            </a:r>
          </a:p>
          <a:p>
            <a:pPr lvl="1"/>
            <a:r>
              <a:rPr lang="en-US" sz="1700" dirty="0"/>
              <a:t>Average session duration.</a:t>
            </a:r>
          </a:p>
          <a:p>
            <a:pPr lvl="1"/>
            <a:r>
              <a:rPr lang="en-US" sz="1700" dirty="0"/>
              <a:t>Bounce rate.</a:t>
            </a:r>
          </a:p>
          <a:p>
            <a:pPr lvl="1"/>
            <a:r>
              <a:rPr lang="en-US" sz="1700" dirty="0"/>
              <a:t>Conversion rate.</a:t>
            </a:r>
          </a:p>
          <a:p>
            <a:pPr marL="0" indent="0">
              <a:buNone/>
            </a:pPr>
            <a:r>
              <a:rPr lang="en-US" sz="1700" b="1" dirty="0"/>
              <a:t>Example</a:t>
            </a:r>
          </a:p>
          <a:p>
            <a:pPr marL="0" indent="0">
              <a:buNone/>
            </a:pPr>
            <a:r>
              <a:rPr lang="en-US" sz="1700" b="1" dirty="0"/>
              <a:t>Company:</a:t>
            </a:r>
            <a:r>
              <a:rPr lang="en-US" sz="1700" dirty="0"/>
              <a:t> “</a:t>
            </a:r>
            <a:r>
              <a:rPr lang="en-US" sz="1700" dirty="0" err="1"/>
              <a:t>TrendWear</a:t>
            </a:r>
            <a:r>
              <a:rPr lang="en-US" sz="1700" dirty="0"/>
              <a:t>” – Online Fashion Brand</a:t>
            </a:r>
            <a:br>
              <a:rPr lang="en-US" sz="1700" dirty="0"/>
            </a:br>
            <a:r>
              <a:rPr lang="en-US" sz="1700" b="1" dirty="0"/>
              <a:t>Observation:</a:t>
            </a:r>
            <a:r>
              <a:rPr lang="en-US" sz="1700" dirty="0"/>
              <a:t> 35% of total website traffic came from Facebook referrals.</a:t>
            </a:r>
            <a:br>
              <a:rPr lang="en-US" sz="1700" dirty="0"/>
            </a:br>
            <a:r>
              <a:rPr lang="en-US" sz="1700" b="1" dirty="0"/>
              <a:t>Action:</a:t>
            </a:r>
            <a:r>
              <a:rPr lang="en-US" sz="1700" dirty="0"/>
              <a:t> Increased Facebook ad spend and added product links in posts.</a:t>
            </a:r>
            <a:br>
              <a:rPr lang="en-US" sz="1700" dirty="0"/>
            </a:br>
            <a:r>
              <a:rPr lang="en-US" sz="1700" b="1" dirty="0"/>
              <a:t>Result:</a:t>
            </a:r>
            <a:r>
              <a:rPr lang="en-US" sz="1700" dirty="0"/>
              <a:t> 20% increase in online sales within two months</a:t>
            </a:r>
            <a:r>
              <a:rPr lang="en-US" sz="1700" dirty="0" smtClean="0"/>
              <a:t>.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4229499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28600"/>
            <a:ext cx="8229600" cy="5668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900" b="1" dirty="0"/>
              <a:t>Monitoring Post Comments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900" b="1" dirty="0"/>
              <a:t>Objective</a:t>
            </a:r>
          </a:p>
          <a:p>
            <a:r>
              <a:rPr lang="en-US" sz="1900" dirty="0"/>
              <a:t>To evaluate audience engagement and sentiment toward your content.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900" b="1" dirty="0"/>
              <a:t>Why It Matters</a:t>
            </a:r>
          </a:p>
          <a:p>
            <a:r>
              <a:rPr lang="en-US" sz="1900" dirty="0"/>
              <a:t>Comments show </a:t>
            </a:r>
            <a:r>
              <a:rPr lang="en-US" sz="1900" b="1" dirty="0"/>
              <a:t>emotional connection</a:t>
            </a:r>
            <a:r>
              <a:rPr lang="en-US" sz="1900" dirty="0"/>
              <a:t> and </a:t>
            </a:r>
            <a:r>
              <a:rPr lang="en-US" sz="1900" b="1" dirty="0"/>
              <a:t>audience involvement</a:t>
            </a:r>
            <a:r>
              <a:rPr lang="en-US" sz="1900" dirty="0"/>
              <a:t>.</a:t>
            </a:r>
          </a:p>
          <a:p>
            <a:r>
              <a:rPr lang="en-US" sz="1900" dirty="0"/>
              <a:t>Helps in identifying </a:t>
            </a:r>
            <a:r>
              <a:rPr lang="en-US" sz="1900" b="1" dirty="0"/>
              <a:t>customer opinions</a:t>
            </a:r>
            <a:r>
              <a:rPr lang="en-US" sz="1900" dirty="0"/>
              <a:t>, </a:t>
            </a:r>
            <a:r>
              <a:rPr lang="en-US" sz="1900" b="1" dirty="0"/>
              <a:t>issues</a:t>
            </a:r>
            <a:r>
              <a:rPr lang="en-US" sz="1900" dirty="0"/>
              <a:t>, or </a:t>
            </a:r>
            <a:r>
              <a:rPr lang="en-US" sz="1900" b="1" dirty="0"/>
              <a:t>product feedback</a:t>
            </a:r>
            <a:r>
              <a:rPr lang="en-US" sz="1900" dirty="0"/>
              <a:t>.</a:t>
            </a:r>
          </a:p>
          <a:p>
            <a:r>
              <a:rPr lang="en-US" sz="1900" dirty="0"/>
              <a:t>Positive interaction improves your Page’s </a:t>
            </a:r>
            <a:r>
              <a:rPr lang="en-US" sz="1900" b="1" dirty="0"/>
              <a:t>algorithmic reach</a:t>
            </a:r>
            <a:r>
              <a:rPr lang="en-US" sz="1900" dirty="0"/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900" b="1" dirty="0"/>
              <a:t>How to Monitor</a:t>
            </a:r>
          </a:p>
          <a:p>
            <a:r>
              <a:rPr lang="en-US" sz="1900" dirty="0"/>
              <a:t>Use </a:t>
            </a:r>
            <a:r>
              <a:rPr lang="en-US" sz="1900" b="1" dirty="0"/>
              <a:t>Meta Business Suite → Inbox → Comments &amp; Messages</a:t>
            </a:r>
            <a:r>
              <a:rPr lang="en-US" sz="1900" dirty="0"/>
              <a:t> to manage replies.</a:t>
            </a:r>
          </a:p>
          <a:p>
            <a:r>
              <a:rPr lang="en-US" sz="1900" dirty="0"/>
              <a:t>Track:</a:t>
            </a:r>
          </a:p>
          <a:p>
            <a:pPr lvl="1"/>
            <a:r>
              <a:rPr lang="en-US" sz="1900" dirty="0"/>
              <a:t>Total comments per post.</a:t>
            </a:r>
          </a:p>
          <a:p>
            <a:pPr lvl="1"/>
            <a:r>
              <a:rPr lang="en-US" sz="1900" dirty="0"/>
              <a:t>Sentiment (positive, neutral, negative).</a:t>
            </a:r>
          </a:p>
          <a:p>
            <a:pPr lvl="1"/>
            <a:r>
              <a:rPr lang="en-US" sz="1900" dirty="0"/>
              <a:t>Response time and engagement quality.</a:t>
            </a:r>
          </a:p>
          <a:p>
            <a:pPr marL="0" indent="0">
              <a:buNone/>
            </a:pPr>
            <a:r>
              <a:rPr lang="en-US" sz="1900" b="1" dirty="0"/>
              <a:t>Example</a:t>
            </a:r>
          </a:p>
          <a:p>
            <a:pPr marL="0" indent="0">
              <a:buNone/>
            </a:pPr>
            <a:r>
              <a:rPr lang="en-US" sz="1900" b="1" dirty="0"/>
              <a:t>Company:</a:t>
            </a:r>
            <a:r>
              <a:rPr lang="en-US" sz="1900" dirty="0"/>
              <a:t> “Urban Café”</a:t>
            </a:r>
            <a:br>
              <a:rPr lang="en-US" sz="1900" dirty="0"/>
            </a:br>
            <a:r>
              <a:rPr lang="en-US" sz="1900" b="1" dirty="0"/>
              <a:t>Action:</a:t>
            </a:r>
            <a:r>
              <a:rPr lang="en-US" sz="1900" dirty="0"/>
              <a:t> Posted behind-the-scenes videos and replied to comments promptly.</a:t>
            </a:r>
            <a:br>
              <a:rPr lang="en-US" sz="1900" dirty="0"/>
            </a:br>
            <a:r>
              <a:rPr lang="en-US" sz="1900" b="1" dirty="0"/>
              <a:t>Result:</a:t>
            </a:r>
            <a:r>
              <a:rPr lang="en-US" sz="1900" dirty="0"/>
              <a:t> Post engagement rose by 40%, and positive brand perception improved significantly.</a:t>
            </a:r>
          </a:p>
        </p:txBody>
      </p:sp>
    </p:spTree>
    <p:extLst>
      <p:ext uri="{BB962C8B-B14F-4D97-AF65-F5344CB8AC3E}">
        <p14:creationId xmlns:p14="http://schemas.microsoft.com/office/powerpoint/2010/main" val="40734487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28600"/>
            <a:ext cx="8229600" cy="5668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Measuring Link Effectiveness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dirty="0"/>
              <a:t>Objective</a:t>
            </a:r>
          </a:p>
          <a:p>
            <a:r>
              <a:rPr lang="en-US" sz="2000" dirty="0"/>
              <a:t>To assess how effectively shared links (to blogs, shops, or campaigns) generate clicks, conversions, and actions.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dirty="0"/>
              <a:t>Tools</a:t>
            </a:r>
          </a:p>
          <a:p>
            <a:r>
              <a:rPr lang="en-US" sz="2000" b="1" dirty="0"/>
              <a:t>Facebook Insights → Post Reach &amp; Link Clicks</a:t>
            </a:r>
            <a:endParaRPr lang="en-US" sz="2000" dirty="0"/>
          </a:p>
          <a:p>
            <a:r>
              <a:rPr lang="en-US" sz="2000" b="1" dirty="0" err="1"/>
              <a:t>Bitly</a:t>
            </a:r>
            <a:r>
              <a:rPr lang="en-US" sz="2000" b="1" dirty="0"/>
              <a:t> or UTM Links</a:t>
            </a:r>
            <a:r>
              <a:rPr lang="en-US" sz="2000" dirty="0"/>
              <a:t> to track click performance.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dirty="0"/>
              <a:t>Metrics to Observe</a:t>
            </a:r>
          </a:p>
          <a:p>
            <a:r>
              <a:rPr lang="en-US" sz="2000" dirty="0"/>
              <a:t>Number of </a:t>
            </a:r>
            <a:r>
              <a:rPr lang="en-US" sz="2000" b="1" dirty="0"/>
              <a:t>link clicks</a:t>
            </a:r>
            <a:r>
              <a:rPr lang="en-US" sz="2000" dirty="0"/>
              <a:t>.</a:t>
            </a:r>
          </a:p>
          <a:p>
            <a:r>
              <a:rPr lang="en-US" sz="2000" b="1" dirty="0"/>
              <a:t>Click-Through Rate (CTR)</a:t>
            </a:r>
            <a:r>
              <a:rPr lang="en-US" sz="2000" dirty="0"/>
              <a:t> = (Link Clicks ÷ Impressions) × 100</a:t>
            </a:r>
          </a:p>
          <a:p>
            <a:r>
              <a:rPr lang="en-US" sz="2000" b="1" dirty="0"/>
              <a:t>Conversion Rate</a:t>
            </a:r>
            <a:r>
              <a:rPr lang="en-US" sz="2000" dirty="0"/>
              <a:t> (using Facebook Pixel).</a:t>
            </a:r>
          </a:p>
          <a:p>
            <a:pPr marL="0" indent="0">
              <a:buNone/>
            </a:pPr>
            <a:r>
              <a:rPr lang="en-US" sz="2000" b="1" dirty="0"/>
              <a:t>Example</a:t>
            </a:r>
          </a:p>
          <a:p>
            <a:r>
              <a:rPr lang="en-US" sz="2000" b="1" dirty="0"/>
              <a:t>Company:</a:t>
            </a:r>
            <a:r>
              <a:rPr lang="en-US" sz="2000" dirty="0"/>
              <a:t> “</a:t>
            </a:r>
            <a:r>
              <a:rPr lang="en-US" sz="2000" dirty="0" err="1"/>
              <a:t>EduPro</a:t>
            </a:r>
            <a:r>
              <a:rPr lang="en-US" sz="2000" dirty="0"/>
              <a:t> Coaching”</a:t>
            </a:r>
            <a:br>
              <a:rPr lang="en-US" sz="2000" dirty="0"/>
            </a:br>
            <a:r>
              <a:rPr lang="en-US" sz="2000" b="1" dirty="0"/>
              <a:t>Campaign:</a:t>
            </a:r>
            <a:r>
              <a:rPr lang="en-US" sz="2000" dirty="0"/>
              <a:t> Promoted a webinar registration </a:t>
            </a:r>
            <a:r>
              <a:rPr lang="en-US" sz="2000" dirty="0" smtClean="0"/>
              <a:t>link.</a:t>
            </a:r>
          </a:p>
          <a:p>
            <a:r>
              <a:rPr lang="en-US" sz="2000" b="1" dirty="0" smtClean="0"/>
              <a:t>Result</a:t>
            </a:r>
            <a:r>
              <a:rPr lang="en-US" sz="2000" b="1" dirty="0"/>
              <a:t>: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10,000 impressions, 1,000 link clicks → 10% CTR.</a:t>
            </a:r>
          </a:p>
          <a:p>
            <a:pPr marL="0" indent="0">
              <a:buNone/>
            </a:pPr>
            <a:r>
              <a:rPr lang="en-US" sz="2000" dirty="0"/>
              <a:t>300 registrations = 30% conversion from clicks.</a:t>
            </a:r>
            <a:br>
              <a:rPr lang="en-US" sz="2000" dirty="0"/>
            </a:br>
            <a:r>
              <a:rPr lang="en-US" sz="2000" b="1" dirty="0"/>
              <a:t>Insight:</a:t>
            </a:r>
            <a:r>
              <a:rPr lang="en-US" sz="2000" dirty="0"/>
              <a:t> Link and call-to-action were highly effective.</a:t>
            </a:r>
          </a:p>
        </p:txBody>
      </p:sp>
    </p:spTree>
    <p:extLst>
      <p:ext uri="{BB962C8B-B14F-4D97-AF65-F5344CB8AC3E}">
        <p14:creationId xmlns:p14="http://schemas.microsoft.com/office/powerpoint/2010/main" val="32264448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28600"/>
            <a:ext cx="8229600" cy="5668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b="1" dirty="0"/>
              <a:t>Making the Grade on Facebook Grader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200" b="1" dirty="0"/>
              <a:t>Objective</a:t>
            </a:r>
          </a:p>
          <a:p>
            <a:r>
              <a:rPr lang="en-US" sz="2200" dirty="0"/>
              <a:t>To evaluate the overall health and effectiveness of your Facebook Page compared to competitors.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200" b="1" dirty="0"/>
              <a:t>Tool</a:t>
            </a:r>
          </a:p>
          <a:p>
            <a:r>
              <a:rPr lang="en-US" sz="2200" b="1" dirty="0"/>
              <a:t>Facebook Grader</a:t>
            </a:r>
            <a:r>
              <a:rPr lang="en-US" sz="2200" dirty="0"/>
              <a:t> by </a:t>
            </a:r>
            <a:r>
              <a:rPr lang="en-US" sz="2200" dirty="0" err="1"/>
              <a:t>HubSpot</a:t>
            </a:r>
            <a:r>
              <a:rPr lang="en-US" sz="2200" dirty="0"/>
              <a:t> (or similar analytic tools).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200" b="1" dirty="0"/>
              <a:t>Features</a:t>
            </a:r>
          </a:p>
          <a:p>
            <a:r>
              <a:rPr lang="en-US" sz="2200" dirty="0"/>
              <a:t>Analyzes Facebook Page performance based on:</a:t>
            </a:r>
          </a:p>
          <a:p>
            <a:pPr lvl="1"/>
            <a:r>
              <a:rPr lang="en-US" sz="2200" dirty="0"/>
              <a:t>Engagement rate</a:t>
            </a:r>
          </a:p>
          <a:p>
            <a:pPr lvl="1"/>
            <a:r>
              <a:rPr lang="en-US" sz="2200" dirty="0"/>
              <a:t>Number of fans</a:t>
            </a:r>
          </a:p>
          <a:p>
            <a:pPr lvl="1"/>
            <a:r>
              <a:rPr lang="en-US" sz="2200" dirty="0"/>
              <a:t>Post frequency</a:t>
            </a:r>
          </a:p>
          <a:p>
            <a:pPr lvl="1"/>
            <a:r>
              <a:rPr lang="en-US" sz="2200" dirty="0"/>
              <a:t>Content quality</a:t>
            </a:r>
          </a:p>
          <a:p>
            <a:pPr lvl="1"/>
            <a:r>
              <a:rPr lang="en-US" sz="2200" dirty="0"/>
              <a:t>Interaction per post</a:t>
            </a:r>
          </a:p>
        </p:txBody>
      </p:sp>
    </p:spTree>
    <p:extLst>
      <p:ext uri="{BB962C8B-B14F-4D97-AF65-F5344CB8AC3E}">
        <p14:creationId xmlns:p14="http://schemas.microsoft.com/office/powerpoint/2010/main" val="29885870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28600"/>
            <a:ext cx="8229600" cy="566896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b="1" dirty="0"/>
              <a:t>Features</a:t>
            </a:r>
          </a:p>
          <a:p>
            <a:r>
              <a:rPr lang="en-US" sz="2000" dirty="0"/>
              <a:t>Analyzes Facebook Page performance based on:</a:t>
            </a:r>
          </a:p>
          <a:p>
            <a:pPr lvl="1"/>
            <a:r>
              <a:rPr lang="en-US" sz="2000" dirty="0"/>
              <a:t>Engagement rate</a:t>
            </a:r>
          </a:p>
          <a:p>
            <a:pPr lvl="1"/>
            <a:r>
              <a:rPr lang="en-US" sz="2000" dirty="0"/>
              <a:t>Number of fans</a:t>
            </a:r>
          </a:p>
          <a:p>
            <a:pPr lvl="1"/>
            <a:r>
              <a:rPr lang="en-US" sz="2000" dirty="0"/>
              <a:t>Post frequency</a:t>
            </a:r>
          </a:p>
          <a:p>
            <a:pPr lvl="1"/>
            <a:r>
              <a:rPr lang="en-US" sz="2000" dirty="0"/>
              <a:t>Content quality</a:t>
            </a:r>
          </a:p>
          <a:p>
            <a:pPr lvl="1"/>
            <a:r>
              <a:rPr lang="en-US" sz="2000" dirty="0"/>
              <a:t>Interaction per post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dirty="0"/>
              <a:t>Process</a:t>
            </a:r>
          </a:p>
          <a:p>
            <a:r>
              <a:rPr lang="en-US" sz="2000" dirty="0"/>
              <a:t>Visit </a:t>
            </a:r>
            <a:r>
              <a:rPr lang="en-US" sz="2000" b="1" dirty="0" err="1"/>
              <a:t>HubSpot’s</a:t>
            </a:r>
            <a:r>
              <a:rPr lang="en-US" sz="2000" b="1" dirty="0"/>
              <a:t> Facebook Grader</a:t>
            </a:r>
            <a:r>
              <a:rPr lang="en-US" sz="2000" dirty="0"/>
              <a:t> (or similar tools).</a:t>
            </a:r>
          </a:p>
          <a:p>
            <a:r>
              <a:rPr lang="en-US" sz="2000" dirty="0"/>
              <a:t>Enter your Page URL.</a:t>
            </a:r>
          </a:p>
          <a:p>
            <a:r>
              <a:rPr lang="en-US" sz="2000" dirty="0"/>
              <a:t>Receive a </a:t>
            </a:r>
            <a:r>
              <a:rPr lang="en-US" sz="2000" b="1" dirty="0"/>
              <a:t>score report</a:t>
            </a:r>
            <a:r>
              <a:rPr lang="en-US" sz="2000" dirty="0"/>
              <a:t> with recommendations for improvement.</a:t>
            </a:r>
          </a:p>
          <a:p>
            <a:pPr marL="0" indent="0">
              <a:buNone/>
            </a:pPr>
            <a:r>
              <a:rPr lang="en-US" sz="2000" b="1" smtClean="0"/>
              <a:t>Example:</a:t>
            </a: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Company:</a:t>
            </a:r>
            <a:r>
              <a:rPr lang="en-US" sz="2000" dirty="0"/>
              <a:t> “</a:t>
            </a:r>
            <a:r>
              <a:rPr lang="en-US" sz="2000" dirty="0" err="1"/>
              <a:t>TechMate</a:t>
            </a:r>
            <a:r>
              <a:rPr lang="en-US" sz="2000" dirty="0"/>
              <a:t> Electronics”</a:t>
            </a:r>
            <a:br>
              <a:rPr lang="en-US" sz="2000" dirty="0"/>
            </a:br>
            <a:r>
              <a:rPr lang="en-US" sz="2000" b="1" dirty="0"/>
              <a:t>Score:</a:t>
            </a:r>
            <a:r>
              <a:rPr lang="en-US" sz="2000" dirty="0"/>
              <a:t> 72/100</a:t>
            </a:r>
            <a:br>
              <a:rPr lang="en-US" sz="2000" dirty="0"/>
            </a:br>
            <a:r>
              <a:rPr lang="en-US" sz="2000" b="1" dirty="0"/>
              <a:t>Findings:</a:t>
            </a:r>
            <a:r>
              <a:rPr lang="en-US" sz="2000" dirty="0"/>
              <a:t> Low posting frequency and inconsistent engagement.</a:t>
            </a:r>
            <a:br>
              <a:rPr lang="en-US" sz="2000" dirty="0"/>
            </a:br>
            <a:r>
              <a:rPr lang="en-US" sz="2000" b="1" dirty="0"/>
              <a:t>Actions Taken:</a:t>
            </a:r>
            <a:r>
              <a:rPr lang="en-US" sz="2000" dirty="0"/>
              <a:t> Increased weekly posts, added video content, improved CTAs.</a:t>
            </a:r>
            <a:br>
              <a:rPr lang="en-US" sz="2000" dirty="0"/>
            </a:br>
            <a:r>
              <a:rPr lang="en-US" sz="2000" b="1" dirty="0"/>
              <a:t>Result:</a:t>
            </a:r>
            <a:r>
              <a:rPr lang="en-US" sz="2000" dirty="0"/>
              <a:t> Score improved to 88/100 and engagement rate doubled in 3 months.</a:t>
            </a:r>
          </a:p>
        </p:txBody>
      </p:sp>
    </p:spTree>
    <p:extLst>
      <p:ext uri="{BB962C8B-B14F-4D97-AF65-F5344CB8AC3E}">
        <p14:creationId xmlns:p14="http://schemas.microsoft.com/office/powerpoint/2010/main" val="193296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1278</Words>
  <Application>Microsoft Office PowerPoint</Application>
  <PresentationFormat>On-screen Show (4:3)</PresentationFormat>
  <Paragraphs>183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Case study </vt:lpstr>
      <vt:lpstr>Case Study: Facebook as a Digital Marketing Platform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Case Study: Digital Marketing through WhatsApp</vt:lpstr>
      <vt:lpstr>PowerPoint Presentation</vt:lpstr>
      <vt:lpstr>PowerPoint Presentation</vt:lpstr>
      <vt:lpstr>PowerPoint Presentation</vt:lpstr>
      <vt:lpstr>PowerPoint Presentation</vt:lpstr>
      <vt:lpstr>Analyzing Facebook Metrics for Better Marketing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study </dc:title>
  <dc:creator>PHN</dc:creator>
  <cp:lastModifiedBy>Sangeeta Nagpure</cp:lastModifiedBy>
  <cp:revision>33</cp:revision>
  <dcterms:created xsi:type="dcterms:W3CDTF">2006-08-16T00:00:00Z</dcterms:created>
  <dcterms:modified xsi:type="dcterms:W3CDTF">2025-10-13T10:16:12Z</dcterms:modified>
</cp:coreProperties>
</file>